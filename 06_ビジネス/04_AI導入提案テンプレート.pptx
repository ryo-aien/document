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12192000"/>
  <p:embeddedFontLst>
    <p:embeddedFont>
      <p:font typeface="M PLUS 1"/>
      <p:regular r:id="rId17"/>
      <p:bold r:id="rId18"/>
    </p:embeddedFont>
    <p:embeddedFont>
      <p:font typeface="Klee One"/>
      <p:regular r:id="rId19"/>
    </p:embeddedFont>
    <p:embeddedFont>
      <p:font typeface="Noto Sans JP"/>
      <p:regular r:id="rId20"/>
      <p:bold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jQ7DDPl3XNy0CgEqeh3mjManual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NotoSansJP-regular.fntdata"/><Relationship Id="rId11" Type="http://schemas.openxmlformats.org/officeDocument/2006/relationships/slide" Target="slides/slide7.xml"/><Relationship Id="rId22" Type="http://customschemas.google.com/relationships/presentationmetadata" Target="metadata"/><Relationship Id="rId10" Type="http://schemas.openxmlformats.org/officeDocument/2006/relationships/slide" Target="slides/slide6.xml"/><Relationship Id="rId21" Type="http://schemas.openxmlformats.org/officeDocument/2006/relationships/font" Target="fonts/NotoSansJP-bold.fntdata"/><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font" Target="fonts/MPLUS1-regular.fntdata"/><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KleeOne-regular.fntdata"/><Relationship Id="rId6" Type="http://schemas.openxmlformats.org/officeDocument/2006/relationships/slide" Target="slides/slide2.xml"/><Relationship Id="rId18" Type="http://schemas.openxmlformats.org/officeDocument/2006/relationships/font" Target="fonts/MPLUS1-bold.fntdata"/><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 name="Google Shape;5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 name="Google Shape;6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3" name="Google Shape;18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 name="Google Shape;29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4" name="Google Shape;29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9" name="Google Shape;33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0" name="Google Shape;39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1" name="Google Shape;39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9" name="Google Shape;44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2" name="Google Shape;49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3" name="Google Shape;49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26.png"/></Relationships>
</file>

<file path=ppt/slides/_rels/slide4.xml.rels><?xml version="1.0" encoding="UTF-8" standalone="yes"?><Relationships xmlns="http://schemas.openxmlformats.org/package/2006/relationships"><Relationship Id="rId11" Type="http://schemas.openxmlformats.org/officeDocument/2006/relationships/image" Target="../media/image16.png"/><Relationship Id="rId10" Type="http://schemas.openxmlformats.org/officeDocument/2006/relationships/image" Target="../media/image5.png"/><Relationship Id="rId13" Type="http://schemas.openxmlformats.org/officeDocument/2006/relationships/image" Target="../media/image20.png"/><Relationship Id="rId12" Type="http://schemas.openxmlformats.org/officeDocument/2006/relationships/image" Target="../media/image9.png"/><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7.png"/><Relationship Id="rId9" Type="http://schemas.openxmlformats.org/officeDocument/2006/relationships/image" Target="../media/image1.png"/><Relationship Id="rId15" Type="http://schemas.openxmlformats.org/officeDocument/2006/relationships/image" Target="../media/image22.png"/><Relationship Id="rId14" Type="http://schemas.openxmlformats.org/officeDocument/2006/relationships/image" Target="../media/image24.png"/><Relationship Id="rId16"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0" Type="http://schemas.openxmlformats.org/officeDocument/2006/relationships/image" Target="../media/image18.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0.png"/><Relationship Id="rId4" Type="http://schemas.openxmlformats.org/officeDocument/2006/relationships/image" Target="../media/image21.png"/><Relationship Id="rId9" Type="http://schemas.openxmlformats.org/officeDocument/2006/relationships/image" Target="../media/image29.png"/><Relationship Id="rId5" Type="http://schemas.openxmlformats.org/officeDocument/2006/relationships/image" Target="../media/image25.png"/><Relationship Id="rId6" Type="http://schemas.openxmlformats.org/officeDocument/2006/relationships/image" Target="../media/image27.png"/><Relationship Id="rId7" Type="http://schemas.openxmlformats.org/officeDocument/2006/relationships/image" Target="../media/image42.png"/><Relationship Id="rId8"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6.png"/><Relationship Id="rId4" Type="http://schemas.openxmlformats.org/officeDocument/2006/relationships/image" Target="../media/image32.png"/><Relationship Id="rId5" Type="http://schemas.openxmlformats.org/officeDocument/2006/relationships/image" Target="../media/image34.png"/><Relationship Id="rId6" Type="http://schemas.openxmlformats.org/officeDocument/2006/relationships/image" Target="../media/image31.png"/><Relationship Id="rId7" Type="http://schemas.openxmlformats.org/officeDocument/2006/relationships/image" Target="../media/image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3.png"/><Relationship Id="rId4" Type="http://schemas.openxmlformats.org/officeDocument/2006/relationships/image" Target="../media/image36.png"/><Relationship Id="rId5" Type="http://schemas.openxmlformats.org/officeDocument/2006/relationships/image" Target="../media/image44.png"/></Relationships>
</file>

<file path=ppt/slides/_rels/slide9.xml.rels><?xml version="1.0" encoding="UTF-8" standalone="yes"?><Relationships xmlns="http://schemas.openxmlformats.org/package/2006/relationships"><Relationship Id="rId11" Type="http://schemas.openxmlformats.org/officeDocument/2006/relationships/image" Target="../media/image49.png"/><Relationship Id="rId10" Type="http://schemas.openxmlformats.org/officeDocument/2006/relationships/image" Target="../media/image41.png"/><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9.png"/><Relationship Id="rId8" Type="http://schemas.openxmlformats.org/officeDocument/2006/relationships/image" Target="../media/image5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5.png"/><Relationship Id="rId4" Type="http://schemas.openxmlformats.org/officeDocument/2006/relationships/image" Target="../media/image60.png"/><Relationship Id="rId5" Type="http://schemas.openxmlformats.org/officeDocument/2006/relationships/image" Target="../media/image4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3.png"/><Relationship Id="rId4" Type="http://schemas.openxmlformats.org/officeDocument/2006/relationships/image" Target="../media/image58.png"/><Relationship Id="rId5" Type="http://schemas.openxmlformats.org/officeDocument/2006/relationships/image" Target="../media/image50.png"/><Relationship Id="rId6" Type="http://schemas.openxmlformats.org/officeDocument/2006/relationships/image" Target="../media/image47.png"/><Relationship Id="rId7"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7.png"/><Relationship Id="rId4" Type="http://schemas.openxmlformats.org/officeDocument/2006/relationships/image" Target="../media/image51.png"/><Relationship Id="rId5" Type="http://schemas.openxmlformats.org/officeDocument/2006/relationships/image" Target="../media/image55.png"/><Relationship Id="rId6" Type="http://schemas.openxmlformats.org/officeDocument/2006/relationships/image" Target="../media/image6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sp>
        <p:nvSpPr>
          <p:cNvPr id="16" name="Google Shape;16;p1"/>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9810600" y="-2"/>
            <a:ext cx="2381100" cy="1904700"/>
          </a:xfrm>
          <a:prstGeom prst="rect">
            <a:avLst/>
          </a:prstGeom>
          <a:solidFill>
            <a:srgbClr val="ADD8E6">
              <a:alpha val="2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952800" y="5429702"/>
            <a:ext cx="1904700" cy="1429200"/>
          </a:xfrm>
          <a:prstGeom prst="rect">
            <a:avLst/>
          </a:prstGeom>
          <a:solidFill>
            <a:srgbClr val="ADD8E6">
              <a:alpha val="2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
          <p:cNvSpPr/>
          <p:nvPr/>
        </p:nvSpPr>
        <p:spPr>
          <a:xfrm>
            <a:off x="2" y="1429200"/>
            <a:ext cx="952800" cy="1429200"/>
          </a:xfrm>
          <a:prstGeom prst="rect">
            <a:avLst/>
          </a:prstGeom>
          <a:solidFill>
            <a:srgbClr val="ADD8E6">
              <a:alpha val="2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
          <p:cNvSpPr txBox="1"/>
          <p:nvPr/>
        </p:nvSpPr>
        <p:spPr>
          <a:xfrm>
            <a:off x="1537106" y="1676095"/>
            <a:ext cx="9468612" cy="6675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47AB"/>
              </a:buClr>
              <a:buSzPts val="3600"/>
              <a:buFont typeface="Noto Sans JP"/>
              <a:buNone/>
            </a:pPr>
            <a:r>
              <a:rPr b="1" i="0" lang="en-US" sz="3600" u="none" cap="none" strike="noStrike">
                <a:solidFill>
                  <a:srgbClr val="0047AB"/>
                </a:solidFill>
                <a:latin typeface="Noto Sans JP"/>
                <a:ea typeface="Noto Sans JP"/>
                <a:cs typeface="Noto Sans JP"/>
                <a:sym typeface="Noto Sans JP"/>
              </a:rPr>
              <a:t>AI導入による業務効率化と品質向上のご提案</a:t>
            </a:r>
            <a:endParaRPr b="0" i="0" sz="3600" u="none" cap="none" strike="noStrike">
              <a:solidFill>
                <a:schemeClr val="dk1"/>
              </a:solidFill>
              <a:latin typeface="Calibri"/>
              <a:ea typeface="Calibri"/>
              <a:cs typeface="Calibri"/>
              <a:sym typeface="Calibri"/>
            </a:endParaRPr>
          </a:p>
        </p:txBody>
      </p:sp>
      <p:sp>
        <p:nvSpPr>
          <p:cNvPr id="21" name="Google Shape;21;p1"/>
          <p:cNvSpPr/>
          <p:nvPr/>
        </p:nvSpPr>
        <p:spPr>
          <a:xfrm>
            <a:off x="5619902" y="2461565"/>
            <a:ext cx="952805" cy="38405"/>
          </a:xfrm>
          <a:prstGeom prst="rect">
            <a:avLst/>
          </a:prstGeom>
          <a:solidFill>
            <a:srgbClr val="ADD8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txBox="1"/>
          <p:nvPr/>
        </p:nvSpPr>
        <p:spPr>
          <a:xfrm>
            <a:off x="3037637" y="2718511"/>
            <a:ext cx="6324905" cy="38130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8B"/>
              </a:buClr>
              <a:buSzPts val="2100"/>
              <a:buFont typeface="Noto Sans JP"/>
              <a:buNone/>
            </a:pPr>
            <a:r>
              <a:rPr b="1" i="0" lang="en-US" sz="2100" u="none" cap="none" strike="noStrike">
                <a:solidFill>
                  <a:srgbClr val="00008B"/>
                </a:solidFill>
                <a:latin typeface="Noto Sans JP"/>
                <a:ea typeface="Noto Sans JP"/>
                <a:cs typeface="Noto Sans JP"/>
                <a:sym typeface="Noto Sans JP"/>
              </a:rPr>
              <a:t>人の力とAIの力で、お客様満足と生産性を両立する</a:t>
            </a:r>
            <a:endParaRPr b="0" i="0" sz="2100" u="none" cap="none" strike="noStrike">
              <a:solidFill>
                <a:schemeClr val="dk1"/>
              </a:solidFill>
              <a:latin typeface="Calibri"/>
              <a:ea typeface="Calibri"/>
              <a:cs typeface="Calibri"/>
              <a:sym typeface="Calibri"/>
            </a:endParaRPr>
          </a:p>
        </p:txBody>
      </p:sp>
      <p:sp>
        <p:nvSpPr>
          <p:cNvPr id="23" name="Google Shape;23;p1"/>
          <p:cNvSpPr txBox="1"/>
          <p:nvPr/>
        </p:nvSpPr>
        <p:spPr>
          <a:xfrm>
            <a:off x="4419295" y="3720694"/>
            <a:ext cx="3491179"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1300"/>
              <a:buFont typeface="Noto Sans JP"/>
              <a:buNone/>
            </a:pPr>
            <a:r>
              <a:rPr b="0" i="0" lang="en-US" sz="1300" u="none" cap="none" strike="noStrike">
                <a:solidFill>
                  <a:srgbClr val="555555"/>
                </a:solidFill>
                <a:latin typeface="Noto Sans JP"/>
                <a:ea typeface="Noto Sans JP"/>
                <a:cs typeface="Noto Sans JP"/>
                <a:sym typeface="Noto Sans JP"/>
              </a:rPr>
              <a:t>• 定型業務の効率化と高度な品質管理の実現</a:t>
            </a:r>
            <a:endParaRPr b="0" i="0" sz="1300" u="none" cap="none" strike="noStrike">
              <a:solidFill>
                <a:schemeClr val="dk1"/>
              </a:solidFill>
              <a:latin typeface="Calibri"/>
              <a:ea typeface="Calibri"/>
              <a:cs typeface="Calibri"/>
              <a:sym typeface="Calibri"/>
            </a:endParaRPr>
          </a:p>
        </p:txBody>
      </p:sp>
      <p:sp>
        <p:nvSpPr>
          <p:cNvPr id="24" name="Google Shape;24;p1"/>
          <p:cNvSpPr txBox="1"/>
          <p:nvPr/>
        </p:nvSpPr>
        <p:spPr>
          <a:xfrm>
            <a:off x="4504334" y="4146804"/>
            <a:ext cx="3320186"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1300"/>
              <a:buFont typeface="Noto Sans JP"/>
              <a:buNone/>
            </a:pPr>
            <a:r>
              <a:rPr b="0" i="0" lang="en-US" sz="1300" u="none" cap="none" strike="noStrike">
                <a:solidFill>
                  <a:srgbClr val="555555"/>
                </a:solidFill>
                <a:latin typeface="Noto Sans JP"/>
                <a:ea typeface="Noto Sans JP"/>
                <a:cs typeface="Noto Sans JP"/>
                <a:sym typeface="Noto Sans JP"/>
              </a:rPr>
              <a:t>• 担当者の負荷軽減と創造的業務への集中</a:t>
            </a:r>
            <a:endParaRPr b="0" i="0" sz="1300" u="none" cap="none" strike="noStrike">
              <a:solidFill>
                <a:schemeClr val="dk1"/>
              </a:solidFill>
              <a:latin typeface="Calibri"/>
              <a:ea typeface="Calibri"/>
              <a:cs typeface="Calibri"/>
              <a:sym typeface="Calibri"/>
            </a:endParaRPr>
          </a:p>
        </p:txBody>
      </p:sp>
      <p:sp>
        <p:nvSpPr>
          <p:cNvPr id="25" name="Google Shape;25;p1"/>
          <p:cNvSpPr txBox="1"/>
          <p:nvPr/>
        </p:nvSpPr>
        <p:spPr>
          <a:xfrm>
            <a:off x="4247388" y="4573829"/>
            <a:ext cx="3834079"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55555"/>
              </a:buClr>
              <a:buSzPts val="1300"/>
              <a:buFont typeface="Noto Sans JP"/>
              <a:buNone/>
            </a:pPr>
            <a:r>
              <a:rPr b="0" i="0" lang="en-US" sz="1300" u="none" cap="none" strike="noStrike">
                <a:solidFill>
                  <a:srgbClr val="555555"/>
                </a:solidFill>
                <a:latin typeface="Noto Sans JP"/>
                <a:ea typeface="Noto Sans JP"/>
                <a:cs typeface="Noto Sans JP"/>
                <a:sym typeface="Noto Sans JP"/>
              </a:rPr>
              <a:t>• お客様対応品質の向上と業務コスト削減の両立</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
        <p:nvSpPr>
          <p:cNvPr id="31" name="Google Shape;31;p2"/>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9810600" y="-2"/>
            <a:ext cx="2381100" cy="19047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952800" y="5429702"/>
            <a:ext cx="1904700" cy="14283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txBox="1"/>
          <p:nvPr/>
        </p:nvSpPr>
        <p:spPr>
          <a:xfrm>
            <a:off x="381305" y="603504"/>
            <a:ext cx="3676802"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2700"/>
              <a:buFont typeface="Noto Sans JP"/>
              <a:buNone/>
            </a:pPr>
            <a:r>
              <a:rPr b="1" i="0" lang="en-US" sz="2700" u="none" cap="none" strike="noStrike">
                <a:solidFill>
                  <a:srgbClr val="0052CC"/>
                </a:solidFill>
                <a:latin typeface="Noto Sans JP"/>
                <a:ea typeface="Noto Sans JP"/>
                <a:cs typeface="Noto Sans JP"/>
                <a:sym typeface="Noto Sans JP"/>
              </a:rPr>
              <a:t>現場で見えている課題</a:t>
            </a:r>
            <a:endParaRPr b="0" i="0" sz="2700" u="none" cap="none" strike="noStrike">
              <a:solidFill>
                <a:schemeClr val="dk1"/>
              </a:solidFill>
              <a:latin typeface="Calibri"/>
              <a:ea typeface="Calibri"/>
              <a:cs typeface="Calibri"/>
              <a:sym typeface="Calibri"/>
            </a:endParaRPr>
          </a:p>
        </p:txBody>
      </p:sp>
      <p:sp>
        <p:nvSpPr>
          <p:cNvPr id="35" name="Google Shape;35;p2"/>
          <p:cNvSpPr/>
          <p:nvPr/>
        </p:nvSpPr>
        <p:spPr>
          <a:xfrm>
            <a:off x="381305" y="1176833"/>
            <a:ext cx="571500" cy="384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381305" y="1443838"/>
            <a:ext cx="5486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ビジネス環境の変化： デジタル化の加速に伴い、業務量・複雑さが増加する一方で、人的リソースは限られています。</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381305" y="2053742"/>
            <a:ext cx="5410505" cy="609905"/>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381305" y="2053742"/>
            <a:ext cx="28346" cy="6099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523951" y="2129638"/>
            <a:ext cx="5162702"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作業量の増加： 担当者の業務負荷が限界に近づいており、残業や品質低下のリスクが高まっています</a:t>
            </a:r>
            <a:endParaRPr b="0" i="0" sz="1200" u="none" cap="none" strike="noStrike">
              <a:solidFill>
                <a:schemeClr val="dk1"/>
              </a:solidFill>
              <a:latin typeface="Calibri"/>
              <a:ea typeface="Calibri"/>
              <a:cs typeface="Calibri"/>
              <a:sym typeface="Calibri"/>
            </a:endParaRPr>
          </a:p>
        </p:txBody>
      </p:sp>
      <p:sp>
        <p:nvSpPr>
          <p:cNvPr id="40" name="Google Shape;40;p2"/>
          <p:cNvSpPr/>
          <p:nvPr/>
        </p:nvSpPr>
        <p:spPr>
          <a:xfrm>
            <a:off x="381305" y="2815438"/>
            <a:ext cx="5410505" cy="609905"/>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381305" y="2815438"/>
            <a:ext cx="28346" cy="6099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523951" y="2891333"/>
            <a:ext cx="518190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納期遅延・品質のバラつき： 繁忙期には対応遅延が発生し、担当者による品質差も顕著になっています</a:t>
            </a:r>
            <a:endParaRPr b="0" i="0" sz="1200" u="none" cap="none" strike="noStrike">
              <a:solidFill>
                <a:schemeClr val="dk1"/>
              </a:solidFill>
              <a:latin typeface="Calibri"/>
              <a:ea typeface="Calibri"/>
              <a:cs typeface="Calibri"/>
              <a:sym typeface="Calibri"/>
            </a:endParaRPr>
          </a:p>
        </p:txBody>
      </p:sp>
      <p:sp>
        <p:nvSpPr>
          <p:cNvPr id="43" name="Google Shape;43;p2"/>
          <p:cNvSpPr/>
          <p:nvPr/>
        </p:nvSpPr>
        <p:spPr>
          <a:xfrm>
            <a:off x="381305" y="3577133"/>
            <a:ext cx="5410505" cy="609905"/>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381305" y="3577133"/>
            <a:ext cx="28346" cy="6099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txBox="1"/>
          <p:nvPr/>
        </p:nvSpPr>
        <p:spPr>
          <a:xfrm>
            <a:off x="523951" y="3653942"/>
            <a:ext cx="518190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人員依存・引き継ぎリスク： 特定担当者への依存度が高く、引継ぎやノウハウ継承に課題があります</a:t>
            </a:r>
            <a:endParaRPr b="0" i="0" sz="1200" u="none" cap="none" strike="noStrike">
              <a:solidFill>
                <a:schemeClr val="dk1"/>
              </a:solidFill>
              <a:latin typeface="Calibri"/>
              <a:ea typeface="Calibri"/>
              <a:cs typeface="Calibri"/>
              <a:sym typeface="Calibri"/>
            </a:endParaRPr>
          </a:p>
        </p:txBody>
      </p:sp>
      <p:sp>
        <p:nvSpPr>
          <p:cNvPr id="46" name="Google Shape;46;p2"/>
          <p:cNvSpPr/>
          <p:nvPr/>
        </p:nvSpPr>
        <p:spPr>
          <a:xfrm>
            <a:off x="381305" y="4339742"/>
            <a:ext cx="5410505" cy="609905"/>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381305" y="4339742"/>
            <a:ext cx="28346" cy="6099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txBox="1"/>
          <p:nvPr/>
        </p:nvSpPr>
        <p:spPr>
          <a:xfrm>
            <a:off x="523951" y="4415638"/>
            <a:ext cx="502005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再作業・ミスによるコスト増： ヒューマンエラーによる修正作業が発生し、余分なコストが発生しています</a:t>
            </a:r>
            <a:endParaRPr b="0" i="0" sz="1200" u="none" cap="none" strike="noStrike">
              <a:solidFill>
                <a:schemeClr val="dk1"/>
              </a:solidFill>
              <a:latin typeface="Calibri"/>
              <a:ea typeface="Calibri"/>
              <a:cs typeface="Calibri"/>
              <a:sym typeface="Calibri"/>
            </a:endParaRPr>
          </a:p>
        </p:txBody>
      </p:sp>
      <p:sp>
        <p:nvSpPr>
          <p:cNvPr id="49" name="Google Shape;49;p2"/>
          <p:cNvSpPr txBox="1"/>
          <p:nvPr/>
        </p:nvSpPr>
        <p:spPr>
          <a:xfrm>
            <a:off x="8153705" y="381305"/>
            <a:ext cx="17721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1800"/>
              <a:buFont typeface="Noto Sans JP"/>
              <a:buNone/>
            </a:pPr>
            <a:r>
              <a:rPr b="1" i="0" lang="en-US" sz="1800" u="none" cap="none" strike="noStrike">
                <a:solidFill>
                  <a:srgbClr val="4A90E2"/>
                </a:solidFill>
                <a:latin typeface="Noto Sans JP"/>
                <a:ea typeface="Noto Sans JP"/>
                <a:cs typeface="Noto Sans JP"/>
                <a:sym typeface="Noto Sans JP"/>
              </a:rPr>
              <a:t>人手処理の限界</a:t>
            </a:r>
            <a:endParaRPr b="0" i="0" sz="1800" u="none" cap="none" strike="noStrike">
              <a:solidFill>
                <a:schemeClr val="dk1"/>
              </a:solidFill>
              <a:latin typeface="Calibri"/>
              <a:ea typeface="Calibri"/>
              <a:cs typeface="Calibri"/>
              <a:sym typeface="Calibri"/>
            </a:endParaRPr>
          </a:p>
        </p:txBody>
      </p:sp>
      <p:pic>
        <p:nvPicPr>
          <p:cNvPr descr="preencoded.png" id="50" name="Google Shape;50;p2"/>
          <p:cNvPicPr preferRelativeResize="0"/>
          <p:nvPr/>
        </p:nvPicPr>
        <p:blipFill rotWithShape="1">
          <a:blip r:embed="rId3">
            <a:alphaModFix/>
          </a:blip>
          <a:srcRect b="0" l="-5" r="-4" t="0"/>
          <a:stretch/>
        </p:blipFill>
        <p:spPr>
          <a:xfrm>
            <a:off x="6096305" y="875995"/>
            <a:ext cx="5715000" cy="3047695"/>
          </a:xfrm>
          <a:prstGeom prst="rect">
            <a:avLst/>
          </a:prstGeom>
          <a:noFill/>
          <a:ln>
            <a:noFill/>
          </a:ln>
        </p:spPr>
      </p:pic>
      <p:sp>
        <p:nvSpPr>
          <p:cNvPr id="51" name="Google Shape;51;p2"/>
          <p:cNvSpPr/>
          <p:nvPr/>
        </p:nvSpPr>
        <p:spPr>
          <a:xfrm>
            <a:off x="6096305" y="4076395"/>
            <a:ext cx="5715000" cy="1143000"/>
          </a:xfrm>
          <a:prstGeom prst="roundRect">
            <a:avLst>
              <a:gd fmla="val 2667" name="adj"/>
            </a:avLst>
          </a:prstGeom>
          <a:solidFill>
            <a:srgbClr val="E3F2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txBox="1"/>
          <p:nvPr/>
        </p:nvSpPr>
        <p:spPr>
          <a:xfrm>
            <a:off x="8572500" y="4229100"/>
            <a:ext cx="886054"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課題の影響</a:t>
            </a:r>
            <a:endParaRPr b="0" i="0" sz="1200" u="none" cap="none" strike="noStrike">
              <a:solidFill>
                <a:schemeClr val="dk1"/>
              </a:solidFill>
              <a:latin typeface="Calibri"/>
              <a:ea typeface="Calibri"/>
              <a:cs typeface="Calibri"/>
              <a:sym typeface="Calibri"/>
            </a:endParaRPr>
          </a:p>
        </p:txBody>
      </p:sp>
      <p:sp>
        <p:nvSpPr>
          <p:cNvPr id="53" name="Google Shape;53;p2"/>
          <p:cNvSpPr txBox="1"/>
          <p:nvPr/>
        </p:nvSpPr>
        <p:spPr>
          <a:xfrm>
            <a:off x="6476695" y="4496105"/>
            <a:ext cx="3700577"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対応可能な業務量には上限があり、人員追加も即効性がない</a:t>
            </a:r>
            <a:endParaRPr b="0" i="0" sz="1000" u="none" cap="none" strike="noStrike">
              <a:solidFill>
                <a:schemeClr val="dk1"/>
              </a:solidFill>
              <a:latin typeface="Calibri"/>
              <a:ea typeface="Calibri"/>
              <a:cs typeface="Calibri"/>
              <a:sym typeface="Calibri"/>
            </a:endParaRPr>
          </a:p>
        </p:txBody>
      </p:sp>
      <p:sp>
        <p:nvSpPr>
          <p:cNvPr id="54" name="Google Shape;54;p2"/>
          <p:cNvSpPr txBox="1"/>
          <p:nvPr/>
        </p:nvSpPr>
        <p:spPr>
          <a:xfrm>
            <a:off x="6476695" y="4686300"/>
            <a:ext cx="4234586"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業務量増加に伴い、品質低下と納期遅延のリスクが指数関数的に上昇</a:t>
            </a:r>
            <a:endParaRPr b="0" i="0" sz="1000" u="none" cap="none" strike="noStrike">
              <a:solidFill>
                <a:schemeClr val="dk1"/>
              </a:solidFill>
              <a:latin typeface="Calibri"/>
              <a:ea typeface="Calibri"/>
              <a:cs typeface="Calibri"/>
              <a:sym typeface="Calibri"/>
            </a:endParaRPr>
          </a:p>
        </p:txBody>
      </p:sp>
      <p:sp>
        <p:nvSpPr>
          <p:cNvPr id="55" name="Google Shape;55;p2"/>
          <p:cNvSpPr txBox="1"/>
          <p:nvPr/>
        </p:nvSpPr>
        <p:spPr>
          <a:xfrm>
            <a:off x="6476695" y="4876495"/>
            <a:ext cx="3967582"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従来の人海戦術による解決には限界があり、構造的な改革が必要</a:t>
            </a:r>
            <a:endParaRPr b="0" i="0" sz="1000" u="none" cap="none" strike="noStrike">
              <a:solidFill>
                <a:schemeClr val="dk1"/>
              </a:solidFill>
              <a:latin typeface="Calibri"/>
              <a:ea typeface="Calibri"/>
              <a:cs typeface="Calibri"/>
              <a:sym typeface="Calibri"/>
            </a:endParaRPr>
          </a:p>
        </p:txBody>
      </p:sp>
      <p:sp>
        <p:nvSpPr>
          <p:cNvPr id="56" name="Google Shape;56;p2"/>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3"/>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3"/>
          <p:cNvSpPr/>
          <p:nvPr/>
        </p:nvSpPr>
        <p:spPr>
          <a:xfrm>
            <a:off x="9810600" y="-2"/>
            <a:ext cx="2381100" cy="19047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3"/>
          <p:cNvSpPr/>
          <p:nvPr/>
        </p:nvSpPr>
        <p:spPr>
          <a:xfrm>
            <a:off x="952800" y="5429702"/>
            <a:ext cx="1904700" cy="14283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3"/>
          <p:cNvSpPr txBox="1"/>
          <p:nvPr/>
        </p:nvSpPr>
        <p:spPr>
          <a:xfrm>
            <a:off x="381305" y="1185062"/>
            <a:ext cx="5420563"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2700"/>
              <a:buFont typeface="Klee One"/>
              <a:buNone/>
            </a:pPr>
            <a:r>
              <a:rPr b="1" i="0" lang="en-US" sz="2700" u="none" cap="none" strike="noStrike">
                <a:solidFill>
                  <a:srgbClr val="0A2463"/>
                </a:solidFill>
                <a:latin typeface="Klee One"/>
                <a:ea typeface="Klee One"/>
                <a:cs typeface="Klee One"/>
                <a:sym typeface="Klee One"/>
              </a:rPr>
              <a:t>定型作業はAIへ、人は価値創出へ</a:t>
            </a:r>
            <a:endParaRPr b="0" i="0" sz="2700" u="none" cap="none" strike="noStrike">
              <a:solidFill>
                <a:schemeClr val="dk1"/>
              </a:solidFill>
              <a:latin typeface="Calibri"/>
              <a:ea typeface="Calibri"/>
              <a:cs typeface="Calibri"/>
              <a:sym typeface="Calibri"/>
            </a:endParaRPr>
          </a:p>
        </p:txBody>
      </p:sp>
      <p:sp>
        <p:nvSpPr>
          <p:cNvPr id="66" name="Google Shape;66;p3"/>
          <p:cNvSpPr/>
          <p:nvPr/>
        </p:nvSpPr>
        <p:spPr>
          <a:xfrm>
            <a:off x="381305" y="1758391"/>
            <a:ext cx="571500" cy="384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3"/>
          <p:cNvSpPr txBox="1"/>
          <p:nvPr/>
        </p:nvSpPr>
        <p:spPr>
          <a:xfrm>
            <a:off x="381305" y="2025396"/>
            <a:ext cx="5438851"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新しい協働モデル：AIと人間のそれぞれの強みを活かした新しい業務スタイルを実現します</a:t>
            </a:r>
            <a:endParaRPr b="0" i="0" sz="1200" u="none" cap="none" strike="noStrike">
              <a:solidFill>
                <a:schemeClr val="dk1"/>
              </a:solidFill>
              <a:latin typeface="Calibri"/>
              <a:ea typeface="Calibri"/>
              <a:cs typeface="Calibri"/>
              <a:sym typeface="Calibri"/>
            </a:endParaRPr>
          </a:p>
        </p:txBody>
      </p:sp>
      <p:sp>
        <p:nvSpPr>
          <p:cNvPr id="68" name="Google Shape;68;p3"/>
          <p:cNvSpPr/>
          <p:nvPr/>
        </p:nvSpPr>
        <p:spPr>
          <a:xfrm>
            <a:off x="381305" y="2634386"/>
            <a:ext cx="5410505"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p:nvPr/>
        </p:nvSpPr>
        <p:spPr>
          <a:xfrm>
            <a:off x="381305" y="2634386"/>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txBox="1"/>
          <p:nvPr/>
        </p:nvSpPr>
        <p:spPr>
          <a:xfrm>
            <a:off x="523951" y="2711196"/>
            <a:ext cx="3934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AIの役割： 人の代わりではなく"支える存在"として機能</a:t>
            </a:r>
            <a:endParaRPr b="0" i="0" sz="1200" u="none" cap="none" strike="noStrike">
              <a:solidFill>
                <a:schemeClr val="dk1"/>
              </a:solidFill>
              <a:latin typeface="Calibri"/>
              <a:ea typeface="Calibri"/>
              <a:cs typeface="Calibri"/>
              <a:sym typeface="Calibri"/>
            </a:endParaRPr>
          </a:p>
        </p:txBody>
      </p:sp>
      <p:sp>
        <p:nvSpPr>
          <p:cNvPr id="71" name="Google Shape;71;p3"/>
          <p:cNvSpPr/>
          <p:nvPr/>
        </p:nvSpPr>
        <p:spPr>
          <a:xfrm>
            <a:off x="381305" y="3168396"/>
            <a:ext cx="5410505"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3"/>
          <p:cNvSpPr/>
          <p:nvPr/>
        </p:nvSpPr>
        <p:spPr>
          <a:xfrm>
            <a:off x="381305" y="3168396"/>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3"/>
          <p:cNvSpPr txBox="1"/>
          <p:nvPr/>
        </p:nvSpPr>
        <p:spPr>
          <a:xfrm>
            <a:off x="523951" y="3244291"/>
            <a:ext cx="39529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作業分担： 定型作業はAIが担当、判断と提案は人が実施</a:t>
            </a:r>
            <a:endParaRPr b="0" i="0" sz="1200" u="none" cap="none" strike="noStrike">
              <a:solidFill>
                <a:schemeClr val="dk1"/>
              </a:solidFill>
              <a:latin typeface="Calibri"/>
              <a:ea typeface="Calibri"/>
              <a:cs typeface="Calibri"/>
              <a:sym typeface="Calibri"/>
            </a:endParaRPr>
          </a:p>
        </p:txBody>
      </p:sp>
      <p:sp>
        <p:nvSpPr>
          <p:cNvPr id="74" name="Google Shape;74;p3"/>
          <p:cNvSpPr/>
          <p:nvPr/>
        </p:nvSpPr>
        <p:spPr>
          <a:xfrm>
            <a:off x="381305" y="3701491"/>
            <a:ext cx="5410505"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3"/>
          <p:cNvSpPr/>
          <p:nvPr/>
        </p:nvSpPr>
        <p:spPr>
          <a:xfrm>
            <a:off x="381305" y="3701491"/>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txBox="1"/>
          <p:nvPr/>
        </p:nvSpPr>
        <p:spPr>
          <a:xfrm>
            <a:off x="523951" y="3777386"/>
            <a:ext cx="42583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創造性の向上： 人がより創造的な仕事に集中できる環境構築</a:t>
            </a:r>
            <a:endParaRPr b="0" i="0" sz="1200" u="none" cap="none" strike="noStrike">
              <a:solidFill>
                <a:schemeClr val="dk1"/>
              </a:solidFill>
              <a:latin typeface="Calibri"/>
              <a:ea typeface="Calibri"/>
              <a:cs typeface="Calibri"/>
              <a:sym typeface="Calibri"/>
            </a:endParaRPr>
          </a:p>
        </p:txBody>
      </p:sp>
      <p:sp>
        <p:nvSpPr>
          <p:cNvPr id="77" name="Google Shape;77;p3"/>
          <p:cNvSpPr/>
          <p:nvPr/>
        </p:nvSpPr>
        <p:spPr>
          <a:xfrm>
            <a:off x="381305" y="4234586"/>
            <a:ext cx="5410505" cy="857707"/>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3"/>
          <p:cNvSpPr/>
          <p:nvPr/>
        </p:nvSpPr>
        <p:spPr>
          <a:xfrm>
            <a:off x="381305" y="4234586"/>
            <a:ext cx="47549" cy="857707"/>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3"/>
          <p:cNvSpPr txBox="1"/>
          <p:nvPr/>
        </p:nvSpPr>
        <p:spPr>
          <a:xfrm>
            <a:off x="571500" y="4377233"/>
            <a:ext cx="3762756" cy="2770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500"/>
              <a:buFont typeface="Klee One"/>
              <a:buNone/>
            </a:pPr>
            <a:r>
              <a:rPr b="1" i="0" lang="en-US" sz="1500" u="none" cap="none" strike="noStrike">
                <a:solidFill>
                  <a:srgbClr val="3E92CC"/>
                </a:solidFill>
                <a:latin typeface="Klee One"/>
                <a:ea typeface="Klee One"/>
                <a:cs typeface="Klee One"/>
                <a:sym typeface="Klee One"/>
              </a:rPr>
              <a:t>「AI導入は、人が冷たくなるのではなく、</a:t>
            </a:r>
            <a:endParaRPr b="0" i="0" sz="1500" u="none" cap="none" strike="noStrike">
              <a:solidFill>
                <a:schemeClr val="dk1"/>
              </a:solidFill>
              <a:latin typeface="Calibri"/>
              <a:ea typeface="Calibri"/>
              <a:cs typeface="Calibri"/>
              <a:sym typeface="Calibri"/>
            </a:endParaRPr>
          </a:p>
        </p:txBody>
      </p:sp>
      <p:sp>
        <p:nvSpPr>
          <p:cNvPr id="80" name="Google Shape;80;p3"/>
          <p:cNvSpPr txBox="1"/>
          <p:nvPr/>
        </p:nvSpPr>
        <p:spPr>
          <a:xfrm>
            <a:off x="571500" y="4663440"/>
            <a:ext cx="3963010" cy="2770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500"/>
              <a:buFont typeface="Klee One"/>
              <a:buNone/>
            </a:pPr>
            <a:r>
              <a:rPr b="1" i="0" lang="en-US" sz="1500" u="none" cap="none" strike="noStrike">
                <a:solidFill>
                  <a:srgbClr val="3E92CC"/>
                </a:solidFill>
                <a:latin typeface="Klee One"/>
                <a:ea typeface="Klee One"/>
                <a:cs typeface="Klee One"/>
                <a:sym typeface="Klee One"/>
              </a:rPr>
              <a:t>人がより人らしく働ける環境をつくります」</a:t>
            </a:r>
            <a:endParaRPr b="0" i="0" sz="1500" u="none" cap="none" strike="noStrike">
              <a:solidFill>
                <a:schemeClr val="dk1"/>
              </a:solidFill>
              <a:latin typeface="Calibri"/>
              <a:ea typeface="Calibri"/>
              <a:cs typeface="Calibri"/>
              <a:sym typeface="Calibri"/>
            </a:endParaRPr>
          </a:p>
        </p:txBody>
      </p:sp>
      <p:sp>
        <p:nvSpPr>
          <p:cNvPr id="81" name="Google Shape;81;p3"/>
          <p:cNvSpPr txBox="1"/>
          <p:nvPr/>
        </p:nvSpPr>
        <p:spPr>
          <a:xfrm>
            <a:off x="7818120" y="761695"/>
            <a:ext cx="2448763"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E92CC"/>
              </a:buClr>
              <a:buSzPts val="1800"/>
              <a:buFont typeface="Klee One"/>
              <a:buNone/>
            </a:pPr>
            <a:r>
              <a:rPr b="1" i="0" lang="en-US" sz="1800" u="none" cap="none" strike="noStrike">
                <a:solidFill>
                  <a:srgbClr val="3E92CC"/>
                </a:solidFill>
                <a:latin typeface="Klee One"/>
                <a:ea typeface="Klee One"/>
                <a:cs typeface="Klee One"/>
                <a:sym typeface="Klee One"/>
              </a:rPr>
              <a:t>人間とAIの協働モデル</a:t>
            </a:r>
            <a:endParaRPr b="0" i="0" sz="1800" u="none" cap="none" strike="noStrike">
              <a:solidFill>
                <a:schemeClr val="dk1"/>
              </a:solidFill>
              <a:latin typeface="Calibri"/>
              <a:ea typeface="Calibri"/>
              <a:cs typeface="Calibri"/>
              <a:sym typeface="Calibri"/>
            </a:endParaRPr>
          </a:p>
        </p:txBody>
      </p:sp>
      <p:sp>
        <p:nvSpPr>
          <p:cNvPr id="82" name="Google Shape;82;p3"/>
          <p:cNvSpPr/>
          <p:nvPr/>
        </p:nvSpPr>
        <p:spPr>
          <a:xfrm>
            <a:off x="6096305" y="1257300"/>
            <a:ext cx="2743200" cy="1143000"/>
          </a:xfrm>
          <a:prstGeom prst="rect">
            <a:avLst/>
          </a:prstGeom>
          <a:solidFill>
            <a:srgbClr val="FFFFFF"/>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3" name="Google Shape;83;p3"/>
          <p:cNvPicPr preferRelativeResize="0"/>
          <p:nvPr/>
        </p:nvPicPr>
        <p:blipFill rotWithShape="1">
          <a:blip r:embed="rId3">
            <a:alphaModFix/>
          </a:blip>
          <a:srcRect b="0" l="-80" r="-80" t="0"/>
          <a:stretch/>
        </p:blipFill>
        <p:spPr>
          <a:xfrm>
            <a:off x="7324344" y="1356970"/>
            <a:ext cx="286207" cy="228600"/>
          </a:xfrm>
          <a:prstGeom prst="rect">
            <a:avLst/>
          </a:prstGeom>
          <a:noFill/>
          <a:ln>
            <a:noFill/>
          </a:ln>
        </p:spPr>
      </p:pic>
      <p:sp>
        <p:nvSpPr>
          <p:cNvPr id="84" name="Google Shape;84;p3"/>
          <p:cNvSpPr txBox="1"/>
          <p:nvPr/>
        </p:nvSpPr>
        <p:spPr>
          <a:xfrm>
            <a:off x="6954012" y="1662379"/>
            <a:ext cx="1157630"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Klee One"/>
              <a:buNone/>
            </a:pPr>
            <a:r>
              <a:rPr b="1" i="0" lang="en-US" sz="1300" u="none" cap="none" strike="noStrike">
                <a:solidFill>
                  <a:srgbClr val="0A2463"/>
                </a:solidFill>
                <a:latin typeface="Klee One"/>
                <a:ea typeface="Klee One"/>
                <a:cs typeface="Klee One"/>
                <a:sym typeface="Klee One"/>
              </a:rPr>
              <a:t>AIの担当領域</a:t>
            </a:r>
            <a:endParaRPr b="0" i="0" sz="1300" u="none" cap="none" strike="noStrike">
              <a:solidFill>
                <a:schemeClr val="dk1"/>
              </a:solidFill>
              <a:latin typeface="Calibri"/>
              <a:ea typeface="Calibri"/>
              <a:cs typeface="Calibri"/>
              <a:sym typeface="Calibri"/>
            </a:endParaRPr>
          </a:p>
        </p:txBody>
      </p:sp>
      <p:sp>
        <p:nvSpPr>
          <p:cNvPr id="85" name="Google Shape;85;p3"/>
          <p:cNvSpPr txBox="1"/>
          <p:nvPr/>
        </p:nvSpPr>
        <p:spPr>
          <a:xfrm>
            <a:off x="7134149" y="1919326"/>
            <a:ext cx="767182"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データ処理</a:t>
            </a:r>
            <a:endParaRPr b="0" i="0" sz="1000" u="none" cap="none" strike="noStrike">
              <a:solidFill>
                <a:schemeClr val="dk1"/>
              </a:solidFill>
              <a:latin typeface="Calibri"/>
              <a:ea typeface="Calibri"/>
              <a:cs typeface="Calibri"/>
              <a:sym typeface="Calibri"/>
            </a:endParaRPr>
          </a:p>
        </p:txBody>
      </p:sp>
      <p:sp>
        <p:nvSpPr>
          <p:cNvPr id="86" name="Google Shape;86;p3"/>
          <p:cNvSpPr txBox="1"/>
          <p:nvPr/>
        </p:nvSpPr>
        <p:spPr>
          <a:xfrm>
            <a:off x="6933895" y="2109521"/>
            <a:ext cx="116768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定型作業の自動化</a:t>
            </a:r>
            <a:endParaRPr b="0" i="0" sz="1000" u="none" cap="none" strike="noStrike">
              <a:solidFill>
                <a:schemeClr val="dk1"/>
              </a:solidFill>
              <a:latin typeface="Calibri"/>
              <a:ea typeface="Calibri"/>
              <a:cs typeface="Calibri"/>
              <a:sym typeface="Calibri"/>
            </a:endParaRPr>
          </a:p>
        </p:txBody>
      </p:sp>
      <p:sp>
        <p:nvSpPr>
          <p:cNvPr id="87" name="Google Shape;87;p3"/>
          <p:cNvSpPr/>
          <p:nvPr/>
        </p:nvSpPr>
        <p:spPr>
          <a:xfrm>
            <a:off x="9068105" y="1257300"/>
            <a:ext cx="2743200" cy="1143000"/>
          </a:xfrm>
          <a:prstGeom prst="rect">
            <a:avLst/>
          </a:prstGeom>
          <a:solidFill>
            <a:srgbClr val="FFFFFF"/>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 name="Google Shape;88;p3"/>
          <p:cNvPicPr preferRelativeResize="0"/>
          <p:nvPr/>
        </p:nvPicPr>
        <p:blipFill rotWithShape="1">
          <a:blip r:embed="rId4">
            <a:alphaModFix/>
          </a:blip>
          <a:srcRect b="0" l="-133" r="-133" t="0"/>
          <a:stretch/>
        </p:blipFill>
        <p:spPr>
          <a:xfrm>
            <a:off x="10353751" y="1356970"/>
            <a:ext cx="171907" cy="228600"/>
          </a:xfrm>
          <a:prstGeom prst="rect">
            <a:avLst/>
          </a:prstGeom>
          <a:noFill/>
          <a:ln>
            <a:noFill/>
          </a:ln>
        </p:spPr>
      </p:pic>
      <p:sp>
        <p:nvSpPr>
          <p:cNvPr id="89" name="Google Shape;89;p3"/>
          <p:cNvSpPr txBox="1"/>
          <p:nvPr/>
        </p:nvSpPr>
        <p:spPr>
          <a:xfrm>
            <a:off x="9838944" y="1662379"/>
            <a:ext cx="1329538"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Klee One"/>
              <a:buNone/>
            </a:pPr>
            <a:r>
              <a:rPr b="1" i="0" lang="en-US" sz="1300" u="none" cap="none" strike="noStrike">
                <a:solidFill>
                  <a:srgbClr val="0A2463"/>
                </a:solidFill>
                <a:latin typeface="Klee One"/>
                <a:ea typeface="Klee One"/>
                <a:cs typeface="Klee One"/>
                <a:sym typeface="Klee One"/>
              </a:rPr>
              <a:t>人間の担当領域</a:t>
            </a:r>
            <a:endParaRPr b="0" i="0" sz="1300" u="none" cap="none" strike="noStrike">
              <a:solidFill>
                <a:schemeClr val="dk1"/>
              </a:solidFill>
              <a:latin typeface="Calibri"/>
              <a:ea typeface="Calibri"/>
              <a:cs typeface="Calibri"/>
              <a:sym typeface="Calibri"/>
            </a:endParaRPr>
          </a:p>
        </p:txBody>
      </p:sp>
      <p:sp>
        <p:nvSpPr>
          <p:cNvPr id="90" name="Google Shape;90;p3"/>
          <p:cNvSpPr txBox="1"/>
          <p:nvPr/>
        </p:nvSpPr>
        <p:spPr>
          <a:xfrm>
            <a:off x="10239451" y="1919326"/>
            <a:ext cx="500177"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創造性</a:t>
            </a:r>
            <a:endParaRPr b="0" i="0" sz="1000" u="none" cap="none" strike="noStrike">
              <a:solidFill>
                <a:schemeClr val="dk1"/>
              </a:solidFill>
              <a:latin typeface="Calibri"/>
              <a:ea typeface="Calibri"/>
              <a:cs typeface="Calibri"/>
              <a:sym typeface="Calibri"/>
            </a:endParaRPr>
          </a:p>
        </p:txBody>
      </p:sp>
      <p:sp>
        <p:nvSpPr>
          <p:cNvPr id="91" name="Google Shape;91;p3"/>
          <p:cNvSpPr txBox="1"/>
          <p:nvPr/>
        </p:nvSpPr>
        <p:spPr>
          <a:xfrm>
            <a:off x="9972446" y="2109521"/>
            <a:ext cx="1034186"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判断と意思決定</a:t>
            </a:r>
            <a:endParaRPr b="0" i="0" sz="1000" u="none" cap="none" strike="noStrike">
              <a:solidFill>
                <a:schemeClr val="dk1"/>
              </a:solidFill>
              <a:latin typeface="Calibri"/>
              <a:ea typeface="Calibri"/>
              <a:cs typeface="Calibri"/>
              <a:sym typeface="Calibri"/>
            </a:endParaRPr>
          </a:p>
        </p:txBody>
      </p:sp>
      <p:sp>
        <p:nvSpPr>
          <p:cNvPr id="92" name="Google Shape;92;p3"/>
          <p:cNvSpPr/>
          <p:nvPr/>
        </p:nvSpPr>
        <p:spPr>
          <a:xfrm>
            <a:off x="6096305" y="2476195"/>
            <a:ext cx="2743200" cy="1143000"/>
          </a:xfrm>
          <a:prstGeom prst="rect">
            <a:avLst/>
          </a:prstGeom>
          <a:solidFill>
            <a:srgbClr val="FFFFFF"/>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3" name="Google Shape;93;p3"/>
          <p:cNvPicPr preferRelativeResize="0"/>
          <p:nvPr/>
        </p:nvPicPr>
        <p:blipFill rotWithShape="1">
          <a:blip r:embed="rId5">
            <a:alphaModFix/>
          </a:blip>
          <a:srcRect b="0" l="-80" r="-80" t="0"/>
          <a:stretch/>
        </p:blipFill>
        <p:spPr>
          <a:xfrm>
            <a:off x="7324344" y="2576779"/>
            <a:ext cx="286207" cy="228600"/>
          </a:xfrm>
          <a:prstGeom prst="rect">
            <a:avLst/>
          </a:prstGeom>
          <a:noFill/>
          <a:ln>
            <a:noFill/>
          </a:ln>
        </p:spPr>
      </p:pic>
      <p:sp>
        <p:nvSpPr>
          <p:cNvPr id="94" name="Google Shape;94;p3"/>
          <p:cNvSpPr txBox="1"/>
          <p:nvPr/>
        </p:nvSpPr>
        <p:spPr>
          <a:xfrm>
            <a:off x="7125005" y="2881274"/>
            <a:ext cx="814730"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Klee One"/>
              <a:buNone/>
            </a:pPr>
            <a:r>
              <a:rPr b="1" i="0" lang="en-US" sz="1300" u="none" cap="none" strike="noStrike">
                <a:solidFill>
                  <a:srgbClr val="0A2463"/>
                </a:solidFill>
                <a:latin typeface="Klee One"/>
                <a:ea typeface="Klee One"/>
                <a:cs typeface="Klee One"/>
                <a:sym typeface="Klee One"/>
              </a:rPr>
              <a:t>AIの特性</a:t>
            </a:r>
            <a:endParaRPr b="0" i="0" sz="1300" u="none" cap="none" strike="noStrike">
              <a:solidFill>
                <a:schemeClr val="dk1"/>
              </a:solidFill>
              <a:latin typeface="Calibri"/>
              <a:ea typeface="Calibri"/>
              <a:cs typeface="Calibri"/>
              <a:sym typeface="Calibri"/>
            </a:endParaRPr>
          </a:p>
        </p:txBody>
      </p:sp>
      <p:sp>
        <p:nvSpPr>
          <p:cNvPr id="95" name="Google Shape;95;p3"/>
          <p:cNvSpPr txBox="1"/>
          <p:nvPr/>
        </p:nvSpPr>
        <p:spPr>
          <a:xfrm>
            <a:off x="7126834" y="3138221"/>
            <a:ext cx="786384"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24時間稼働</a:t>
            </a:r>
            <a:endParaRPr b="0" i="0" sz="1000" u="none" cap="none" strike="noStrike">
              <a:solidFill>
                <a:schemeClr val="dk1"/>
              </a:solidFill>
              <a:latin typeface="Calibri"/>
              <a:ea typeface="Calibri"/>
              <a:cs typeface="Calibri"/>
              <a:sym typeface="Calibri"/>
            </a:endParaRPr>
          </a:p>
        </p:txBody>
      </p:sp>
      <p:sp>
        <p:nvSpPr>
          <p:cNvPr id="96" name="Google Shape;96;p3"/>
          <p:cNvSpPr txBox="1"/>
          <p:nvPr/>
        </p:nvSpPr>
        <p:spPr>
          <a:xfrm>
            <a:off x="6801307" y="3329330"/>
            <a:ext cx="143377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ミスの少なさ・一貫性</a:t>
            </a:r>
            <a:endParaRPr b="0" i="0" sz="1000" u="none" cap="none" strike="noStrike">
              <a:solidFill>
                <a:schemeClr val="dk1"/>
              </a:solidFill>
              <a:latin typeface="Calibri"/>
              <a:ea typeface="Calibri"/>
              <a:cs typeface="Calibri"/>
              <a:sym typeface="Calibri"/>
            </a:endParaRPr>
          </a:p>
        </p:txBody>
      </p:sp>
      <p:sp>
        <p:nvSpPr>
          <p:cNvPr id="97" name="Google Shape;97;p3"/>
          <p:cNvSpPr/>
          <p:nvPr/>
        </p:nvSpPr>
        <p:spPr>
          <a:xfrm>
            <a:off x="9068105" y="2476195"/>
            <a:ext cx="2743200" cy="1143000"/>
          </a:xfrm>
          <a:prstGeom prst="rect">
            <a:avLst/>
          </a:prstGeom>
          <a:solidFill>
            <a:srgbClr val="FFFFFF"/>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8" name="Google Shape;98;p3"/>
          <p:cNvPicPr preferRelativeResize="0"/>
          <p:nvPr/>
        </p:nvPicPr>
        <p:blipFill rotWithShape="1">
          <a:blip r:embed="rId6">
            <a:alphaModFix/>
          </a:blip>
          <a:srcRect b="0" l="-56" r="-57" t="0"/>
          <a:stretch/>
        </p:blipFill>
        <p:spPr>
          <a:xfrm>
            <a:off x="10339121" y="2576779"/>
            <a:ext cx="200254" cy="228600"/>
          </a:xfrm>
          <a:prstGeom prst="rect">
            <a:avLst/>
          </a:prstGeom>
          <a:noFill/>
          <a:ln>
            <a:noFill/>
          </a:ln>
        </p:spPr>
      </p:pic>
      <p:sp>
        <p:nvSpPr>
          <p:cNvPr id="99" name="Google Shape;99;p3"/>
          <p:cNvSpPr txBox="1"/>
          <p:nvPr/>
        </p:nvSpPr>
        <p:spPr>
          <a:xfrm>
            <a:off x="10010851" y="2881274"/>
            <a:ext cx="986638"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Klee One"/>
              <a:buNone/>
            </a:pPr>
            <a:r>
              <a:rPr b="1" i="0" lang="en-US" sz="1300" u="none" cap="none" strike="noStrike">
                <a:solidFill>
                  <a:srgbClr val="0A2463"/>
                </a:solidFill>
                <a:latin typeface="Klee One"/>
                <a:ea typeface="Klee One"/>
                <a:cs typeface="Klee One"/>
                <a:sym typeface="Klee One"/>
              </a:rPr>
              <a:t>人間の特性</a:t>
            </a:r>
            <a:endParaRPr b="0" i="0" sz="1300" u="none" cap="none" strike="noStrike">
              <a:solidFill>
                <a:schemeClr val="dk1"/>
              </a:solidFill>
              <a:latin typeface="Calibri"/>
              <a:ea typeface="Calibri"/>
              <a:cs typeface="Calibri"/>
              <a:sym typeface="Calibri"/>
            </a:endParaRPr>
          </a:p>
        </p:txBody>
      </p:sp>
      <p:sp>
        <p:nvSpPr>
          <p:cNvPr id="100" name="Google Shape;100;p3"/>
          <p:cNvSpPr txBox="1"/>
          <p:nvPr/>
        </p:nvSpPr>
        <p:spPr>
          <a:xfrm>
            <a:off x="10239451" y="3138221"/>
            <a:ext cx="500177"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共感力</a:t>
            </a:r>
            <a:endParaRPr b="0" i="0" sz="1000" u="none" cap="none" strike="noStrike">
              <a:solidFill>
                <a:schemeClr val="dk1"/>
              </a:solidFill>
              <a:latin typeface="Calibri"/>
              <a:ea typeface="Calibri"/>
              <a:cs typeface="Calibri"/>
              <a:sym typeface="Calibri"/>
            </a:endParaRPr>
          </a:p>
        </p:txBody>
      </p:sp>
      <p:sp>
        <p:nvSpPr>
          <p:cNvPr id="101" name="Google Shape;101;p3"/>
          <p:cNvSpPr txBox="1"/>
          <p:nvPr/>
        </p:nvSpPr>
        <p:spPr>
          <a:xfrm>
            <a:off x="9706356" y="3329330"/>
            <a:ext cx="1567282"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状況に応じた柔軟な対応</a:t>
            </a:r>
            <a:endParaRPr b="0" i="0" sz="1000" u="none" cap="none" strike="noStrike">
              <a:solidFill>
                <a:schemeClr val="dk1"/>
              </a:solidFill>
              <a:latin typeface="Calibri"/>
              <a:ea typeface="Calibri"/>
              <a:cs typeface="Calibri"/>
              <a:sym typeface="Calibri"/>
            </a:endParaRPr>
          </a:p>
        </p:txBody>
      </p:sp>
      <p:sp>
        <p:nvSpPr>
          <p:cNvPr id="102" name="Google Shape;102;p3"/>
          <p:cNvSpPr txBox="1"/>
          <p:nvPr/>
        </p:nvSpPr>
        <p:spPr>
          <a:xfrm>
            <a:off x="6096305" y="3847795"/>
            <a:ext cx="22293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800"/>
              <a:buFont typeface="Klee One"/>
              <a:buNone/>
            </a:pPr>
            <a:r>
              <a:rPr b="1" i="0" lang="en-US" sz="1800" u="none" cap="none" strike="noStrike">
                <a:solidFill>
                  <a:srgbClr val="3E92CC"/>
                </a:solidFill>
                <a:latin typeface="Klee One"/>
                <a:ea typeface="Klee One"/>
                <a:cs typeface="Klee One"/>
                <a:sym typeface="Klee One"/>
              </a:rPr>
              <a:t>協働によるメリット</a:t>
            </a:r>
            <a:endParaRPr b="0" i="0" sz="1800" u="none" cap="none" strike="noStrike">
              <a:solidFill>
                <a:schemeClr val="dk1"/>
              </a:solidFill>
              <a:latin typeface="Calibri"/>
              <a:ea typeface="Calibri"/>
              <a:cs typeface="Calibri"/>
              <a:sym typeface="Calibri"/>
            </a:endParaRPr>
          </a:p>
        </p:txBody>
      </p:sp>
      <p:sp>
        <p:nvSpPr>
          <p:cNvPr id="103" name="Google Shape;103;p3"/>
          <p:cNvSpPr/>
          <p:nvPr/>
        </p:nvSpPr>
        <p:spPr>
          <a:xfrm>
            <a:off x="6096305" y="4343400"/>
            <a:ext cx="5715000"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3"/>
          <p:cNvSpPr/>
          <p:nvPr/>
        </p:nvSpPr>
        <p:spPr>
          <a:xfrm>
            <a:off x="6096305" y="4343400"/>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3"/>
          <p:cNvSpPr txBox="1"/>
          <p:nvPr/>
        </p:nvSpPr>
        <p:spPr>
          <a:xfrm>
            <a:off x="6238951" y="4419295"/>
            <a:ext cx="42775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業務効率： 作業時間を30%削減し、顧客対応スピードを向上</a:t>
            </a:r>
            <a:endParaRPr b="0" i="0" sz="1200" u="none" cap="none" strike="noStrike">
              <a:solidFill>
                <a:schemeClr val="dk1"/>
              </a:solidFill>
              <a:latin typeface="Calibri"/>
              <a:ea typeface="Calibri"/>
              <a:cs typeface="Calibri"/>
              <a:sym typeface="Calibri"/>
            </a:endParaRPr>
          </a:p>
        </p:txBody>
      </p:sp>
      <p:sp>
        <p:nvSpPr>
          <p:cNvPr id="106" name="Google Shape;106;p3"/>
          <p:cNvSpPr/>
          <p:nvPr/>
        </p:nvSpPr>
        <p:spPr>
          <a:xfrm>
            <a:off x="6096305" y="4800600"/>
            <a:ext cx="5715000"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3"/>
          <p:cNvSpPr/>
          <p:nvPr/>
        </p:nvSpPr>
        <p:spPr>
          <a:xfrm>
            <a:off x="6096305" y="4800600"/>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3"/>
          <p:cNvSpPr txBox="1"/>
          <p:nvPr/>
        </p:nvSpPr>
        <p:spPr>
          <a:xfrm>
            <a:off x="6238951" y="4876495"/>
            <a:ext cx="45820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品質向上： ミス率を80%削減し、一定品質のサービス提供を実現</a:t>
            </a:r>
            <a:endParaRPr b="0" i="0" sz="1200" u="none" cap="none" strike="noStrike">
              <a:solidFill>
                <a:schemeClr val="dk1"/>
              </a:solidFill>
              <a:latin typeface="Calibri"/>
              <a:ea typeface="Calibri"/>
              <a:cs typeface="Calibri"/>
              <a:sym typeface="Calibri"/>
            </a:endParaRPr>
          </a:p>
        </p:txBody>
      </p:sp>
      <p:sp>
        <p:nvSpPr>
          <p:cNvPr id="109" name="Google Shape;109;p3"/>
          <p:cNvSpPr/>
          <p:nvPr/>
        </p:nvSpPr>
        <p:spPr>
          <a:xfrm>
            <a:off x="6096305" y="5257800"/>
            <a:ext cx="5715000" cy="381305"/>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3"/>
          <p:cNvSpPr/>
          <p:nvPr/>
        </p:nvSpPr>
        <p:spPr>
          <a:xfrm>
            <a:off x="6096305" y="5257800"/>
            <a:ext cx="28346" cy="3813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3"/>
          <p:cNvSpPr txBox="1"/>
          <p:nvPr/>
        </p:nvSpPr>
        <p:spPr>
          <a:xfrm>
            <a:off x="6238951" y="5333695"/>
            <a:ext cx="42583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価値創出： 人が創造的業務に集中でき、新たな提案力を強化</a:t>
            </a:r>
            <a:endParaRPr b="0" i="0" sz="1200" u="none" cap="none" strike="noStrike">
              <a:solidFill>
                <a:schemeClr val="dk1"/>
              </a:solidFill>
              <a:latin typeface="Calibri"/>
              <a:ea typeface="Calibri"/>
              <a:cs typeface="Calibri"/>
              <a:sym typeface="Calibri"/>
            </a:endParaRPr>
          </a:p>
        </p:txBody>
      </p:sp>
      <p:sp>
        <p:nvSpPr>
          <p:cNvPr id="112" name="Google Shape;112;p3"/>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4"/>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9810600" y="-2"/>
            <a:ext cx="2381100" cy="19047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952800" y="5429702"/>
            <a:ext cx="1904700" cy="14283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381305" y="333756"/>
            <a:ext cx="5106010"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2700"/>
              <a:buFont typeface="Noto Sans JP"/>
              <a:buNone/>
            </a:pPr>
            <a:r>
              <a:rPr b="1" i="0" lang="en-US" sz="2700" u="none" cap="none" strike="noStrike">
                <a:solidFill>
                  <a:srgbClr val="0052CC"/>
                </a:solidFill>
                <a:latin typeface="Noto Sans JP"/>
                <a:ea typeface="Noto Sans JP"/>
                <a:cs typeface="Noto Sans JP"/>
                <a:sym typeface="Noto Sans JP"/>
              </a:rPr>
              <a:t>BEFORE / AFTER 業務イメージ</a:t>
            </a:r>
            <a:endParaRPr b="0" i="0" sz="2700" u="none" cap="none" strike="noStrike">
              <a:solidFill>
                <a:schemeClr val="dk1"/>
              </a:solidFill>
              <a:latin typeface="Calibri"/>
              <a:ea typeface="Calibri"/>
              <a:cs typeface="Calibri"/>
              <a:sym typeface="Calibri"/>
            </a:endParaRPr>
          </a:p>
        </p:txBody>
      </p:sp>
      <p:sp>
        <p:nvSpPr>
          <p:cNvPr id="122" name="Google Shape;122;p4"/>
          <p:cNvSpPr/>
          <p:nvPr/>
        </p:nvSpPr>
        <p:spPr>
          <a:xfrm>
            <a:off x="381305" y="907085"/>
            <a:ext cx="571500" cy="384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txBox="1"/>
          <p:nvPr/>
        </p:nvSpPr>
        <p:spPr>
          <a:xfrm>
            <a:off x="381305" y="1173175"/>
            <a:ext cx="5429707"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現状の業務課題をAI導入によって解決し、業務効率と品質の両方を向上させることができます。</a:t>
            </a:r>
            <a:endParaRPr b="0" i="0" sz="1200" u="none" cap="none" strike="noStrike">
              <a:solidFill>
                <a:schemeClr val="dk1"/>
              </a:solidFill>
              <a:latin typeface="Calibri"/>
              <a:ea typeface="Calibri"/>
              <a:cs typeface="Calibri"/>
              <a:sym typeface="Calibri"/>
            </a:endParaRPr>
          </a:p>
        </p:txBody>
      </p:sp>
      <p:sp>
        <p:nvSpPr>
          <p:cNvPr id="124" name="Google Shape;124;p4"/>
          <p:cNvSpPr/>
          <p:nvPr/>
        </p:nvSpPr>
        <p:spPr>
          <a:xfrm>
            <a:off x="381305" y="1821485"/>
            <a:ext cx="5410505" cy="16002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381305" y="1821485"/>
            <a:ext cx="28346" cy="16002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txBox="1"/>
          <p:nvPr/>
        </p:nvSpPr>
        <p:spPr>
          <a:xfrm>
            <a:off x="523951" y="1897380"/>
            <a:ext cx="21058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【Before】手作業中心の業務</a:t>
            </a:r>
            <a:endParaRPr b="0" i="0" sz="1200" u="none" cap="none" strike="noStrike">
              <a:solidFill>
                <a:schemeClr val="dk1"/>
              </a:solidFill>
              <a:latin typeface="Calibri"/>
              <a:ea typeface="Calibri"/>
              <a:cs typeface="Calibri"/>
              <a:sym typeface="Calibri"/>
            </a:endParaRPr>
          </a:p>
        </p:txBody>
      </p:sp>
      <p:sp>
        <p:nvSpPr>
          <p:cNvPr id="127" name="Google Shape;127;p4"/>
          <p:cNvSpPr txBox="1"/>
          <p:nvPr/>
        </p:nvSpPr>
        <p:spPr>
          <a:xfrm>
            <a:off x="752551" y="2201875"/>
            <a:ext cx="3324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担当者の作業負荷が大きく、時間と労力を消費</a:t>
            </a:r>
            <a:endParaRPr b="0" i="0" sz="1200" u="none" cap="none" strike="noStrike">
              <a:solidFill>
                <a:schemeClr val="dk1"/>
              </a:solidFill>
              <a:latin typeface="Calibri"/>
              <a:ea typeface="Calibri"/>
              <a:cs typeface="Calibri"/>
              <a:sym typeface="Calibri"/>
            </a:endParaRPr>
          </a:p>
        </p:txBody>
      </p:sp>
      <p:sp>
        <p:nvSpPr>
          <p:cNvPr id="128" name="Google Shape;128;p4"/>
          <p:cNvSpPr txBox="1"/>
          <p:nvPr/>
        </p:nvSpPr>
        <p:spPr>
          <a:xfrm>
            <a:off x="752551" y="2507285"/>
            <a:ext cx="24103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人的ミスの発生リスクが常に存在</a:t>
            </a:r>
            <a:endParaRPr b="0" i="0" sz="1200" u="none" cap="none" strike="noStrike">
              <a:solidFill>
                <a:schemeClr val="dk1"/>
              </a:solidFill>
              <a:latin typeface="Calibri"/>
              <a:ea typeface="Calibri"/>
              <a:cs typeface="Calibri"/>
              <a:sym typeface="Calibri"/>
            </a:endParaRPr>
          </a:p>
        </p:txBody>
      </p:sp>
      <p:sp>
        <p:nvSpPr>
          <p:cNvPr id="129" name="Google Shape;129;p4"/>
          <p:cNvSpPr txBox="1"/>
          <p:nvPr/>
        </p:nvSpPr>
        <p:spPr>
          <a:xfrm>
            <a:off x="752551" y="2811780"/>
            <a:ext cx="270571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納期遅延が発生しやすい不安定な状態</a:t>
            </a:r>
            <a:endParaRPr b="0" i="0" sz="1200" u="none" cap="none" strike="noStrike">
              <a:solidFill>
                <a:schemeClr val="dk1"/>
              </a:solidFill>
              <a:latin typeface="Calibri"/>
              <a:ea typeface="Calibri"/>
              <a:cs typeface="Calibri"/>
              <a:sym typeface="Calibri"/>
            </a:endParaRPr>
          </a:p>
        </p:txBody>
      </p:sp>
      <p:sp>
        <p:nvSpPr>
          <p:cNvPr id="130" name="Google Shape;130;p4"/>
          <p:cNvSpPr txBox="1"/>
          <p:nvPr/>
        </p:nvSpPr>
        <p:spPr>
          <a:xfrm>
            <a:off x="752551" y="3116275"/>
            <a:ext cx="33055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担当者の経験・スキルによって品質にバラつき</a:t>
            </a:r>
            <a:endParaRPr b="0" i="0" sz="1200" u="none" cap="none" strike="noStrike">
              <a:solidFill>
                <a:schemeClr val="dk1"/>
              </a:solidFill>
              <a:latin typeface="Calibri"/>
              <a:ea typeface="Calibri"/>
              <a:cs typeface="Calibri"/>
              <a:sym typeface="Calibri"/>
            </a:endParaRPr>
          </a:p>
        </p:txBody>
      </p:sp>
      <p:sp>
        <p:nvSpPr>
          <p:cNvPr id="131" name="Google Shape;131;p4"/>
          <p:cNvSpPr/>
          <p:nvPr/>
        </p:nvSpPr>
        <p:spPr>
          <a:xfrm>
            <a:off x="381305" y="3573475"/>
            <a:ext cx="5410505" cy="16002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381305" y="3573475"/>
            <a:ext cx="28346" cy="16002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4"/>
          <p:cNvSpPr txBox="1"/>
          <p:nvPr/>
        </p:nvSpPr>
        <p:spPr>
          <a:xfrm>
            <a:off x="523951" y="3650285"/>
            <a:ext cx="226771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【After】AI支援による業務改革</a:t>
            </a:r>
            <a:endParaRPr b="0" i="0" sz="1200" u="none" cap="none" strike="noStrike">
              <a:solidFill>
                <a:schemeClr val="dk1"/>
              </a:solidFill>
              <a:latin typeface="Calibri"/>
              <a:ea typeface="Calibri"/>
              <a:cs typeface="Calibri"/>
              <a:sym typeface="Calibri"/>
            </a:endParaRPr>
          </a:p>
        </p:txBody>
      </p:sp>
      <p:sp>
        <p:nvSpPr>
          <p:cNvPr id="134" name="Google Shape;134;p4"/>
          <p:cNvSpPr txBox="1"/>
          <p:nvPr/>
        </p:nvSpPr>
        <p:spPr>
          <a:xfrm>
            <a:off x="752551" y="3954780"/>
            <a:ext cx="22384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AIが定型的処理を自動的に実行</a:t>
            </a:r>
            <a:endParaRPr b="0" i="0" sz="1200" u="none" cap="none" strike="noStrike">
              <a:solidFill>
                <a:schemeClr val="dk1"/>
              </a:solidFill>
              <a:latin typeface="Calibri"/>
              <a:ea typeface="Calibri"/>
              <a:cs typeface="Calibri"/>
              <a:sym typeface="Calibri"/>
            </a:endParaRPr>
          </a:p>
        </p:txBody>
      </p:sp>
      <p:sp>
        <p:nvSpPr>
          <p:cNvPr id="135" name="Google Shape;135;p4"/>
          <p:cNvSpPr txBox="1"/>
          <p:nvPr/>
        </p:nvSpPr>
        <p:spPr>
          <a:xfrm>
            <a:off x="752551" y="4259275"/>
            <a:ext cx="3172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担当者は本質的な判断と提案業務に集中可能</a:t>
            </a:r>
            <a:endParaRPr b="0" i="0" sz="1200" u="none" cap="none" strike="noStrike">
              <a:solidFill>
                <a:schemeClr val="dk1"/>
              </a:solidFill>
              <a:latin typeface="Calibri"/>
              <a:ea typeface="Calibri"/>
              <a:cs typeface="Calibri"/>
              <a:sym typeface="Calibri"/>
            </a:endParaRPr>
          </a:p>
        </p:txBody>
      </p:sp>
      <p:sp>
        <p:nvSpPr>
          <p:cNvPr id="136" name="Google Shape;136;p4"/>
          <p:cNvSpPr txBox="1"/>
          <p:nvPr/>
        </p:nvSpPr>
        <p:spPr>
          <a:xfrm>
            <a:off x="752551" y="4564685"/>
            <a:ext cx="22576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処理速度・品質・コストが安定</a:t>
            </a:r>
            <a:endParaRPr b="0" i="0" sz="1200" u="none" cap="none" strike="noStrike">
              <a:solidFill>
                <a:schemeClr val="dk1"/>
              </a:solidFill>
              <a:latin typeface="Calibri"/>
              <a:ea typeface="Calibri"/>
              <a:cs typeface="Calibri"/>
              <a:sym typeface="Calibri"/>
            </a:endParaRPr>
          </a:p>
        </p:txBody>
      </p:sp>
      <p:sp>
        <p:nvSpPr>
          <p:cNvPr id="137" name="Google Shape;137;p4"/>
          <p:cNvSpPr txBox="1"/>
          <p:nvPr/>
        </p:nvSpPr>
        <p:spPr>
          <a:xfrm>
            <a:off x="752551" y="4869180"/>
            <a:ext cx="241950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24時間稼働で業務の連続性を確保</a:t>
            </a:r>
            <a:endParaRPr b="0" i="0" sz="1200" u="none" cap="none" strike="noStrike">
              <a:solidFill>
                <a:schemeClr val="dk1"/>
              </a:solidFill>
              <a:latin typeface="Calibri"/>
              <a:ea typeface="Calibri"/>
              <a:cs typeface="Calibri"/>
              <a:sym typeface="Calibri"/>
            </a:endParaRPr>
          </a:p>
        </p:txBody>
      </p:sp>
      <p:sp>
        <p:nvSpPr>
          <p:cNvPr id="138" name="Google Shape;138;p4"/>
          <p:cNvSpPr txBox="1"/>
          <p:nvPr/>
        </p:nvSpPr>
        <p:spPr>
          <a:xfrm>
            <a:off x="381305" y="5326380"/>
            <a:ext cx="52962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結果：お客様への価値提供が向上し、社内リソースの有効活用も実現します</a:t>
            </a:r>
            <a:endParaRPr b="0" i="0" sz="1200" u="none" cap="none" strike="noStrike">
              <a:solidFill>
                <a:schemeClr val="dk1"/>
              </a:solidFill>
              <a:latin typeface="Calibri"/>
              <a:ea typeface="Calibri"/>
              <a:cs typeface="Calibri"/>
              <a:sym typeface="Calibri"/>
            </a:endParaRPr>
          </a:p>
        </p:txBody>
      </p:sp>
      <p:sp>
        <p:nvSpPr>
          <p:cNvPr id="139" name="Google Shape;139;p4"/>
          <p:cNvSpPr/>
          <p:nvPr/>
        </p:nvSpPr>
        <p:spPr>
          <a:xfrm>
            <a:off x="6096305" y="682142"/>
            <a:ext cx="5715000" cy="1800454"/>
          </a:xfrm>
          <a:prstGeom prst="roundRect">
            <a:avLst>
              <a:gd fmla="val 2150" name="adj"/>
            </a:avLst>
          </a:prstGeom>
          <a:solidFill>
            <a:srgbClr val="E3F2FD">
              <a:alpha val="80000"/>
            </a:srgbClr>
          </a:solidFill>
          <a:ln cap="flat" cmpd="sng" w="12700">
            <a:solidFill>
              <a:srgbClr val="4A90E2">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0" name="Google Shape;140;p4"/>
          <p:cNvPicPr preferRelativeResize="0"/>
          <p:nvPr/>
        </p:nvPicPr>
        <p:blipFill rotWithShape="1">
          <a:blip r:embed="rId3">
            <a:alphaModFix/>
          </a:blip>
          <a:srcRect b="0" l="0" r="0" t="0"/>
          <a:stretch/>
        </p:blipFill>
        <p:spPr>
          <a:xfrm>
            <a:off x="6258154" y="843991"/>
            <a:ext cx="267005" cy="267005"/>
          </a:xfrm>
          <a:prstGeom prst="rect">
            <a:avLst/>
          </a:prstGeom>
          <a:noFill/>
          <a:ln>
            <a:noFill/>
          </a:ln>
        </p:spPr>
      </p:pic>
      <p:sp>
        <p:nvSpPr>
          <p:cNvPr id="141" name="Google Shape;141;p4"/>
          <p:cNvSpPr txBox="1"/>
          <p:nvPr/>
        </p:nvSpPr>
        <p:spPr>
          <a:xfrm>
            <a:off x="6601054" y="857707"/>
            <a:ext cx="2857500" cy="2770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500"/>
              <a:buFont typeface="Noto Sans JP"/>
              <a:buNone/>
            </a:pPr>
            <a:r>
              <a:rPr b="1" i="0" lang="en-US" sz="1500" u="none" cap="none" strike="noStrike">
                <a:solidFill>
                  <a:srgbClr val="0052CC"/>
                </a:solidFill>
                <a:latin typeface="Noto Sans JP"/>
                <a:ea typeface="Noto Sans JP"/>
                <a:cs typeface="Noto Sans JP"/>
                <a:sym typeface="Noto Sans JP"/>
              </a:rPr>
              <a:t>Before：手作業による業務処理</a:t>
            </a:r>
            <a:endParaRPr b="0" i="0" sz="1500" u="none" cap="none" strike="noStrike">
              <a:solidFill>
                <a:schemeClr val="dk1"/>
              </a:solidFill>
              <a:latin typeface="Calibri"/>
              <a:ea typeface="Calibri"/>
              <a:cs typeface="Calibri"/>
              <a:sym typeface="Calibri"/>
            </a:endParaRPr>
          </a:p>
        </p:txBody>
      </p:sp>
      <p:pic>
        <p:nvPicPr>
          <p:cNvPr descr="preencoded.png" id="142" name="Google Shape;142;p4"/>
          <p:cNvPicPr preferRelativeResize="0"/>
          <p:nvPr/>
        </p:nvPicPr>
        <p:blipFill rotWithShape="1">
          <a:blip r:embed="rId4">
            <a:alphaModFix/>
          </a:blip>
          <a:srcRect b="0" l="-50" r="-49" t="0"/>
          <a:stretch/>
        </p:blipFill>
        <p:spPr>
          <a:xfrm>
            <a:off x="6682435" y="1239012"/>
            <a:ext cx="228600" cy="304495"/>
          </a:xfrm>
          <a:prstGeom prst="rect">
            <a:avLst/>
          </a:prstGeom>
          <a:noFill/>
          <a:ln>
            <a:noFill/>
          </a:ln>
        </p:spPr>
      </p:pic>
      <p:sp>
        <p:nvSpPr>
          <p:cNvPr id="143" name="Google Shape;143;p4"/>
          <p:cNvSpPr txBox="1"/>
          <p:nvPr/>
        </p:nvSpPr>
        <p:spPr>
          <a:xfrm>
            <a:off x="6530645" y="1591970"/>
            <a:ext cx="63367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業務依頼</a:t>
            </a:r>
            <a:endParaRPr b="0" i="0" sz="1000" u="none" cap="none" strike="noStrike">
              <a:solidFill>
                <a:schemeClr val="dk1"/>
              </a:solidFill>
              <a:latin typeface="Calibri"/>
              <a:ea typeface="Calibri"/>
              <a:cs typeface="Calibri"/>
              <a:sym typeface="Calibri"/>
            </a:endParaRPr>
          </a:p>
        </p:txBody>
      </p:sp>
      <p:pic>
        <p:nvPicPr>
          <p:cNvPr descr="preencoded.png" id="144" name="Google Shape;144;p4"/>
          <p:cNvPicPr preferRelativeResize="0"/>
          <p:nvPr/>
        </p:nvPicPr>
        <p:blipFill rotWithShape="1">
          <a:blip r:embed="rId5">
            <a:alphaModFix/>
          </a:blip>
          <a:srcRect b="0" l="-56" r="-57" t="0"/>
          <a:stretch/>
        </p:blipFill>
        <p:spPr>
          <a:xfrm>
            <a:off x="7415784" y="1387145"/>
            <a:ext cx="200254" cy="228600"/>
          </a:xfrm>
          <a:prstGeom prst="rect">
            <a:avLst/>
          </a:prstGeom>
          <a:noFill/>
          <a:ln>
            <a:noFill/>
          </a:ln>
        </p:spPr>
      </p:pic>
      <p:pic>
        <p:nvPicPr>
          <p:cNvPr descr="preencoded.png" id="145" name="Google Shape;145;p4"/>
          <p:cNvPicPr preferRelativeResize="0"/>
          <p:nvPr/>
        </p:nvPicPr>
        <p:blipFill rotWithShape="1">
          <a:blip r:embed="rId6">
            <a:alphaModFix/>
          </a:blip>
          <a:srcRect b="0" l="-90" r="-90" t="0"/>
          <a:stretch/>
        </p:blipFill>
        <p:spPr>
          <a:xfrm>
            <a:off x="8043977" y="1239012"/>
            <a:ext cx="381305" cy="304495"/>
          </a:xfrm>
          <a:prstGeom prst="rect">
            <a:avLst/>
          </a:prstGeom>
          <a:noFill/>
          <a:ln>
            <a:noFill/>
          </a:ln>
        </p:spPr>
      </p:pic>
      <p:sp>
        <p:nvSpPr>
          <p:cNvPr id="146" name="Google Shape;146;p4"/>
          <p:cNvSpPr txBox="1"/>
          <p:nvPr/>
        </p:nvSpPr>
        <p:spPr>
          <a:xfrm>
            <a:off x="7901330" y="1591970"/>
            <a:ext cx="767182"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手作業処理</a:t>
            </a:r>
            <a:endParaRPr b="0" i="0" sz="1000" u="none" cap="none" strike="noStrike">
              <a:solidFill>
                <a:schemeClr val="dk1"/>
              </a:solidFill>
              <a:latin typeface="Calibri"/>
              <a:ea typeface="Calibri"/>
              <a:cs typeface="Calibri"/>
              <a:sym typeface="Calibri"/>
            </a:endParaRPr>
          </a:p>
        </p:txBody>
      </p:sp>
      <p:pic>
        <p:nvPicPr>
          <p:cNvPr descr="preencoded.png" id="147" name="Google Shape;147;p4"/>
          <p:cNvPicPr preferRelativeResize="0"/>
          <p:nvPr/>
        </p:nvPicPr>
        <p:blipFill rotWithShape="1">
          <a:blip r:embed="rId5">
            <a:alphaModFix/>
          </a:blip>
          <a:srcRect b="0" l="-56" r="-57" t="0"/>
          <a:stretch/>
        </p:blipFill>
        <p:spPr>
          <a:xfrm>
            <a:off x="8853221" y="1387145"/>
            <a:ext cx="200254" cy="228600"/>
          </a:xfrm>
          <a:prstGeom prst="rect">
            <a:avLst/>
          </a:prstGeom>
          <a:noFill/>
          <a:ln>
            <a:noFill/>
          </a:ln>
        </p:spPr>
      </p:pic>
      <p:pic>
        <p:nvPicPr>
          <p:cNvPr descr="preencoded.png" id="148" name="Google Shape;148;p4"/>
          <p:cNvPicPr preferRelativeResize="0"/>
          <p:nvPr/>
        </p:nvPicPr>
        <p:blipFill rotWithShape="1">
          <a:blip r:embed="rId7">
            <a:alphaModFix/>
          </a:blip>
          <a:srcRect b="0" l="0" r="0" t="0"/>
          <a:stretch/>
        </p:blipFill>
        <p:spPr>
          <a:xfrm>
            <a:off x="9519818" y="1239012"/>
            <a:ext cx="304495" cy="304495"/>
          </a:xfrm>
          <a:prstGeom prst="rect">
            <a:avLst/>
          </a:prstGeom>
          <a:noFill/>
          <a:ln>
            <a:noFill/>
          </a:ln>
        </p:spPr>
      </p:pic>
      <p:sp>
        <p:nvSpPr>
          <p:cNvPr id="149" name="Google Shape;149;p4"/>
          <p:cNvSpPr txBox="1"/>
          <p:nvPr/>
        </p:nvSpPr>
        <p:spPr>
          <a:xfrm>
            <a:off x="9405518" y="1591970"/>
            <a:ext cx="63367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人手確認</a:t>
            </a:r>
            <a:endParaRPr b="0" i="0" sz="1000" u="none" cap="none" strike="noStrike">
              <a:solidFill>
                <a:schemeClr val="dk1"/>
              </a:solidFill>
              <a:latin typeface="Calibri"/>
              <a:ea typeface="Calibri"/>
              <a:cs typeface="Calibri"/>
              <a:sym typeface="Calibri"/>
            </a:endParaRPr>
          </a:p>
        </p:txBody>
      </p:sp>
      <p:pic>
        <p:nvPicPr>
          <p:cNvPr descr="preencoded.png" id="150" name="Google Shape;150;p4"/>
          <p:cNvPicPr preferRelativeResize="0"/>
          <p:nvPr/>
        </p:nvPicPr>
        <p:blipFill rotWithShape="1">
          <a:blip r:embed="rId5">
            <a:alphaModFix/>
          </a:blip>
          <a:srcRect b="0" l="-56" r="-57" t="0"/>
          <a:stretch/>
        </p:blipFill>
        <p:spPr>
          <a:xfrm>
            <a:off x="10291572" y="1387145"/>
            <a:ext cx="200254" cy="228600"/>
          </a:xfrm>
          <a:prstGeom prst="rect">
            <a:avLst/>
          </a:prstGeom>
          <a:noFill/>
          <a:ln>
            <a:noFill/>
          </a:ln>
        </p:spPr>
      </p:pic>
      <p:pic>
        <p:nvPicPr>
          <p:cNvPr descr="preencoded.png" id="151" name="Google Shape;151;p4"/>
          <p:cNvPicPr preferRelativeResize="0"/>
          <p:nvPr/>
        </p:nvPicPr>
        <p:blipFill rotWithShape="1">
          <a:blip r:embed="rId8">
            <a:alphaModFix/>
          </a:blip>
          <a:srcRect b="0" l="0" r="0" t="0"/>
          <a:stretch/>
        </p:blipFill>
        <p:spPr>
          <a:xfrm>
            <a:off x="10957255" y="1239012"/>
            <a:ext cx="304495" cy="304495"/>
          </a:xfrm>
          <a:prstGeom prst="rect">
            <a:avLst/>
          </a:prstGeom>
          <a:noFill/>
          <a:ln>
            <a:noFill/>
          </a:ln>
        </p:spPr>
      </p:pic>
      <p:sp>
        <p:nvSpPr>
          <p:cNvPr id="152" name="Google Shape;152;p4"/>
          <p:cNvSpPr txBox="1"/>
          <p:nvPr/>
        </p:nvSpPr>
        <p:spPr>
          <a:xfrm>
            <a:off x="10976458" y="1591970"/>
            <a:ext cx="36758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完了</a:t>
            </a:r>
            <a:endParaRPr b="0" i="0" sz="1000" u="none" cap="none" strike="noStrike">
              <a:solidFill>
                <a:schemeClr val="dk1"/>
              </a:solidFill>
              <a:latin typeface="Calibri"/>
              <a:ea typeface="Calibri"/>
              <a:cs typeface="Calibri"/>
              <a:sym typeface="Calibri"/>
            </a:endParaRPr>
          </a:p>
        </p:txBody>
      </p:sp>
      <p:sp>
        <p:nvSpPr>
          <p:cNvPr id="153" name="Google Shape;153;p4"/>
          <p:cNvSpPr/>
          <p:nvPr/>
        </p:nvSpPr>
        <p:spPr>
          <a:xfrm>
            <a:off x="6258154" y="1896466"/>
            <a:ext cx="5391302" cy="418795"/>
          </a:xfrm>
          <a:prstGeom prst="roundRect">
            <a:avLst>
              <a:gd fmla="val 29774" name="adj"/>
            </a:avLst>
          </a:prstGeom>
          <a:solidFill>
            <a:srgbClr val="E3F2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4"/>
          <p:cNvSpPr txBox="1"/>
          <p:nvPr/>
        </p:nvSpPr>
        <p:spPr>
          <a:xfrm>
            <a:off x="7306056" y="2010766"/>
            <a:ext cx="3396082"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所要時間：平均3日 / 品質：担当者依存 / ミス率：約8%</a:t>
            </a:r>
            <a:endParaRPr b="0" i="0" sz="1000" u="none" cap="none" strike="noStrike">
              <a:solidFill>
                <a:schemeClr val="dk1"/>
              </a:solidFill>
              <a:latin typeface="Calibri"/>
              <a:ea typeface="Calibri"/>
              <a:cs typeface="Calibri"/>
              <a:sym typeface="Calibri"/>
            </a:endParaRPr>
          </a:p>
        </p:txBody>
      </p:sp>
      <p:sp>
        <p:nvSpPr>
          <p:cNvPr id="155" name="Google Shape;155;p4"/>
          <p:cNvSpPr/>
          <p:nvPr/>
        </p:nvSpPr>
        <p:spPr>
          <a:xfrm>
            <a:off x="6096305" y="2782519"/>
            <a:ext cx="5715000" cy="1800454"/>
          </a:xfrm>
          <a:prstGeom prst="roundRect">
            <a:avLst>
              <a:gd fmla="val 2150" name="adj"/>
            </a:avLst>
          </a:prstGeom>
          <a:solidFill>
            <a:srgbClr val="E3F2FD">
              <a:alpha val="80000"/>
            </a:srgbClr>
          </a:solidFill>
          <a:ln cap="flat" cmpd="sng" w="12700">
            <a:solidFill>
              <a:srgbClr val="4A90E2">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6" name="Google Shape;156;p4"/>
          <p:cNvPicPr preferRelativeResize="0"/>
          <p:nvPr/>
        </p:nvPicPr>
        <p:blipFill rotWithShape="1">
          <a:blip r:embed="rId9">
            <a:alphaModFix/>
          </a:blip>
          <a:srcRect b="0" l="0" r="0" t="0"/>
          <a:stretch/>
        </p:blipFill>
        <p:spPr>
          <a:xfrm>
            <a:off x="6258154" y="2944368"/>
            <a:ext cx="333756" cy="267005"/>
          </a:xfrm>
          <a:prstGeom prst="rect">
            <a:avLst/>
          </a:prstGeom>
          <a:noFill/>
          <a:ln>
            <a:noFill/>
          </a:ln>
        </p:spPr>
      </p:pic>
      <p:sp>
        <p:nvSpPr>
          <p:cNvPr id="157" name="Google Shape;157;p4"/>
          <p:cNvSpPr txBox="1"/>
          <p:nvPr/>
        </p:nvSpPr>
        <p:spPr>
          <a:xfrm>
            <a:off x="6667805" y="2958084"/>
            <a:ext cx="2695651" cy="2770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500"/>
              <a:buFont typeface="Noto Sans JP"/>
              <a:buNone/>
            </a:pPr>
            <a:r>
              <a:rPr b="1" i="0" lang="en-US" sz="1500" u="none" cap="none" strike="noStrike">
                <a:solidFill>
                  <a:srgbClr val="0052CC"/>
                </a:solidFill>
                <a:latin typeface="Noto Sans JP"/>
                <a:ea typeface="Noto Sans JP"/>
                <a:cs typeface="Noto Sans JP"/>
                <a:sym typeface="Noto Sans JP"/>
              </a:rPr>
              <a:t>After：AI支援による業務処理</a:t>
            </a:r>
            <a:endParaRPr b="0" i="0" sz="1500" u="none" cap="none" strike="noStrike">
              <a:solidFill>
                <a:schemeClr val="dk1"/>
              </a:solidFill>
              <a:latin typeface="Calibri"/>
              <a:ea typeface="Calibri"/>
              <a:cs typeface="Calibri"/>
              <a:sym typeface="Calibri"/>
            </a:endParaRPr>
          </a:p>
        </p:txBody>
      </p:sp>
      <p:pic>
        <p:nvPicPr>
          <p:cNvPr descr="preencoded.png" id="158" name="Google Shape;158;p4"/>
          <p:cNvPicPr preferRelativeResize="0"/>
          <p:nvPr/>
        </p:nvPicPr>
        <p:blipFill rotWithShape="1">
          <a:blip r:embed="rId10">
            <a:alphaModFix/>
          </a:blip>
          <a:srcRect b="0" l="-50" r="-49" t="0"/>
          <a:stretch/>
        </p:blipFill>
        <p:spPr>
          <a:xfrm>
            <a:off x="6682435" y="3339389"/>
            <a:ext cx="228600" cy="304495"/>
          </a:xfrm>
          <a:prstGeom prst="rect">
            <a:avLst/>
          </a:prstGeom>
          <a:noFill/>
          <a:ln>
            <a:noFill/>
          </a:ln>
        </p:spPr>
      </p:pic>
      <p:sp>
        <p:nvSpPr>
          <p:cNvPr id="159" name="Google Shape;159;p4"/>
          <p:cNvSpPr txBox="1"/>
          <p:nvPr/>
        </p:nvSpPr>
        <p:spPr>
          <a:xfrm>
            <a:off x="6530645" y="3691433"/>
            <a:ext cx="63367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業務依頼</a:t>
            </a:r>
            <a:endParaRPr b="0" i="0" sz="1000" u="none" cap="none" strike="noStrike">
              <a:solidFill>
                <a:schemeClr val="dk1"/>
              </a:solidFill>
              <a:latin typeface="Calibri"/>
              <a:ea typeface="Calibri"/>
              <a:cs typeface="Calibri"/>
              <a:sym typeface="Calibri"/>
            </a:endParaRPr>
          </a:p>
        </p:txBody>
      </p:sp>
      <p:pic>
        <p:nvPicPr>
          <p:cNvPr descr="preencoded.png" id="160" name="Google Shape;160;p4"/>
          <p:cNvPicPr preferRelativeResize="0"/>
          <p:nvPr/>
        </p:nvPicPr>
        <p:blipFill rotWithShape="1">
          <a:blip r:embed="rId5">
            <a:alphaModFix/>
          </a:blip>
          <a:srcRect b="0" l="-56" r="-57" t="0"/>
          <a:stretch/>
        </p:blipFill>
        <p:spPr>
          <a:xfrm>
            <a:off x="7415784" y="3486607"/>
            <a:ext cx="200254" cy="228600"/>
          </a:xfrm>
          <a:prstGeom prst="rect">
            <a:avLst/>
          </a:prstGeom>
          <a:noFill/>
          <a:ln>
            <a:noFill/>
          </a:ln>
        </p:spPr>
      </p:pic>
      <p:pic>
        <p:nvPicPr>
          <p:cNvPr descr="preencoded.png" id="161" name="Google Shape;161;p4"/>
          <p:cNvPicPr preferRelativeResize="0"/>
          <p:nvPr/>
        </p:nvPicPr>
        <p:blipFill rotWithShape="1">
          <a:blip r:embed="rId11">
            <a:alphaModFix/>
          </a:blip>
          <a:srcRect b="0" l="-90" r="-90" t="0"/>
          <a:stretch/>
        </p:blipFill>
        <p:spPr>
          <a:xfrm>
            <a:off x="8043977" y="3339389"/>
            <a:ext cx="381305" cy="304495"/>
          </a:xfrm>
          <a:prstGeom prst="rect">
            <a:avLst/>
          </a:prstGeom>
          <a:noFill/>
          <a:ln>
            <a:noFill/>
          </a:ln>
        </p:spPr>
      </p:pic>
      <p:sp>
        <p:nvSpPr>
          <p:cNvPr id="162" name="Google Shape;162;p4"/>
          <p:cNvSpPr txBox="1"/>
          <p:nvPr/>
        </p:nvSpPr>
        <p:spPr>
          <a:xfrm>
            <a:off x="8041234" y="3691433"/>
            <a:ext cx="491033"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AI処理</a:t>
            </a:r>
            <a:endParaRPr b="0" i="0" sz="1000" u="none" cap="none" strike="noStrike">
              <a:solidFill>
                <a:schemeClr val="dk1"/>
              </a:solidFill>
              <a:latin typeface="Calibri"/>
              <a:ea typeface="Calibri"/>
              <a:cs typeface="Calibri"/>
              <a:sym typeface="Calibri"/>
            </a:endParaRPr>
          </a:p>
        </p:txBody>
      </p:sp>
      <p:pic>
        <p:nvPicPr>
          <p:cNvPr descr="preencoded.png" id="163" name="Google Shape;163;p4"/>
          <p:cNvPicPr preferRelativeResize="0"/>
          <p:nvPr/>
        </p:nvPicPr>
        <p:blipFill rotWithShape="1">
          <a:blip r:embed="rId5">
            <a:alphaModFix/>
          </a:blip>
          <a:srcRect b="0" l="-56" r="-57" t="0"/>
          <a:stretch/>
        </p:blipFill>
        <p:spPr>
          <a:xfrm>
            <a:off x="8853221" y="3486607"/>
            <a:ext cx="200254" cy="228600"/>
          </a:xfrm>
          <a:prstGeom prst="rect">
            <a:avLst/>
          </a:prstGeom>
          <a:noFill/>
          <a:ln>
            <a:noFill/>
          </a:ln>
        </p:spPr>
      </p:pic>
      <p:pic>
        <p:nvPicPr>
          <p:cNvPr descr="preencoded.png" id="164" name="Google Shape;164;p4"/>
          <p:cNvPicPr preferRelativeResize="0"/>
          <p:nvPr/>
        </p:nvPicPr>
        <p:blipFill rotWithShape="1">
          <a:blip r:embed="rId12">
            <a:alphaModFix/>
          </a:blip>
          <a:srcRect b="0" l="-90" r="-90" t="0"/>
          <a:stretch/>
        </p:blipFill>
        <p:spPr>
          <a:xfrm>
            <a:off x="9481414" y="3339389"/>
            <a:ext cx="381305" cy="304495"/>
          </a:xfrm>
          <a:prstGeom prst="rect">
            <a:avLst/>
          </a:prstGeom>
          <a:noFill/>
          <a:ln>
            <a:noFill/>
          </a:ln>
        </p:spPr>
      </p:pic>
      <p:sp>
        <p:nvSpPr>
          <p:cNvPr id="165" name="Google Shape;165;p4"/>
          <p:cNvSpPr txBox="1"/>
          <p:nvPr/>
        </p:nvSpPr>
        <p:spPr>
          <a:xfrm>
            <a:off x="9272016" y="3691433"/>
            <a:ext cx="900684"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人の最終確認</a:t>
            </a:r>
            <a:endParaRPr b="0" i="0" sz="1000" u="none" cap="none" strike="noStrike">
              <a:solidFill>
                <a:schemeClr val="dk1"/>
              </a:solidFill>
              <a:latin typeface="Calibri"/>
              <a:ea typeface="Calibri"/>
              <a:cs typeface="Calibri"/>
              <a:sym typeface="Calibri"/>
            </a:endParaRPr>
          </a:p>
        </p:txBody>
      </p:sp>
      <p:pic>
        <p:nvPicPr>
          <p:cNvPr descr="preencoded.png" id="166" name="Google Shape;166;p4"/>
          <p:cNvPicPr preferRelativeResize="0"/>
          <p:nvPr/>
        </p:nvPicPr>
        <p:blipFill rotWithShape="1">
          <a:blip r:embed="rId5">
            <a:alphaModFix/>
          </a:blip>
          <a:srcRect b="0" l="-56" r="-57" t="0"/>
          <a:stretch/>
        </p:blipFill>
        <p:spPr>
          <a:xfrm>
            <a:off x="10291572" y="3486607"/>
            <a:ext cx="200254" cy="228600"/>
          </a:xfrm>
          <a:prstGeom prst="rect">
            <a:avLst/>
          </a:prstGeom>
          <a:noFill/>
          <a:ln>
            <a:noFill/>
          </a:ln>
        </p:spPr>
      </p:pic>
      <p:pic>
        <p:nvPicPr>
          <p:cNvPr descr="preencoded.png" id="167" name="Google Shape;167;p4"/>
          <p:cNvPicPr preferRelativeResize="0"/>
          <p:nvPr/>
        </p:nvPicPr>
        <p:blipFill rotWithShape="1">
          <a:blip r:embed="rId13">
            <a:alphaModFix/>
          </a:blip>
          <a:srcRect b="0" l="0" r="0" t="0"/>
          <a:stretch/>
        </p:blipFill>
        <p:spPr>
          <a:xfrm>
            <a:off x="10957255" y="3339389"/>
            <a:ext cx="304495" cy="304495"/>
          </a:xfrm>
          <a:prstGeom prst="rect">
            <a:avLst/>
          </a:prstGeom>
          <a:noFill/>
          <a:ln>
            <a:noFill/>
          </a:ln>
        </p:spPr>
      </p:pic>
      <p:sp>
        <p:nvSpPr>
          <p:cNvPr id="168" name="Google Shape;168;p4"/>
          <p:cNvSpPr txBox="1"/>
          <p:nvPr/>
        </p:nvSpPr>
        <p:spPr>
          <a:xfrm>
            <a:off x="10976458" y="3691433"/>
            <a:ext cx="36758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完了</a:t>
            </a:r>
            <a:endParaRPr b="0" i="0" sz="1000" u="none" cap="none" strike="noStrike">
              <a:solidFill>
                <a:schemeClr val="dk1"/>
              </a:solidFill>
              <a:latin typeface="Calibri"/>
              <a:ea typeface="Calibri"/>
              <a:cs typeface="Calibri"/>
              <a:sym typeface="Calibri"/>
            </a:endParaRPr>
          </a:p>
        </p:txBody>
      </p:sp>
      <p:sp>
        <p:nvSpPr>
          <p:cNvPr id="169" name="Google Shape;169;p4"/>
          <p:cNvSpPr/>
          <p:nvPr/>
        </p:nvSpPr>
        <p:spPr>
          <a:xfrm>
            <a:off x="6258154" y="3996842"/>
            <a:ext cx="5391302" cy="418795"/>
          </a:xfrm>
          <a:prstGeom prst="roundRect">
            <a:avLst>
              <a:gd fmla="val 29774" name="adj"/>
            </a:avLst>
          </a:prstGeom>
          <a:solidFill>
            <a:srgbClr val="E3F2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txBox="1"/>
          <p:nvPr/>
        </p:nvSpPr>
        <p:spPr>
          <a:xfrm>
            <a:off x="7183526" y="4111142"/>
            <a:ext cx="3643884"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所要時間：平均5時間 / 品質：一貫性あり / ミス率：約1.5%</a:t>
            </a:r>
            <a:endParaRPr b="0" i="0" sz="1000" u="none" cap="none" strike="noStrike">
              <a:solidFill>
                <a:schemeClr val="dk1"/>
              </a:solidFill>
              <a:latin typeface="Calibri"/>
              <a:ea typeface="Calibri"/>
              <a:cs typeface="Calibri"/>
              <a:sym typeface="Calibri"/>
            </a:endParaRPr>
          </a:p>
        </p:txBody>
      </p:sp>
      <p:sp>
        <p:nvSpPr>
          <p:cNvPr id="171" name="Google Shape;171;p4"/>
          <p:cNvSpPr/>
          <p:nvPr/>
        </p:nvSpPr>
        <p:spPr>
          <a:xfrm>
            <a:off x="6096305" y="4882896"/>
            <a:ext cx="5715000" cy="1190549"/>
          </a:xfrm>
          <a:prstGeom prst="roundRect">
            <a:avLst>
              <a:gd fmla="val 3687" name="adj"/>
            </a:avLst>
          </a:prstGeom>
          <a:solidFill>
            <a:srgbClr val="E3F2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4"/>
          <p:cNvSpPr txBox="1"/>
          <p:nvPr/>
        </p:nvSpPr>
        <p:spPr>
          <a:xfrm>
            <a:off x="8574329" y="5034686"/>
            <a:ext cx="87691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AI導入効果</a:t>
            </a:r>
            <a:endParaRPr b="0" i="0" sz="1200" u="none" cap="none" strike="noStrike">
              <a:solidFill>
                <a:schemeClr val="dk1"/>
              </a:solidFill>
              <a:latin typeface="Calibri"/>
              <a:ea typeface="Calibri"/>
              <a:cs typeface="Calibri"/>
              <a:sym typeface="Calibri"/>
            </a:endParaRPr>
          </a:p>
        </p:txBody>
      </p:sp>
      <p:pic>
        <p:nvPicPr>
          <p:cNvPr descr="preencoded.png" id="173" name="Google Shape;173;p4"/>
          <p:cNvPicPr preferRelativeResize="0"/>
          <p:nvPr/>
        </p:nvPicPr>
        <p:blipFill rotWithShape="1">
          <a:blip r:embed="rId14">
            <a:alphaModFix/>
          </a:blip>
          <a:srcRect b="0" l="-106" r="-107" t="0"/>
          <a:stretch/>
        </p:blipFill>
        <p:spPr>
          <a:xfrm>
            <a:off x="7017106" y="5377586"/>
            <a:ext cx="267005" cy="304495"/>
          </a:xfrm>
          <a:prstGeom prst="rect">
            <a:avLst/>
          </a:prstGeom>
          <a:noFill/>
          <a:ln>
            <a:noFill/>
          </a:ln>
        </p:spPr>
      </p:pic>
      <p:sp>
        <p:nvSpPr>
          <p:cNvPr id="174" name="Google Shape;174;p4"/>
          <p:cNvSpPr txBox="1"/>
          <p:nvPr/>
        </p:nvSpPr>
        <p:spPr>
          <a:xfrm>
            <a:off x="6614770" y="5730545"/>
            <a:ext cx="1176833"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処理時間85%削減</a:t>
            </a:r>
            <a:endParaRPr b="0" i="0" sz="1000" u="none" cap="none" strike="noStrike">
              <a:solidFill>
                <a:schemeClr val="dk1"/>
              </a:solidFill>
              <a:latin typeface="Calibri"/>
              <a:ea typeface="Calibri"/>
              <a:cs typeface="Calibri"/>
              <a:sym typeface="Calibri"/>
            </a:endParaRPr>
          </a:p>
        </p:txBody>
      </p:sp>
      <p:pic>
        <p:nvPicPr>
          <p:cNvPr descr="preencoded.png" id="175" name="Google Shape;175;p4"/>
          <p:cNvPicPr preferRelativeResize="0"/>
          <p:nvPr/>
        </p:nvPicPr>
        <p:blipFill rotWithShape="1">
          <a:blip r:embed="rId15">
            <a:alphaModFix/>
          </a:blip>
          <a:srcRect b="0" l="0" r="0" t="0"/>
          <a:stretch/>
        </p:blipFill>
        <p:spPr>
          <a:xfrm>
            <a:off x="8801100" y="5377586"/>
            <a:ext cx="304495" cy="304495"/>
          </a:xfrm>
          <a:prstGeom prst="rect">
            <a:avLst/>
          </a:prstGeom>
          <a:noFill/>
          <a:ln>
            <a:noFill/>
          </a:ln>
        </p:spPr>
      </p:pic>
      <p:sp>
        <p:nvSpPr>
          <p:cNvPr id="176" name="Google Shape;176;p4"/>
          <p:cNvSpPr txBox="1"/>
          <p:nvPr/>
        </p:nvSpPr>
        <p:spPr>
          <a:xfrm>
            <a:off x="8620049" y="5730545"/>
            <a:ext cx="767182"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品質均一化</a:t>
            </a:r>
            <a:endParaRPr b="0" i="0" sz="1000" u="none" cap="none" strike="noStrike">
              <a:solidFill>
                <a:schemeClr val="dk1"/>
              </a:solidFill>
              <a:latin typeface="Calibri"/>
              <a:ea typeface="Calibri"/>
              <a:cs typeface="Calibri"/>
              <a:sym typeface="Calibri"/>
            </a:endParaRPr>
          </a:p>
        </p:txBody>
      </p:sp>
      <p:pic>
        <p:nvPicPr>
          <p:cNvPr descr="preencoded.png" id="177" name="Google Shape;177;p4"/>
          <p:cNvPicPr preferRelativeResize="0"/>
          <p:nvPr/>
        </p:nvPicPr>
        <p:blipFill rotWithShape="1">
          <a:blip r:embed="rId16">
            <a:alphaModFix/>
          </a:blip>
          <a:srcRect b="0" l="-106" r="-107" t="0"/>
          <a:stretch/>
        </p:blipFill>
        <p:spPr>
          <a:xfrm>
            <a:off x="10623499" y="5377586"/>
            <a:ext cx="267005" cy="304495"/>
          </a:xfrm>
          <a:prstGeom prst="rect">
            <a:avLst/>
          </a:prstGeom>
          <a:noFill/>
          <a:ln>
            <a:noFill/>
          </a:ln>
        </p:spPr>
      </p:pic>
      <p:sp>
        <p:nvSpPr>
          <p:cNvPr id="178" name="Google Shape;178;p4"/>
          <p:cNvSpPr txBox="1"/>
          <p:nvPr/>
        </p:nvSpPr>
        <p:spPr>
          <a:xfrm>
            <a:off x="10156241" y="5730545"/>
            <a:ext cx="1300277"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人材活用価値創造へ</a:t>
            </a:r>
            <a:endParaRPr b="0" i="0" sz="1000" u="none" cap="none" strike="noStrike">
              <a:solidFill>
                <a:schemeClr val="dk1"/>
              </a:solidFill>
              <a:latin typeface="Calibri"/>
              <a:ea typeface="Calibri"/>
              <a:cs typeface="Calibri"/>
              <a:sym typeface="Calibri"/>
            </a:endParaRPr>
          </a:p>
        </p:txBody>
      </p:sp>
      <p:sp>
        <p:nvSpPr>
          <p:cNvPr id="179" name="Google Shape;179;p4"/>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4</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5"/>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p:nvPr/>
        </p:nvSpPr>
        <p:spPr>
          <a:xfrm>
            <a:off x="9810600" y="-2"/>
            <a:ext cx="2381100" cy="19047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952800" y="5429702"/>
            <a:ext cx="1904700" cy="13671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txBox="1"/>
          <p:nvPr/>
        </p:nvSpPr>
        <p:spPr>
          <a:xfrm>
            <a:off x="381305" y="737006"/>
            <a:ext cx="5229454"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2700"/>
              <a:buFont typeface="Noto Sans JP"/>
              <a:buNone/>
            </a:pPr>
            <a:r>
              <a:rPr b="1" i="0" lang="en-US" sz="2700" u="none" cap="none" strike="noStrike">
                <a:solidFill>
                  <a:srgbClr val="0A2463"/>
                </a:solidFill>
                <a:latin typeface="Noto Sans JP"/>
                <a:ea typeface="Noto Sans JP"/>
                <a:cs typeface="Noto Sans JP"/>
                <a:sym typeface="Noto Sans JP"/>
              </a:rPr>
              <a:t>人間 vs AI（作業視点での比較）</a:t>
            </a:r>
            <a:endParaRPr b="0" i="0" sz="2700" u="none" cap="none" strike="noStrike">
              <a:solidFill>
                <a:schemeClr val="dk1"/>
              </a:solidFill>
              <a:latin typeface="Calibri"/>
              <a:ea typeface="Calibri"/>
              <a:cs typeface="Calibri"/>
              <a:sym typeface="Calibri"/>
            </a:endParaRPr>
          </a:p>
        </p:txBody>
      </p:sp>
      <p:sp>
        <p:nvSpPr>
          <p:cNvPr id="189" name="Google Shape;189;p5"/>
          <p:cNvSpPr/>
          <p:nvPr/>
        </p:nvSpPr>
        <p:spPr>
          <a:xfrm>
            <a:off x="381305" y="1310335"/>
            <a:ext cx="571500" cy="384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txBox="1"/>
          <p:nvPr/>
        </p:nvSpPr>
        <p:spPr>
          <a:xfrm>
            <a:off x="381305" y="1577340"/>
            <a:ext cx="545805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比較の観点： 業務における人間とAIの特性を多角的に比較することで、適材適所の配置が実現できます</a:t>
            </a:r>
            <a:endParaRPr b="0" i="0" sz="1200" u="none" cap="none" strike="noStrike">
              <a:solidFill>
                <a:schemeClr val="dk1"/>
              </a:solidFill>
              <a:latin typeface="Calibri"/>
              <a:ea typeface="Calibri"/>
              <a:cs typeface="Calibri"/>
              <a:sym typeface="Calibri"/>
            </a:endParaRPr>
          </a:p>
        </p:txBody>
      </p:sp>
      <p:sp>
        <p:nvSpPr>
          <p:cNvPr id="191" name="Google Shape;191;p5"/>
          <p:cNvSpPr txBox="1"/>
          <p:nvPr/>
        </p:nvSpPr>
        <p:spPr>
          <a:xfrm>
            <a:off x="381305" y="2187245"/>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主な差異：</a:t>
            </a:r>
            <a:endParaRPr b="0" i="0" sz="1200" u="none" cap="none" strike="noStrike">
              <a:solidFill>
                <a:schemeClr val="dk1"/>
              </a:solidFill>
              <a:latin typeface="Calibri"/>
              <a:ea typeface="Calibri"/>
              <a:cs typeface="Calibri"/>
              <a:sym typeface="Calibri"/>
            </a:endParaRPr>
          </a:p>
        </p:txBody>
      </p:sp>
      <p:sp>
        <p:nvSpPr>
          <p:cNvPr id="192" name="Google Shape;192;p5"/>
          <p:cNvSpPr txBox="1"/>
          <p:nvPr/>
        </p:nvSpPr>
        <p:spPr>
          <a:xfrm>
            <a:off x="609905" y="2567635"/>
            <a:ext cx="28575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AIは24時間稼働で一定品質を維持できる</a:t>
            </a:r>
            <a:endParaRPr b="0" i="0" sz="1200" u="none" cap="none" strike="noStrike">
              <a:solidFill>
                <a:schemeClr val="dk1"/>
              </a:solidFill>
              <a:latin typeface="Calibri"/>
              <a:ea typeface="Calibri"/>
              <a:cs typeface="Calibri"/>
              <a:sym typeface="Calibri"/>
            </a:endParaRPr>
          </a:p>
        </p:txBody>
      </p:sp>
      <p:sp>
        <p:nvSpPr>
          <p:cNvPr id="193" name="Google Shape;193;p5"/>
          <p:cNvSpPr txBox="1"/>
          <p:nvPr/>
        </p:nvSpPr>
        <p:spPr>
          <a:xfrm>
            <a:off x="609905" y="2873045"/>
            <a:ext cx="30102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人間は判断の柔軟性と創造性に優れている</a:t>
            </a:r>
            <a:endParaRPr b="0" i="0" sz="1200" u="none" cap="none" strike="noStrike">
              <a:solidFill>
                <a:schemeClr val="dk1"/>
              </a:solidFill>
              <a:latin typeface="Calibri"/>
              <a:ea typeface="Calibri"/>
              <a:cs typeface="Calibri"/>
              <a:sym typeface="Calibri"/>
            </a:endParaRPr>
          </a:p>
        </p:txBody>
      </p:sp>
      <p:sp>
        <p:nvSpPr>
          <p:cNvPr id="194" name="Google Shape;194;p5"/>
          <p:cNvSpPr txBox="1"/>
          <p:nvPr/>
        </p:nvSpPr>
        <p:spPr>
          <a:xfrm>
            <a:off x="609905" y="3177540"/>
            <a:ext cx="22384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AIは定型作業の大量処理に最適</a:t>
            </a:r>
            <a:endParaRPr b="0" i="0" sz="1200" u="none" cap="none" strike="noStrike">
              <a:solidFill>
                <a:schemeClr val="dk1"/>
              </a:solidFill>
              <a:latin typeface="Calibri"/>
              <a:ea typeface="Calibri"/>
              <a:cs typeface="Calibri"/>
              <a:sym typeface="Calibri"/>
            </a:endParaRPr>
          </a:p>
        </p:txBody>
      </p:sp>
      <p:sp>
        <p:nvSpPr>
          <p:cNvPr id="195" name="Google Shape;195;p5"/>
          <p:cNvSpPr txBox="1"/>
          <p:nvPr/>
        </p:nvSpPr>
        <p:spPr>
          <a:xfrm>
            <a:off x="609905" y="3482035"/>
            <a:ext cx="362011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人間は例外対応や感情を伴う顧客対応に適している</a:t>
            </a:r>
            <a:endParaRPr b="0" i="0" sz="1200" u="none" cap="none" strike="noStrike">
              <a:solidFill>
                <a:schemeClr val="dk1"/>
              </a:solidFill>
              <a:latin typeface="Calibri"/>
              <a:ea typeface="Calibri"/>
              <a:cs typeface="Calibri"/>
              <a:sym typeface="Calibri"/>
            </a:endParaRPr>
          </a:p>
        </p:txBody>
      </p:sp>
      <p:sp>
        <p:nvSpPr>
          <p:cNvPr id="196" name="Google Shape;196;p5"/>
          <p:cNvSpPr txBox="1"/>
          <p:nvPr/>
        </p:nvSpPr>
        <p:spPr>
          <a:xfrm>
            <a:off x="381305" y="3863340"/>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理想の姿：</a:t>
            </a:r>
            <a:endParaRPr b="0" i="0" sz="1200" u="none" cap="none" strike="noStrike">
              <a:solidFill>
                <a:schemeClr val="dk1"/>
              </a:solidFill>
              <a:latin typeface="Calibri"/>
              <a:ea typeface="Calibri"/>
              <a:cs typeface="Calibri"/>
              <a:sym typeface="Calibri"/>
            </a:endParaRPr>
          </a:p>
        </p:txBody>
      </p:sp>
      <p:sp>
        <p:nvSpPr>
          <p:cNvPr id="197" name="Google Shape;197;p5"/>
          <p:cNvSpPr txBox="1"/>
          <p:nvPr/>
        </p:nvSpPr>
        <p:spPr>
          <a:xfrm>
            <a:off x="609905" y="4244645"/>
            <a:ext cx="31528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AIが定型作業を担い、人間が価値創出に集中</a:t>
            </a:r>
            <a:endParaRPr b="0" i="0" sz="1200" u="none" cap="none" strike="noStrike">
              <a:solidFill>
                <a:schemeClr val="dk1"/>
              </a:solidFill>
              <a:latin typeface="Calibri"/>
              <a:ea typeface="Calibri"/>
              <a:cs typeface="Calibri"/>
              <a:sym typeface="Calibri"/>
            </a:endParaRPr>
          </a:p>
        </p:txBody>
      </p:sp>
      <p:sp>
        <p:nvSpPr>
          <p:cNvPr id="198" name="Google Shape;198;p5"/>
          <p:cNvSpPr txBox="1"/>
          <p:nvPr/>
        </p:nvSpPr>
        <p:spPr>
          <a:xfrm>
            <a:off x="609905" y="4549140"/>
            <a:ext cx="28483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AIのデータ分析力と人間の判断力の融合</a:t>
            </a:r>
            <a:endParaRPr b="0" i="0" sz="1200" u="none" cap="none" strike="noStrike">
              <a:solidFill>
                <a:schemeClr val="dk1"/>
              </a:solidFill>
              <a:latin typeface="Calibri"/>
              <a:ea typeface="Calibri"/>
              <a:cs typeface="Calibri"/>
              <a:sym typeface="Calibri"/>
            </a:endParaRPr>
          </a:p>
        </p:txBody>
      </p:sp>
      <p:sp>
        <p:nvSpPr>
          <p:cNvPr id="199" name="Google Shape;199;p5"/>
          <p:cNvSpPr txBox="1"/>
          <p:nvPr/>
        </p:nvSpPr>
        <p:spPr>
          <a:xfrm>
            <a:off x="609905" y="4853635"/>
            <a:ext cx="253380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人間がAIをツールとして適切に活用</a:t>
            </a:r>
            <a:endParaRPr b="0" i="0" sz="1200" u="none" cap="none" strike="noStrike">
              <a:solidFill>
                <a:schemeClr val="dk1"/>
              </a:solidFill>
              <a:latin typeface="Calibri"/>
              <a:ea typeface="Calibri"/>
              <a:cs typeface="Calibri"/>
              <a:sym typeface="Calibri"/>
            </a:endParaRPr>
          </a:p>
        </p:txBody>
      </p:sp>
      <p:sp>
        <p:nvSpPr>
          <p:cNvPr id="200" name="Google Shape;200;p5"/>
          <p:cNvSpPr txBox="1"/>
          <p:nvPr/>
        </p:nvSpPr>
        <p:spPr>
          <a:xfrm>
            <a:off x="609905" y="5159045"/>
            <a:ext cx="21058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業務の質と効率を同時に向上</a:t>
            </a:r>
            <a:endParaRPr b="0" i="0" sz="1200" u="none" cap="none" strike="noStrike">
              <a:solidFill>
                <a:schemeClr val="dk1"/>
              </a:solidFill>
              <a:latin typeface="Calibri"/>
              <a:ea typeface="Calibri"/>
              <a:cs typeface="Calibri"/>
              <a:sym typeface="Calibri"/>
            </a:endParaRPr>
          </a:p>
        </p:txBody>
      </p:sp>
      <p:sp>
        <p:nvSpPr>
          <p:cNvPr id="201" name="Google Shape;201;p5"/>
          <p:cNvSpPr txBox="1"/>
          <p:nvPr/>
        </p:nvSpPr>
        <p:spPr>
          <a:xfrm>
            <a:off x="8153705" y="381305"/>
            <a:ext cx="17721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E92CC"/>
              </a:buClr>
              <a:buSzPts val="1800"/>
              <a:buFont typeface="Noto Sans JP"/>
              <a:buNone/>
            </a:pPr>
            <a:r>
              <a:rPr b="1" i="0" lang="en-US" sz="1800" u="none" cap="none" strike="noStrike">
                <a:solidFill>
                  <a:srgbClr val="3E92CC"/>
                </a:solidFill>
                <a:latin typeface="Noto Sans JP"/>
                <a:ea typeface="Noto Sans JP"/>
                <a:cs typeface="Noto Sans JP"/>
                <a:sym typeface="Noto Sans JP"/>
              </a:rPr>
              <a:t>作業特性比較表</a:t>
            </a:r>
            <a:endParaRPr b="0" i="0" sz="1800" u="none" cap="none" strike="noStrike">
              <a:solidFill>
                <a:schemeClr val="dk1"/>
              </a:solidFill>
              <a:latin typeface="Calibri"/>
              <a:ea typeface="Calibri"/>
              <a:cs typeface="Calibri"/>
              <a:sym typeface="Calibri"/>
            </a:endParaRPr>
          </a:p>
        </p:txBody>
      </p:sp>
      <p:sp>
        <p:nvSpPr>
          <p:cNvPr id="202" name="Google Shape;202;p5"/>
          <p:cNvSpPr/>
          <p:nvPr/>
        </p:nvSpPr>
        <p:spPr>
          <a:xfrm>
            <a:off x="6100877" y="881482"/>
            <a:ext cx="1143000" cy="466344"/>
          </a:xfrm>
          <a:prstGeom prst="rect">
            <a:avLst/>
          </a:prstGeom>
          <a:solidFill>
            <a:srgbClr val="3E92CC">
              <a:alpha val="20000"/>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txBox="1"/>
          <p:nvPr/>
        </p:nvSpPr>
        <p:spPr>
          <a:xfrm>
            <a:off x="6518758" y="1000354"/>
            <a:ext cx="428854"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観点</a:t>
            </a:r>
            <a:endParaRPr b="0" i="0" sz="1200" u="none" cap="none" strike="noStrike">
              <a:solidFill>
                <a:schemeClr val="dk1"/>
              </a:solidFill>
              <a:latin typeface="Calibri"/>
              <a:ea typeface="Calibri"/>
              <a:cs typeface="Calibri"/>
              <a:sym typeface="Calibri"/>
            </a:endParaRPr>
          </a:p>
        </p:txBody>
      </p:sp>
      <p:sp>
        <p:nvSpPr>
          <p:cNvPr id="204" name="Google Shape;204;p5"/>
          <p:cNvSpPr/>
          <p:nvPr/>
        </p:nvSpPr>
        <p:spPr>
          <a:xfrm>
            <a:off x="7242048" y="881482"/>
            <a:ext cx="2286000" cy="466344"/>
          </a:xfrm>
          <a:prstGeom prst="rect">
            <a:avLst/>
          </a:prstGeom>
          <a:solidFill>
            <a:srgbClr val="3E92CC">
              <a:alpha val="20000"/>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5"/>
          <p:cNvSpPr txBox="1"/>
          <p:nvPr/>
        </p:nvSpPr>
        <p:spPr>
          <a:xfrm>
            <a:off x="7696505" y="1000354"/>
            <a:ext cx="149595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人間が作業した場合</a:t>
            </a:r>
            <a:endParaRPr b="0" i="0" sz="1200" u="none" cap="none" strike="noStrike">
              <a:solidFill>
                <a:schemeClr val="dk1"/>
              </a:solidFill>
              <a:latin typeface="Calibri"/>
              <a:ea typeface="Calibri"/>
              <a:cs typeface="Calibri"/>
              <a:sym typeface="Calibri"/>
            </a:endParaRPr>
          </a:p>
        </p:txBody>
      </p:sp>
      <p:sp>
        <p:nvSpPr>
          <p:cNvPr id="206" name="Google Shape;206;p5"/>
          <p:cNvSpPr/>
          <p:nvPr/>
        </p:nvSpPr>
        <p:spPr>
          <a:xfrm>
            <a:off x="9524390" y="881482"/>
            <a:ext cx="2286000" cy="466344"/>
          </a:xfrm>
          <a:prstGeom prst="rect">
            <a:avLst/>
          </a:prstGeom>
          <a:solidFill>
            <a:srgbClr val="3E92CC">
              <a:alpha val="20000"/>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5"/>
          <p:cNvSpPr txBox="1"/>
          <p:nvPr/>
        </p:nvSpPr>
        <p:spPr>
          <a:xfrm>
            <a:off x="10057486" y="1000354"/>
            <a:ext cx="133411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AIが作業した場合</a:t>
            </a:r>
            <a:endParaRPr b="0" i="0" sz="1200" u="none" cap="none" strike="noStrike">
              <a:solidFill>
                <a:schemeClr val="dk1"/>
              </a:solidFill>
              <a:latin typeface="Calibri"/>
              <a:ea typeface="Calibri"/>
              <a:cs typeface="Calibri"/>
              <a:sym typeface="Calibri"/>
            </a:endParaRPr>
          </a:p>
        </p:txBody>
      </p:sp>
      <p:sp>
        <p:nvSpPr>
          <p:cNvPr id="208" name="Google Shape;208;p5"/>
          <p:cNvSpPr/>
          <p:nvPr/>
        </p:nvSpPr>
        <p:spPr>
          <a:xfrm>
            <a:off x="6100877" y="1347826"/>
            <a:ext cx="1143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txBox="1"/>
          <p:nvPr/>
        </p:nvSpPr>
        <p:spPr>
          <a:xfrm>
            <a:off x="6219749" y="1580998"/>
            <a:ext cx="7342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1" i="0" lang="en-US" sz="1200" u="none" cap="none" strike="noStrike">
                <a:solidFill>
                  <a:srgbClr val="1E5091"/>
                </a:solidFill>
                <a:latin typeface="Noto Sans JP"/>
                <a:ea typeface="Noto Sans JP"/>
                <a:cs typeface="Noto Sans JP"/>
                <a:sym typeface="Noto Sans JP"/>
              </a:rPr>
              <a:t>スピード</a:t>
            </a:r>
            <a:endParaRPr b="0" i="0" sz="1200" u="none" cap="none" strike="noStrike">
              <a:solidFill>
                <a:schemeClr val="dk1"/>
              </a:solidFill>
              <a:latin typeface="Calibri"/>
              <a:ea typeface="Calibri"/>
              <a:cs typeface="Calibri"/>
              <a:sym typeface="Calibri"/>
            </a:endParaRPr>
          </a:p>
        </p:txBody>
      </p:sp>
      <p:sp>
        <p:nvSpPr>
          <p:cNvPr id="210" name="Google Shape;210;p5"/>
          <p:cNvSpPr/>
          <p:nvPr/>
        </p:nvSpPr>
        <p:spPr>
          <a:xfrm>
            <a:off x="7242048" y="1347826"/>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5"/>
          <p:cNvSpPr txBox="1"/>
          <p:nvPr/>
        </p:nvSpPr>
        <p:spPr>
          <a:xfrm>
            <a:off x="7360920" y="1466698"/>
            <a:ext cx="1038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担当者に依存</a:t>
            </a:r>
            <a:endParaRPr b="0" i="0" sz="1200" u="none" cap="none" strike="noStrike">
              <a:solidFill>
                <a:schemeClr val="dk1"/>
              </a:solidFill>
              <a:latin typeface="Calibri"/>
              <a:ea typeface="Calibri"/>
              <a:cs typeface="Calibri"/>
              <a:sym typeface="Calibri"/>
            </a:endParaRPr>
          </a:p>
        </p:txBody>
      </p:sp>
      <p:sp>
        <p:nvSpPr>
          <p:cNvPr id="212" name="Google Shape;212;p5"/>
          <p:cNvSpPr txBox="1"/>
          <p:nvPr/>
        </p:nvSpPr>
        <p:spPr>
          <a:xfrm>
            <a:off x="7360920" y="1695298"/>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待ち時間が発生</a:t>
            </a:r>
            <a:endParaRPr b="0" i="0" sz="1200" u="none" cap="none" strike="noStrike">
              <a:solidFill>
                <a:schemeClr val="dk1"/>
              </a:solidFill>
              <a:latin typeface="Calibri"/>
              <a:ea typeface="Calibri"/>
              <a:cs typeface="Calibri"/>
              <a:sym typeface="Calibri"/>
            </a:endParaRPr>
          </a:p>
        </p:txBody>
      </p:sp>
      <p:sp>
        <p:nvSpPr>
          <p:cNvPr id="213" name="Google Shape;213;p5"/>
          <p:cNvSpPr/>
          <p:nvPr/>
        </p:nvSpPr>
        <p:spPr>
          <a:xfrm>
            <a:off x="9524390" y="1347826"/>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
          <p:cNvSpPr txBox="1"/>
          <p:nvPr/>
        </p:nvSpPr>
        <p:spPr>
          <a:xfrm>
            <a:off x="9643262" y="1466698"/>
            <a:ext cx="1200607"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24時間即時処理</a:t>
            </a:r>
            <a:endParaRPr b="0" i="0" sz="1200" u="none" cap="none" strike="noStrike">
              <a:solidFill>
                <a:schemeClr val="dk1"/>
              </a:solidFill>
              <a:latin typeface="Calibri"/>
              <a:ea typeface="Calibri"/>
              <a:cs typeface="Calibri"/>
              <a:sym typeface="Calibri"/>
            </a:endParaRPr>
          </a:p>
        </p:txBody>
      </p:sp>
      <p:sp>
        <p:nvSpPr>
          <p:cNvPr id="215" name="Google Shape;215;p5"/>
          <p:cNvSpPr txBox="1"/>
          <p:nvPr/>
        </p:nvSpPr>
        <p:spPr>
          <a:xfrm>
            <a:off x="9643262" y="1695298"/>
            <a:ext cx="14959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高速で安定した対応</a:t>
            </a:r>
            <a:endParaRPr b="0" i="0" sz="1200" u="none" cap="none" strike="noStrike">
              <a:solidFill>
                <a:schemeClr val="dk1"/>
              </a:solidFill>
              <a:latin typeface="Calibri"/>
              <a:ea typeface="Calibri"/>
              <a:cs typeface="Calibri"/>
              <a:sym typeface="Calibri"/>
            </a:endParaRPr>
          </a:p>
        </p:txBody>
      </p:sp>
      <p:sp>
        <p:nvSpPr>
          <p:cNvPr id="216" name="Google Shape;216;p5"/>
          <p:cNvSpPr/>
          <p:nvPr/>
        </p:nvSpPr>
        <p:spPr>
          <a:xfrm>
            <a:off x="6100877" y="2042770"/>
            <a:ext cx="1143000" cy="9235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txBox="1"/>
          <p:nvPr/>
        </p:nvSpPr>
        <p:spPr>
          <a:xfrm>
            <a:off x="6219749" y="2391156"/>
            <a:ext cx="5815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1" i="0" lang="en-US" sz="1200" u="none" cap="none" strike="noStrike">
                <a:solidFill>
                  <a:srgbClr val="1E5091"/>
                </a:solidFill>
                <a:latin typeface="Noto Sans JP"/>
                <a:ea typeface="Noto Sans JP"/>
                <a:cs typeface="Noto Sans JP"/>
                <a:sym typeface="Noto Sans JP"/>
              </a:rPr>
              <a:t>正確性</a:t>
            </a:r>
            <a:endParaRPr b="0" i="0" sz="1200" u="none" cap="none" strike="noStrike">
              <a:solidFill>
                <a:schemeClr val="dk1"/>
              </a:solidFill>
              <a:latin typeface="Calibri"/>
              <a:ea typeface="Calibri"/>
              <a:cs typeface="Calibri"/>
              <a:sym typeface="Calibri"/>
            </a:endParaRPr>
          </a:p>
        </p:txBody>
      </p:sp>
      <p:sp>
        <p:nvSpPr>
          <p:cNvPr id="218" name="Google Shape;218;p5"/>
          <p:cNvSpPr/>
          <p:nvPr/>
        </p:nvSpPr>
        <p:spPr>
          <a:xfrm>
            <a:off x="7242048" y="2042770"/>
            <a:ext cx="2286000" cy="9235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txBox="1"/>
          <p:nvPr/>
        </p:nvSpPr>
        <p:spPr>
          <a:xfrm>
            <a:off x="7360920" y="2162556"/>
            <a:ext cx="2105863"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ヒューマンエラーが避けられない</a:t>
            </a:r>
            <a:endParaRPr b="0" i="0" sz="1200" u="none" cap="none" strike="noStrike">
              <a:solidFill>
                <a:schemeClr val="dk1"/>
              </a:solidFill>
              <a:latin typeface="Calibri"/>
              <a:ea typeface="Calibri"/>
              <a:cs typeface="Calibri"/>
              <a:sym typeface="Calibri"/>
            </a:endParaRPr>
          </a:p>
        </p:txBody>
      </p:sp>
      <p:sp>
        <p:nvSpPr>
          <p:cNvPr id="220" name="Google Shape;220;p5"/>
          <p:cNvSpPr txBox="1"/>
          <p:nvPr/>
        </p:nvSpPr>
        <p:spPr>
          <a:xfrm>
            <a:off x="7360920" y="2619756"/>
            <a:ext cx="21058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疲労や集中力低下で精度変動</a:t>
            </a:r>
            <a:endParaRPr b="0" i="0" sz="1200" u="none" cap="none" strike="noStrike">
              <a:solidFill>
                <a:schemeClr val="dk1"/>
              </a:solidFill>
              <a:latin typeface="Calibri"/>
              <a:ea typeface="Calibri"/>
              <a:cs typeface="Calibri"/>
              <a:sym typeface="Calibri"/>
            </a:endParaRPr>
          </a:p>
        </p:txBody>
      </p:sp>
      <p:sp>
        <p:nvSpPr>
          <p:cNvPr id="221" name="Google Shape;221;p5"/>
          <p:cNvSpPr/>
          <p:nvPr/>
        </p:nvSpPr>
        <p:spPr>
          <a:xfrm>
            <a:off x="9524390" y="2042770"/>
            <a:ext cx="2286000" cy="9235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5"/>
          <p:cNvSpPr txBox="1"/>
          <p:nvPr/>
        </p:nvSpPr>
        <p:spPr>
          <a:xfrm>
            <a:off x="9643262" y="2276856"/>
            <a:ext cx="14959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一定精度で安定処理</a:t>
            </a:r>
            <a:endParaRPr b="0" i="0" sz="1200" u="none" cap="none" strike="noStrike">
              <a:solidFill>
                <a:schemeClr val="dk1"/>
              </a:solidFill>
              <a:latin typeface="Calibri"/>
              <a:ea typeface="Calibri"/>
              <a:cs typeface="Calibri"/>
              <a:sym typeface="Calibri"/>
            </a:endParaRPr>
          </a:p>
        </p:txBody>
      </p:sp>
      <p:sp>
        <p:nvSpPr>
          <p:cNvPr id="223" name="Google Shape;223;p5"/>
          <p:cNvSpPr txBox="1"/>
          <p:nvPr/>
        </p:nvSpPr>
        <p:spPr>
          <a:xfrm>
            <a:off x="9643262" y="2505456"/>
            <a:ext cx="1648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ルールに基づく一貫性</a:t>
            </a:r>
            <a:endParaRPr b="0" i="0" sz="1200" u="none" cap="none" strike="noStrike">
              <a:solidFill>
                <a:schemeClr val="dk1"/>
              </a:solidFill>
              <a:latin typeface="Calibri"/>
              <a:ea typeface="Calibri"/>
              <a:cs typeface="Calibri"/>
              <a:sym typeface="Calibri"/>
            </a:endParaRPr>
          </a:p>
        </p:txBody>
      </p:sp>
      <p:sp>
        <p:nvSpPr>
          <p:cNvPr id="224" name="Google Shape;224;p5"/>
          <p:cNvSpPr/>
          <p:nvPr/>
        </p:nvSpPr>
        <p:spPr>
          <a:xfrm>
            <a:off x="6100877" y="2967228"/>
            <a:ext cx="1143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5"/>
          <p:cNvSpPr txBox="1"/>
          <p:nvPr/>
        </p:nvSpPr>
        <p:spPr>
          <a:xfrm>
            <a:off x="6219749" y="3200400"/>
            <a:ext cx="5815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1" i="0" lang="en-US" sz="1200" u="none" cap="none" strike="noStrike">
                <a:solidFill>
                  <a:srgbClr val="1E5091"/>
                </a:solidFill>
                <a:latin typeface="Noto Sans JP"/>
                <a:ea typeface="Noto Sans JP"/>
                <a:cs typeface="Noto Sans JP"/>
                <a:sym typeface="Noto Sans JP"/>
              </a:rPr>
              <a:t>コスト</a:t>
            </a:r>
            <a:endParaRPr b="0" i="0" sz="1200" u="none" cap="none" strike="noStrike">
              <a:solidFill>
                <a:schemeClr val="dk1"/>
              </a:solidFill>
              <a:latin typeface="Calibri"/>
              <a:ea typeface="Calibri"/>
              <a:cs typeface="Calibri"/>
              <a:sym typeface="Calibri"/>
            </a:endParaRPr>
          </a:p>
        </p:txBody>
      </p:sp>
      <p:sp>
        <p:nvSpPr>
          <p:cNvPr id="226" name="Google Shape;226;p5"/>
          <p:cNvSpPr/>
          <p:nvPr/>
        </p:nvSpPr>
        <p:spPr>
          <a:xfrm>
            <a:off x="7242048" y="2967228"/>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txBox="1"/>
          <p:nvPr/>
        </p:nvSpPr>
        <p:spPr>
          <a:xfrm>
            <a:off x="7360920" y="3086100"/>
            <a:ext cx="21058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工数・人件費が比例的に上昇</a:t>
            </a:r>
            <a:endParaRPr b="0" i="0" sz="1200" u="none" cap="none" strike="noStrike">
              <a:solidFill>
                <a:schemeClr val="dk1"/>
              </a:solidFill>
              <a:latin typeface="Calibri"/>
              <a:ea typeface="Calibri"/>
              <a:cs typeface="Calibri"/>
              <a:sym typeface="Calibri"/>
            </a:endParaRPr>
          </a:p>
        </p:txBody>
      </p:sp>
      <p:sp>
        <p:nvSpPr>
          <p:cNvPr id="228" name="Google Shape;228;p5"/>
          <p:cNvSpPr txBox="1"/>
          <p:nvPr/>
        </p:nvSpPr>
        <p:spPr>
          <a:xfrm>
            <a:off x="7360920" y="3314700"/>
            <a:ext cx="1648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業務量増加でコスト増</a:t>
            </a:r>
            <a:endParaRPr b="0" i="0" sz="1200" u="none" cap="none" strike="noStrike">
              <a:solidFill>
                <a:schemeClr val="dk1"/>
              </a:solidFill>
              <a:latin typeface="Calibri"/>
              <a:ea typeface="Calibri"/>
              <a:cs typeface="Calibri"/>
              <a:sym typeface="Calibri"/>
            </a:endParaRPr>
          </a:p>
        </p:txBody>
      </p:sp>
      <p:sp>
        <p:nvSpPr>
          <p:cNvPr id="229" name="Google Shape;229;p5"/>
          <p:cNvSpPr/>
          <p:nvPr/>
        </p:nvSpPr>
        <p:spPr>
          <a:xfrm>
            <a:off x="9524390" y="2967228"/>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5"/>
          <p:cNvSpPr txBox="1"/>
          <p:nvPr/>
        </p:nvSpPr>
        <p:spPr>
          <a:xfrm>
            <a:off x="9643262" y="3086100"/>
            <a:ext cx="19531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一定コストでスケール可能</a:t>
            </a:r>
            <a:endParaRPr b="0" i="0" sz="1200" u="none" cap="none" strike="noStrike">
              <a:solidFill>
                <a:schemeClr val="dk1"/>
              </a:solidFill>
              <a:latin typeface="Calibri"/>
              <a:ea typeface="Calibri"/>
              <a:cs typeface="Calibri"/>
              <a:sym typeface="Calibri"/>
            </a:endParaRPr>
          </a:p>
        </p:txBody>
      </p:sp>
      <p:sp>
        <p:nvSpPr>
          <p:cNvPr id="231" name="Google Shape;231;p5"/>
          <p:cNvSpPr txBox="1"/>
          <p:nvPr/>
        </p:nvSpPr>
        <p:spPr>
          <a:xfrm>
            <a:off x="9643262" y="3314700"/>
            <a:ext cx="1648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処理量増加に対応可能</a:t>
            </a:r>
            <a:endParaRPr b="0" i="0" sz="1200" u="none" cap="none" strike="noStrike">
              <a:solidFill>
                <a:schemeClr val="dk1"/>
              </a:solidFill>
              <a:latin typeface="Calibri"/>
              <a:ea typeface="Calibri"/>
              <a:cs typeface="Calibri"/>
              <a:sym typeface="Calibri"/>
            </a:endParaRPr>
          </a:p>
        </p:txBody>
      </p:sp>
      <p:sp>
        <p:nvSpPr>
          <p:cNvPr id="232" name="Google Shape;232;p5"/>
          <p:cNvSpPr/>
          <p:nvPr/>
        </p:nvSpPr>
        <p:spPr>
          <a:xfrm>
            <a:off x="6100877" y="3662172"/>
            <a:ext cx="1143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txBox="1"/>
          <p:nvPr/>
        </p:nvSpPr>
        <p:spPr>
          <a:xfrm>
            <a:off x="6219749" y="3895344"/>
            <a:ext cx="4288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1" i="0" lang="en-US" sz="1200" u="none" cap="none" strike="noStrike">
                <a:solidFill>
                  <a:srgbClr val="1E5091"/>
                </a:solidFill>
                <a:latin typeface="Noto Sans JP"/>
                <a:ea typeface="Noto Sans JP"/>
                <a:cs typeface="Noto Sans JP"/>
                <a:sym typeface="Noto Sans JP"/>
              </a:rPr>
              <a:t>品質</a:t>
            </a:r>
            <a:endParaRPr b="0" i="0" sz="1200" u="none" cap="none" strike="noStrike">
              <a:solidFill>
                <a:schemeClr val="dk1"/>
              </a:solidFill>
              <a:latin typeface="Calibri"/>
              <a:ea typeface="Calibri"/>
              <a:cs typeface="Calibri"/>
              <a:sym typeface="Calibri"/>
            </a:endParaRPr>
          </a:p>
        </p:txBody>
      </p:sp>
      <p:sp>
        <p:nvSpPr>
          <p:cNvPr id="234" name="Google Shape;234;p5"/>
          <p:cNvSpPr/>
          <p:nvPr/>
        </p:nvSpPr>
        <p:spPr>
          <a:xfrm>
            <a:off x="7242048" y="3662172"/>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5"/>
          <p:cNvSpPr txBox="1"/>
          <p:nvPr/>
        </p:nvSpPr>
        <p:spPr>
          <a:xfrm>
            <a:off x="7360920" y="3781044"/>
            <a:ext cx="14959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経験値に依存し変動</a:t>
            </a:r>
            <a:endParaRPr b="0" i="0" sz="1200" u="none" cap="none" strike="noStrike">
              <a:solidFill>
                <a:schemeClr val="dk1"/>
              </a:solidFill>
              <a:latin typeface="Calibri"/>
              <a:ea typeface="Calibri"/>
              <a:cs typeface="Calibri"/>
              <a:sym typeface="Calibri"/>
            </a:endParaRPr>
          </a:p>
        </p:txBody>
      </p:sp>
      <p:sp>
        <p:nvSpPr>
          <p:cNvPr id="236" name="Google Shape;236;p5"/>
          <p:cNvSpPr txBox="1"/>
          <p:nvPr/>
        </p:nvSpPr>
        <p:spPr>
          <a:xfrm>
            <a:off x="7360920" y="4009644"/>
            <a:ext cx="16386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担当者によるバラつき</a:t>
            </a:r>
            <a:endParaRPr b="0" i="0" sz="1200" u="none" cap="none" strike="noStrike">
              <a:solidFill>
                <a:schemeClr val="dk1"/>
              </a:solidFill>
              <a:latin typeface="Calibri"/>
              <a:ea typeface="Calibri"/>
              <a:cs typeface="Calibri"/>
              <a:sym typeface="Calibri"/>
            </a:endParaRPr>
          </a:p>
        </p:txBody>
      </p:sp>
      <p:sp>
        <p:nvSpPr>
          <p:cNvPr id="237" name="Google Shape;237;p5"/>
          <p:cNvSpPr/>
          <p:nvPr/>
        </p:nvSpPr>
        <p:spPr>
          <a:xfrm>
            <a:off x="9524390" y="3662172"/>
            <a:ext cx="22860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5"/>
          <p:cNvSpPr txBox="1"/>
          <p:nvPr/>
        </p:nvSpPr>
        <p:spPr>
          <a:xfrm>
            <a:off x="9643262" y="3781044"/>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常に均一な品質</a:t>
            </a:r>
            <a:endParaRPr b="0" i="0" sz="1200" u="none" cap="none" strike="noStrike">
              <a:solidFill>
                <a:schemeClr val="dk1"/>
              </a:solidFill>
              <a:latin typeface="Calibri"/>
              <a:ea typeface="Calibri"/>
              <a:cs typeface="Calibri"/>
              <a:sym typeface="Calibri"/>
            </a:endParaRPr>
          </a:p>
        </p:txBody>
      </p:sp>
      <p:sp>
        <p:nvSpPr>
          <p:cNvPr id="239" name="Google Shape;239;p5"/>
          <p:cNvSpPr txBox="1"/>
          <p:nvPr/>
        </p:nvSpPr>
        <p:spPr>
          <a:xfrm>
            <a:off x="9643262" y="4009644"/>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スキル差がない</a:t>
            </a:r>
            <a:endParaRPr b="0" i="0" sz="1200" u="none" cap="none" strike="noStrike">
              <a:solidFill>
                <a:schemeClr val="dk1"/>
              </a:solidFill>
              <a:latin typeface="Calibri"/>
              <a:ea typeface="Calibri"/>
              <a:cs typeface="Calibri"/>
              <a:sym typeface="Calibri"/>
            </a:endParaRPr>
          </a:p>
        </p:txBody>
      </p:sp>
      <p:sp>
        <p:nvSpPr>
          <p:cNvPr id="240" name="Google Shape;240;p5"/>
          <p:cNvSpPr/>
          <p:nvPr/>
        </p:nvSpPr>
        <p:spPr>
          <a:xfrm>
            <a:off x="6096305" y="4895698"/>
            <a:ext cx="5715000" cy="895198"/>
          </a:xfrm>
          <a:prstGeom prst="rect">
            <a:avLst/>
          </a:prstGeom>
          <a:solidFill>
            <a:srgbClr val="3E92CC">
              <a:alpha val="9803"/>
            </a:srgbClr>
          </a:solidFill>
          <a:ln cap="flat" cmpd="sng" w="12700">
            <a:solidFill>
              <a:srgbClr val="3E9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5"/>
          <p:cNvSpPr txBox="1"/>
          <p:nvPr/>
        </p:nvSpPr>
        <p:spPr>
          <a:xfrm>
            <a:off x="6278270" y="5057546"/>
            <a:ext cx="5496458" cy="5623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500"/>
              <a:buFont typeface="Noto Sans JP"/>
              <a:buNone/>
            </a:pPr>
            <a:r>
              <a:rPr b="1" i="0" lang="en-US" sz="1500" u="none" cap="none" strike="noStrike">
                <a:solidFill>
                  <a:srgbClr val="0A2463"/>
                </a:solidFill>
                <a:latin typeface="Noto Sans JP"/>
                <a:ea typeface="Noto Sans JP"/>
                <a:cs typeface="Noto Sans JP"/>
                <a:sym typeface="Noto Sans JP"/>
              </a:rPr>
              <a:t>AI導入で、スピード・精度・コストの"トリプル最適化"が実現します</a:t>
            </a:r>
            <a:endParaRPr b="0" i="0" sz="1500" u="none" cap="none" strike="noStrike">
              <a:solidFill>
                <a:schemeClr val="dk1"/>
              </a:solidFill>
              <a:latin typeface="Calibri"/>
              <a:ea typeface="Calibri"/>
              <a:cs typeface="Calibri"/>
              <a:sym typeface="Calibri"/>
            </a:endParaRPr>
          </a:p>
        </p:txBody>
      </p:sp>
      <p:sp>
        <p:nvSpPr>
          <p:cNvPr id="242" name="Google Shape;242;p5"/>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5</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6"/>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6"/>
          <p:cNvSpPr/>
          <p:nvPr/>
        </p:nvSpPr>
        <p:spPr>
          <a:xfrm>
            <a:off x="9810600" y="125"/>
            <a:ext cx="2381100" cy="19047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6"/>
          <p:cNvSpPr/>
          <p:nvPr/>
        </p:nvSpPr>
        <p:spPr>
          <a:xfrm>
            <a:off x="952800" y="5429702"/>
            <a:ext cx="1904700" cy="14283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6"/>
          <p:cNvSpPr txBox="1"/>
          <p:nvPr/>
        </p:nvSpPr>
        <p:spPr>
          <a:xfrm>
            <a:off x="381305" y="333756"/>
            <a:ext cx="5048402"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2700"/>
              <a:buFont typeface="Noto Sans JP"/>
              <a:buNone/>
            </a:pPr>
            <a:r>
              <a:rPr b="1" i="0" lang="en-US" sz="2700" u="none" cap="none" strike="noStrike">
                <a:solidFill>
                  <a:srgbClr val="0052CC"/>
                </a:solidFill>
                <a:latin typeface="Noto Sans JP"/>
                <a:ea typeface="Noto Sans JP"/>
                <a:cs typeface="Noto Sans JP"/>
                <a:sym typeface="Noto Sans JP"/>
              </a:rPr>
              <a:t>導入によるお客様側のメリット</a:t>
            </a:r>
            <a:endParaRPr b="0" i="0" sz="2700" u="none" cap="none" strike="noStrike">
              <a:solidFill>
                <a:schemeClr val="dk1"/>
              </a:solidFill>
              <a:latin typeface="Calibri"/>
              <a:ea typeface="Calibri"/>
              <a:cs typeface="Calibri"/>
              <a:sym typeface="Calibri"/>
            </a:endParaRPr>
          </a:p>
        </p:txBody>
      </p:sp>
      <p:sp>
        <p:nvSpPr>
          <p:cNvPr id="252" name="Google Shape;252;p6"/>
          <p:cNvSpPr/>
          <p:nvPr/>
        </p:nvSpPr>
        <p:spPr>
          <a:xfrm>
            <a:off x="381305" y="907085"/>
            <a:ext cx="571500" cy="384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6"/>
          <p:cNvSpPr/>
          <p:nvPr/>
        </p:nvSpPr>
        <p:spPr>
          <a:xfrm>
            <a:off x="381305" y="1173175"/>
            <a:ext cx="5410505" cy="6858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6"/>
          <p:cNvSpPr/>
          <p:nvPr/>
        </p:nvSpPr>
        <p:spPr>
          <a:xfrm>
            <a:off x="381305" y="1173175"/>
            <a:ext cx="28346" cy="6858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5" name="Google Shape;255;p6"/>
          <p:cNvPicPr preferRelativeResize="0"/>
          <p:nvPr/>
        </p:nvPicPr>
        <p:blipFill rotWithShape="1">
          <a:blip r:embed="rId3">
            <a:alphaModFix/>
          </a:blip>
          <a:srcRect b="0" l="0" r="0" t="0"/>
          <a:stretch/>
        </p:blipFill>
        <p:spPr>
          <a:xfrm>
            <a:off x="562356" y="1401775"/>
            <a:ext cx="228600" cy="228600"/>
          </a:xfrm>
          <a:prstGeom prst="rect">
            <a:avLst/>
          </a:prstGeom>
          <a:noFill/>
          <a:ln>
            <a:noFill/>
          </a:ln>
        </p:spPr>
      </p:pic>
      <p:sp>
        <p:nvSpPr>
          <p:cNvPr id="256" name="Google Shape;256;p6"/>
          <p:cNvSpPr txBox="1"/>
          <p:nvPr/>
        </p:nvSpPr>
        <p:spPr>
          <a:xfrm>
            <a:off x="942746" y="1287475"/>
            <a:ext cx="7342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納期短縮</a:t>
            </a:r>
            <a:endParaRPr b="0" i="0" sz="1200" u="none" cap="none" strike="noStrike">
              <a:solidFill>
                <a:schemeClr val="dk1"/>
              </a:solidFill>
              <a:latin typeface="Calibri"/>
              <a:ea typeface="Calibri"/>
              <a:cs typeface="Calibri"/>
              <a:sym typeface="Calibri"/>
            </a:endParaRPr>
          </a:p>
        </p:txBody>
      </p:sp>
      <p:sp>
        <p:nvSpPr>
          <p:cNvPr id="257" name="Google Shape;257;p6"/>
          <p:cNvSpPr txBox="1"/>
          <p:nvPr/>
        </p:nvSpPr>
        <p:spPr>
          <a:xfrm>
            <a:off x="942746" y="1516075"/>
            <a:ext cx="2115007"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24時間稼働でレスポンス向上</a:t>
            </a:r>
            <a:endParaRPr b="0" i="0" sz="1200" u="none" cap="none" strike="noStrike">
              <a:solidFill>
                <a:schemeClr val="dk1"/>
              </a:solidFill>
              <a:latin typeface="Calibri"/>
              <a:ea typeface="Calibri"/>
              <a:cs typeface="Calibri"/>
              <a:sym typeface="Calibri"/>
            </a:endParaRPr>
          </a:p>
        </p:txBody>
      </p:sp>
      <p:sp>
        <p:nvSpPr>
          <p:cNvPr id="258" name="Google Shape;258;p6"/>
          <p:cNvSpPr/>
          <p:nvPr/>
        </p:nvSpPr>
        <p:spPr>
          <a:xfrm>
            <a:off x="381305" y="2011680"/>
            <a:ext cx="5410505" cy="6858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6"/>
          <p:cNvSpPr/>
          <p:nvPr/>
        </p:nvSpPr>
        <p:spPr>
          <a:xfrm>
            <a:off x="381305" y="2011680"/>
            <a:ext cx="28346" cy="6858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0" name="Google Shape;260;p6"/>
          <p:cNvPicPr preferRelativeResize="0"/>
          <p:nvPr/>
        </p:nvPicPr>
        <p:blipFill rotWithShape="1">
          <a:blip r:embed="rId4">
            <a:alphaModFix/>
          </a:blip>
          <a:srcRect b="0" l="0" r="0" t="0"/>
          <a:stretch/>
        </p:blipFill>
        <p:spPr>
          <a:xfrm>
            <a:off x="562356" y="2240280"/>
            <a:ext cx="228600" cy="228600"/>
          </a:xfrm>
          <a:prstGeom prst="rect">
            <a:avLst/>
          </a:prstGeom>
          <a:noFill/>
          <a:ln>
            <a:noFill/>
          </a:ln>
        </p:spPr>
      </p:pic>
      <p:sp>
        <p:nvSpPr>
          <p:cNvPr id="261" name="Google Shape;261;p6"/>
          <p:cNvSpPr txBox="1"/>
          <p:nvPr/>
        </p:nvSpPr>
        <p:spPr>
          <a:xfrm>
            <a:off x="942746" y="2125980"/>
            <a:ext cx="7342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品質安定</a:t>
            </a:r>
            <a:endParaRPr b="0" i="0" sz="1200" u="none" cap="none" strike="noStrike">
              <a:solidFill>
                <a:schemeClr val="dk1"/>
              </a:solidFill>
              <a:latin typeface="Calibri"/>
              <a:ea typeface="Calibri"/>
              <a:cs typeface="Calibri"/>
              <a:sym typeface="Calibri"/>
            </a:endParaRPr>
          </a:p>
        </p:txBody>
      </p:sp>
      <p:sp>
        <p:nvSpPr>
          <p:cNvPr id="262" name="Google Shape;262;p6"/>
          <p:cNvSpPr txBox="1"/>
          <p:nvPr/>
        </p:nvSpPr>
        <p:spPr>
          <a:xfrm>
            <a:off x="942746" y="2354580"/>
            <a:ext cx="18004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人に依存しない一定精度</a:t>
            </a:r>
            <a:endParaRPr b="0" i="0" sz="1200" u="none" cap="none" strike="noStrike">
              <a:solidFill>
                <a:schemeClr val="dk1"/>
              </a:solidFill>
              <a:latin typeface="Calibri"/>
              <a:ea typeface="Calibri"/>
              <a:cs typeface="Calibri"/>
              <a:sym typeface="Calibri"/>
            </a:endParaRPr>
          </a:p>
        </p:txBody>
      </p:sp>
      <p:sp>
        <p:nvSpPr>
          <p:cNvPr id="263" name="Google Shape;263;p6"/>
          <p:cNvSpPr/>
          <p:nvPr/>
        </p:nvSpPr>
        <p:spPr>
          <a:xfrm>
            <a:off x="381305" y="2850185"/>
            <a:ext cx="5410505" cy="6858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6"/>
          <p:cNvSpPr/>
          <p:nvPr/>
        </p:nvSpPr>
        <p:spPr>
          <a:xfrm>
            <a:off x="381305" y="2850185"/>
            <a:ext cx="28346" cy="6858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5" name="Google Shape;265;p6"/>
          <p:cNvPicPr preferRelativeResize="0"/>
          <p:nvPr/>
        </p:nvPicPr>
        <p:blipFill rotWithShape="1">
          <a:blip r:embed="rId5">
            <a:alphaModFix/>
          </a:blip>
          <a:srcRect b="0" l="0" r="0" t="0"/>
          <a:stretch/>
        </p:blipFill>
        <p:spPr>
          <a:xfrm>
            <a:off x="562356" y="3078785"/>
            <a:ext cx="228600" cy="228600"/>
          </a:xfrm>
          <a:prstGeom prst="rect">
            <a:avLst/>
          </a:prstGeom>
          <a:noFill/>
          <a:ln>
            <a:noFill/>
          </a:ln>
        </p:spPr>
      </p:pic>
      <p:sp>
        <p:nvSpPr>
          <p:cNvPr id="266" name="Google Shape;266;p6"/>
          <p:cNvSpPr txBox="1"/>
          <p:nvPr/>
        </p:nvSpPr>
        <p:spPr>
          <a:xfrm>
            <a:off x="942746" y="2964485"/>
            <a:ext cx="1038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コスト最適化</a:t>
            </a:r>
            <a:endParaRPr b="0" i="0" sz="1200" u="none" cap="none" strike="noStrike">
              <a:solidFill>
                <a:schemeClr val="dk1"/>
              </a:solidFill>
              <a:latin typeface="Calibri"/>
              <a:ea typeface="Calibri"/>
              <a:cs typeface="Calibri"/>
              <a:sym typeface="Calibri"/>
            </a:endParaRPr>
          </a:p>
        </p:txBody>
      </p:sp>
      <p:sp>
        <p:nvSpPr>
          <p:cNvPr id="267" name="Google Shape;267;p6"/>
          <p:cNvSpPr txBox="1"/>
          <p:nvPr/>
        </p:nvSpPr>
        <p:spPr>
          <a:xfrm>
            <a:off x="942746" y="3193085"/>
            <a:ext cx="20958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処理効率化によるコスト削減</a:t>
            </a:r>
            <a:endParaRPr b="0" i="0" sz="1200" u="none" cap="none" strike="noStrike">
              <a:solidFill>
                <a:schemeClr val="dk1"/>
              </a:solidFill>
              <a:latin typeface="Calibri"/>
              <a:ea typeface="Calibri"/>
              <a:cs typeface="Calibri"/>
              <a:sym typeface="Calibri"/>
            </a:endParaRPr>
          </a:p>
        </p:txBody>
      </p:sp>
      <p:sp>
        <p:nvSpPr>
          <p:cNvPr id="268" name="Google Shape;268;p6"/>
          <p:cNvSpPr/>
          <p:nvPr/>
        </p:nvSpPr>
        <p:spPr>
          <a:xfrm>
            <a:off x="381305" y="3687775"/>
            <a:ext cx="5410505" cy="6858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6"/>
          <p:cNvSpPr/>
          <p:nvPr/>
        </p:nvSpPr>
        <p:spPr>
          <a:xfrm>
            <a:off x="381305" y="3687775"/>
            <a:ext cx="28346" cy="6858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0" name="Google Shape;270;p6"/>
          <p:cNvPicPr preferRelativeResize="0"/>
          <p:nvPr/>
        </p:nvPicPr>
        <p:blipFill rotWithShape="1">
          <a:blip r:embed="rId6">
            <a:alphaModFix/>
          </a:blip>
          <a:srcRect b="0" l="0" r="0" t="0"/>
          <a:stretch/>
        </p:blipFill>
        <p:spPr>
          <a:xfrm>
            <a:off x="562356" y="3916375"/>
            <a:ext cx="228600" cy="228600"/>
          </a:xfrm>
          <a:prstGeom prst="rect">
            <a:avLst/>
          </a:prstGeom>
          <a:noFill/>
          <a:ln>
            <a:noFill/>
          </a:ln>
        </p:spPr>
      </p:pic>
      <p:sp>
        <p:nvSpPr>
          <p:cNvPr id="271" name="Google Shape;271;p6"/>
          <p:cNvSpPr txBox="1"/>
          <p:nvPr/>
        </p:nvSpPr>
        <p:spPr>
          <a:xfrm>
            <a:off x="942746" y="3802075"/>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信頼性向上</a:t>
            </a:r>
            <a:endParaRPr b="0" i="0" sz="1200" u="none" cap="none" strike="noStrike">
              <a:solidFill>
                <a:schemeClr val="dk1"/>
              </a:solidFill>
              <a:latin typeface="Calibri"/>
              <a:ea typeface="Calibri"/>
              <a:cs typeface="Calibri"/>
              <a:sym typeface="Calibri"/>
            </a:endParaRPr>
          </a:p>
        </p:txBody>
      </p:sp>
      <p:sp>
        <p:nvSpPr>
          <p:cNvPr id="272" name="Google Shape;272;p6"/>
          <p:cNvSpPr txBox="1"/>
          <p:nvPr/>
        </p:nvSpPr>
        <p:spPr>
          <a:xfrm>
            <a:off x="942746" y="4030675"/>
            <a:ext cx="22384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再現性・トレーサビリティ確保</a:t>
            </a:r>
            <a:endParaRPr b="0" i="0" sz="1200" u="none" cap="none" strike="noStrike">
              <a:solidFill>
                <a:schemeClr val="dk1"/>
              </a:solidFill>
              <a:latin typeface="Calibri"/>
              <a:ea typeface="Calibri"/>
              <a:cs typeface="Calibri"/>
              <a:sym typeface="Calibri"/>
            </a:endParaRPr>
          </a:p>
        </p:txBody>
      </p:sp>
      <p:sp>
        <p:nvSpPr>
          <p:cNvPr id="273" name="Google Shape;273;p6"/>
          <p:cNvSpPr/>
          <p:nvPr/>
        </p:nvSpPr>
        <p:spPr>
          <a:xfrm>
            <a:off x="381305" y="4526280"/>
            <a:ext cx="5410505" cy="685800"/>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a:off x="381305" y="4526280"/>
            <a:ext cx="28346" cy="685800"/>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5" name="Google Shape;275;p6"/>
          <p:cNvPicPr preferRelativeResize="0"/>
          <p:nvPr/>
        </p:nvPicPr>
        <p:blipFill rotWithShape="1">
          <a:blip r:embed="rId7">
            <a:alphaModFix/>
          </a:blip>
          <a:srcRect b="0" l="-133" r="-133" t="0"/>
          <a:stretch/>
        </p:blipFill>
        <p:spPr>
          <a:xfrm>
            <a:off x="562356" y="4754880"/>
            <a:ext cx="171907" cy="228600"/>
          </a:xfrm>
          <a:prstGeom prst="rect">
            <a:avLst/>
          </a:prstGeom>
          <a:noFill/>
          <a:ln>
            <a:noFill/>
          </a:ln>
        </p:spPr>
      </p:pic>
      <p:sp>
        <p:nvSpPr>
          <p:cNvPr id="276" name="Google Shape;276;p6"/>
          <p:cNvSpPr txBox="1"/>
          <p:nvPr/>
        </p:nvSpPr>
        <p:spPr>
          <a:xfrm>
            <a:off x="886054" y="4640580"/>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提案力強化</a:t>
            </a:r>
            <a:endParaRPr b="0" i="0" sz="1200" u="none" cap="none" strike="noStrike">
              <a:solidFill>
                <a:schemeClr val="dk1"/>
              </a:solidFill>
              <a:latin typeface="Calibri"/>
              <a:ea typeface="Calibri"/>
              <a:cs typeface="Calibri"/>
              <a:sym typeface="Calibri"/>
            </a:endParaRPr>
          </a:p>
        </p:txBody>
      </p:sp>
      <p:sp>
        <p:nvSpPr>
          <p:cNvPr id="277" name="Google Shape;277;p6"/>
          <p:cNvSpPr txBox="1"/>
          <p:nvPr/>
        </p:nvSpPr>
        <p:spPr>
          <a:xfrm>
            <a:off x="886054" y="4869180"/>
            <a:ext cx="19531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人が創造的業務に集中可能</a:t>
            </a:r>
            <a:endParaRPr b="0" i="0" sz="1200" u="none" cap="none" strike="noStrike">
              <a:solidFill>
                <a:schemeClr val="dk1"/>
              </a:solidFill>
              <a:latin typeface="Calibri"/>
              <a:ea typeface="Calibri"/>
              <a:cs typeface="Calibri"/>
              <a:sym typeface="Calibri"/>
            </a:endParaRPr>
          </a:p>
        </p:txBody>
      </p:sp>
      <p:sp>
        <p:nvSpPr>
          <p:cNvPr id="278" name="Google Shape;278;p6"/>
          <p:cNvSpPr txBox="1"/>
          <p:nvPr/>
        </p:nvSpPr>
        <p:spPr>
          <a:xfrm>
            <a:off x="7810805" y="467258"/>
            <a:ext cx="24579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1800"/>
              <a:buFont typeface="Noto Sans JP"/>
              <a:buNone/>
            </a:pPr>
            <a:r>
              <a:rPr b="1" i="0" lang="en-US" sz="1800" u="none" cap="none" strike="noStrike">
                <a:solidFill>
                  <a:srgbClr val="4A90E2"/>
                </a:solidFill>
                <a:latin typeface="Noto Sans JP"/>
                <a:ea typeface="Noto Sans JP"/>
                <a:cs typeface="Noto Sans JP"/>
                <a:sym typeface="Noto Sans JP"/>
              </a:rPr>
              <a:t>顧客満足度向上の推移</a:t>
            </a:r>
            <a:endParaRPr b="0" i="0" sz="1800" u="none" cap="none" strike="noStrike">
              <a:solidFill>
                <a:schemeClr val="dk1"/>
              </a:solidFill>
              <a:latin typeface="Calibri"/>
              <a:ea typeface="Calibri"/>
              <a:cs typeface="Calibri"/>
              <a:sym typeface="Calibri"/>
            </a:endParaRPr>
          </a:p>
        </p:txBody>
      </p:sp>
      <p:pic>
        <p:nvPicPr>
          <p:cNvPr descr="preencoded.png" id="279" name="Google Shape;279;p6"/>
          <p:cNvPicPr preferRelativeResize="0"/>
          <p:nvPr/>
        </p:nvPicPr>
        <p:blipFill rotWithShape="1">
          <a:blip r:embed="rId8">
            <a:alphaModFix/>
          </a:blip>
          <a:srcRect b="-5" l="0" r="0" t="-6"/>
          <a:stretch/>
        </p:blipFill>
        <p:spPr>
          <a:xfrm>
            <a:off x="6096305" y="962863"/>
            <a:ext cx="5715000" cy="2667305"/>
          </a:xfrm>
          <a:prstGeom prst="rect">
            <a:avLst/>
          </a:prstGeom>
          <a:noFill/>
          <a:ln>
            <a:noFill/>
          </a:ln>
        </p:spPr>
      </p:pic>
      <p:sp>
        <p:nvSpPr>
          <p:cNvPr id="280" name="Google Shape;280;p6"/>
          <p:cNvSpPr/>
          <p:nvPr/>
        </p:nvSpPr>
        <p:spPr>
          <a:xfrm>
            <a:off x="6096305" y="3858768"/>
            <a:ext cx="2800807" cy="1076249"/>
          </a:xfrm>
          <a:prstGeom prst="roundRect">
            <a:avLst>
              <a:gd fmla="val 3007" name="adj"/>
            </a:avLst>
          </a:prstGeom>
          <a:solidFill>
            <a:srgbClr val="E3F2FD">
              <a:alpha val="80000"/>
            </a:srgbClr>
          </a:solidFill>
          <a:ln cap="flat" cmpd="sng" w="12700">
            <a:solidFill>
              <a:srgbClr val="4A90E2">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1" name="Google Shape;281;p6"/>
          <p:cNvPicPr preferRelativeResize="0"/>
          <p:nvPr/>
        </p:nvPicPr>
        <p:blipFill rotWithShape="1">
          <a:blip r:embed="rId9">
            <a:alphaModFix/>
          </a:blip>
          <a:srcRect b="0" l="0" r="0" t="0"/>
          <a:stretch/>
        </p:blipFill>
        <p:spPr>
          <a:xfrm>
            <a:off x="6258154" y="4253789"/>
            <a:ext cx="286207" cy="286207"/>
          </a:xfrm>
          <a:prstGeom prst="rect">
            <a:avLst/>
          </a:prstGeom>
          <a:noFill/>
          <a:ln>
            <a:noFill/>
          </a:ln>
        </p:spPr>
      </p:pic>
      <p:sp>
        <p:nvSpPr>
          <p:cNvPr id="282" name="Google Shape;282;p6"/>
          <p:cNvSpPr txBox="1"/>
          <p:nvPr/>
        </p:nvSpPr>
        <p:spPr>
          <a:xfrm>
            <a:off x="6696151" y="4020617"/>
            <a:ext cx="1157630"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90E2"/>
              </a:buClr>
              <a:buSzPts val="1300"/>
              <a:buFont typeface="Noto Sans JP"/>
              <a:buNone/>
            </a:pPr>
            <a:r>
              <a:rPr b="1" i="0" lang="en-US" sz="1300" u="none" cap="none" strike="noStrike">
                <a:solidFill>
                  <a:srgbClr val="4A90E2"/>
                </a:solidFill>
                <a:latin typeface="Noto Sans JP"/>
                <a:ea typeface="Noto Sans JP"/>
                <a:cs typeface="Noto Sans JP"/>
                <a:sym typeface="Noto Sans JP"/>
              </a:rPr>
              <a:t>お客様満足度</a:t>
            </a:r>
            <a:endParaRPr b="0" i="0" sz="1300" u="none" cap="none" strike="noStrike">
              <a:solidFill>
                <a:schemeClr val="dk1"/>
              </a:solidFill>
              <a:latin typeface="Calibri"/>
              <a:ea typeface="Calibri"/>
              <a:cs typeface="Calibri"/>
              <a:sym typeface="Calibri"/>
            </a:endParaRPr>
          </a:p>
        </p:txBody>
      </p:sp>
      <p:sp>
        <p:nvSpPr>
          <p:cNvPr id="283" name="Google Shape;283;p6"/>
          <p:cNvSpPr txBox="1"/>
          <p:nvPr/>
        </p:nvSpPr>
        <p:spPr>
          <a:xfrm>
            <a:off x="6696151" y="4325112"/>
            <a:ext cx="500177"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92%</a:t>
            </a:r>
            <a:endParaRPr b="0" i="0" sz="1300" u="none" cap="none" strike="noStrike">
              <a:solidFill>
                <a:schemeClr val="dk1"/>
              </a:solidFill>
              <a:latin typeface="Calibri"/>
              <a:ea typeface="Calibri"/>
              <a:cs typeface="Calibri"/>
              <a:sym typeface="Calibri"/>
            </a:endParaRPr>
          </a:p>
        </p:txBody>
      </p:sp>
      <p:sp>
        <p:nvSpPr>
          <p:cNvPr id="284" name="Google Shape;284;p6"/>
          <p:cNvSpPr txBox="1"/>
          <p:nvPr/>
        </p:nvSpPr>
        <p:spPr>
          <a:xfrm>
            <a:off x="6696151" y="4582058"/>
            <a:ext cx="1024128"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AI導入後の平均</a:t>
            </a:r>
            <a:endParaRPr b="0" i="0" sz="1000" u="none" cap="none" strike="noStrike">
              <a:solidFill>
                <a:schemeClr val="dk1"/>
              </a:solidFill>
              <a:latin typeface="Calibri"/>
              <a:ea typeface="Calibri"/>
              <a:cs typeface="Calibri"/>
              <a:sym typeface="Calibri"/>
            </a:endParaRPr>
          </a:p>
        </p:txBody>
      </p:sp>
      <p:sp>
        <p:nvSpPr>
          <p:cNvPr id="285" name="Google Shape;285;p6"/>
          <p:cNvSpPr/>
          <p:nvPr/>
        </p:nvSpPr>
        <p:spPr>
          <a:xfrm>
            <a:off x="9010498" y="3858768"/>
            <a:ext cx="2800807" cy="1076249"/>
          </a:xfrm>
          <a:prstGeom prst="roundRect">
            <a:avLst>
              <a:gd fmla="val 3007" name="adj"/>
            </a:avLst>
          </a:prstGeom>
          <a:solidFill>
            <a:srgbClr val="E3F2FD">
              <a:alpha val="80000"/>
            </a:srgbClr>
          </a:solidFill>
          <a:ln cap="flat" cmpd="sng" w="12700">
            <a:solidFill>
              <a:srgbClr val="4A90E2">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6" name="Google Shape;286;p6"/>
          <p:cNvPicPr preferRelativeResize="0"/>
          <p:nvPr/>
        </p:nvPicPr>
        <p:blipFill rotWithShape="1">
          <a:blip r:embed="rId10">
            <a:alphaModFix/>
          </a:blip>
          <a:srcRect b="0" l="0" r="0" t="0"/>
          <a:stretch/>
        </p:blipFill>
        <p:spPr>
          <a:xfrm>
            <a:off x="9172346" y="4253789"/>
            <a:ext cx="286207" cy="286207"/>
          </a:xfrm>
          <a:prstGeom prst="rect">
            <a:avLst/>
          </a:prstGeom>
          <a:noFill/>
          <a:ln>
            <a:noFill/>
          </a:ln>
        </p:spPr>
      </p:pic>
      <p:sp>
        <p:nvSpPr>
          <p:cNvPr id="287" name="Google Shape;287;p6"/>
          <p:cNvSpPr txBox="1"/>
          <p:nvPr/>
        </p:nvSpPr>
        <p:spPr>
          <a:xfrm>
            <a:off x="9610344" y="4020617"/>
            <a:ext cx="986638"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90E2"/>
              </a:buClr>
              <a:buSzPts val="1300"/>
              <a:buFont typeface="Noto Sans JP"/>
              <a:buNone/>
            </a:pPr>
            <a:r>
              <a:rPr b="1" i="0" lang="en-US" sz="1300" u="none" cap="none" strike="noStrike">
                <a:solidFill>
                  <a:srgbClr val="4A90E2"/>
                </a:solidFill>
                <a:latin typeface="Noto Sans JP"/>
                <a:ea typeface="Noto Sans JP"/>
                <a:cs typeface="Noto Sans JP"/>
                <a:sym typeface="Noto Sans JP"/>
              </a:rPr>
              <a:t>業務効率化</a:t>
            </a:r>
            <a:endParaRPr b="0" i="0" sz="1300" u="none" cap="none" strike="noStrike">
              <a:solidFill>
                <a:schemeClr val="dk1"/>
              </a:solidFill>
              <a:latin typeface="Calibri"/>
              <a:ea typeface="Calibri"/>
              <a:cs typeface="Calibri"/>
              <a:sym typeface="Calibri"/>
            </a:endParaRPr>
          </a:p>
        </p:txBody>
      </p:sp>
      <p:sp>
        <p:nvSpPr>
          <p:cNvPr id="288" name="Google Shape;288;p6"/>
          <p:cNvSpPr txBox="1"/>
          <p:nvPr/>
        </p:nvSpPr>
        <p:spPr>
          <a:xfrm>
            <a:off x="9610344" y="4325112"/>
            <a:ext cx="500177"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37%</a:t>
            </a:r>
            <a:endParaRPr b="0" i="0" sz="1300" u="none" cap="none" strike="noStrike">
              <a:solidFill>
                <a:schemeClr val="dk1"/>
              </a:solidFill>
              <a:latin typeface="Calibri"/>
              <a:ea typeface="Calibri"/>
              <a:cs typeface="Calibri"/>
              <a:sym typeface="Calibri"/>
            </a:endParaRPr>
          </a:p>
        </p:txBody>
      </p:sp>
      <p:sp>
        <p:nvSpPr>
          <p:cNvPr id="289" name="Google Shape;289;p6"/>
          <p:cNvSpPr txBox="1"/>
          <p:nvPr/>
        </p:nvSpPr>
        <p:spPr>
          <a:xfrm>
            <a:off x="9610344" y="4582058"/>
            <a:ext cx="633679"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000"/>
              <a:buFont typeface="Noto Sans JP"/>
              <a:buNone/>
            </a:pPr>
            <a:r>
              <a:rPr b="0" i="0" lang="en-US" sz="1000" u="none" cap="none" strike="noStrike">
                <a:solidFill>
                  <a:srgbClr val="0052CC"/>
                </a:solidFill>
                <a:latin typeface="Noto Sans JP"/>
                <a:ea typeface="Noto Sans JP"/>
                <a:cs typeface="Noto Sans JP"/>
                <a:sym typeface="Noto Sans JP"/>
              </a:rPr>
              <a:t>改善効果</a:t>
            </a:r>
            <a:endParaRPr b="0" i="0" sz="1000" u="none" cap="none" strike="noStrike">
              <a:solidFill>
                <a:schemeClr val="dk1"/>
              </a:solidFill>
              <a:latin typeface="Calibri"/>
              <a:ea typeface="Calibri"/>
              <a:cs typeface="Calibri"/>
              <a:sym typeface="Calibri"/>
            </a:endParaRPr>
          </a:p>
        </p:txBody>
      </p:sp>
      <p:sp>
        <p:nvSpPr>
          <p:cNvPr id="290" name="Google Shape;290;p6"/>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7"/>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7"/>
          <p:cNvSpPr/>
          <p:nvPr/>
        </p:nvSpPr>
        <p:spPr>
          <a:xfrm>
            <a:off x="9810600" y="-2"/>
            <a:ext cx="2381100" cy="1904700"/>
          </a:xfrm>
          <a:prstGeom prst="rect">
            <a:avLst/>
          </a:prstGeom>
          <a:solidFill>
            <a:srgbClr val="81B0E3">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7"/>
          <p:cNvSpPr/>
          <p:nvPr/>
        </p:nvSpPr>
        <p:spPr>
          <a:xfrm>
            <a:off x="952800" y="5429702"/>
            <a:ext cx="1904700" cy="1428300"/>
          </a:xfrm>
          <a:prstGeom prst="rect">
            <a:avLst/>
          </a:prstGeom>
          <a:solidFill>
            <a:srgbClr val="81B0E3">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7"/>
          <p:cNvSpPr txBox="1"/>
          <p:nvPr/>
        </p:nvSpPr>
        <p:spPr>
          <a:xfrm>
            <a:off x="381305" y="860450"/>
            <a:ext cx="541050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2700"/>
              <a:buFont typeface="Noto Sans JP"/>
              <a:buNone/>
            </a:pPr>
            <a:r>
              <a:rPr b="1" i="0" lang="en-US" sz="2700" u="none" cap="none" strike="noStrike">
                <a:solidFill>
                  <a:srgbClr val="0B3C7B"/>
                </a:solidFill>
                <a:latin typeface="Noto Sans JP"/>
                <a:ea typeface="Noto Sans JP"/>
                <a:cs typeface="Noto Sans JP"/>
                <a:sym typeface="Noto Sans JP"/>
              </a:rPr>
              <a:t>お客様に喜ばれる価値提案の方向性</a:t>
            </a:r>
            <a:endParaRPr b="0" i="0" sz="2700" u="none" cap="none" strike="noStrike">
              <a:solidFill>
                <a:schemeClr val="dk1"/>
              </a:solidFill>
              <a:latin typeface="Calibri"/>
              <a:ea typeface="Calibri"/>
              <a:cs typeface="Calibri"/>
              <a:sym typeface="Calibri"/>
            </a:endParaRPr>
          </a:p>
        </p:txBody>
      </p:sp>
      <p:sp>
        <p:nvSpPr>
          <p:cNvPr id="300" name="Google Shape;300;p7"/>
          <p:cNvSpPr/>
          <p:nvPr/>
        </p:nvSpPr>
        <p:spPr>
          <a:xfrm>
            <a:off x="381305" y="1845259"/>
            <a:ext cx="571500" cy="38405"/>
          </a:xfrm>
          <a:prstGeom prst="rect">
            <a:avLst/>
          </a:prstGeom>
          <a:solidFill>
            <a:srgbClr val="005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7"/>
          <p:cNvSpPr txBox="1"/>
          <p:nvPr/>
        </p:nvSpPr>
        <p:spPr>
          <a:xfrm>
            <a:off x="381305" y="2111350"/>
            <a:ext cx="5438851"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AI導入の目的: 単なる効率化ではなく、「お客様満足」と「従業員の創造的働き方」を実現するためのAI活用を提案します</a:t>
            </a:r>
            <a:endParaRPr b="0" i="0" sz="1200" u="none" cap="none" strike="noStrike">
              <a:solidFill>
                <a:schemeClr val="dk1"/>
              </a:solidFill>
              <a:latin typeface="Calibri"/>
              <a:ea typeface="Calibri"/>
              <a:cs typeface="Calibri"/>
              <a:sym typeface="Calibri"/>
            </a:endParaRPr>
          </a:p>
        </p:txBody>
      </p:sp>
      <p:sp>
        <p:nvSpPr>
          <p:cNvPr id="302" name="Google Shape;302;p7"/>
          <p:cNvSpPr txBox="1"/>
          <p:nvPr/>
        </p:nvSpPr>
        <p:spPr>
          <a:xfrm>
            <a:off x="381305" y="2721254"/>
            <a:ext cx="13816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価値提案の考え方:</a:t>
            </a:r>
            <a:endParaRPr b="0" i="0" sz="1200" u="none" cap="none" strike="noStrike">
              <a:solidFill>
                <a:schemeClr val="dk1"/>
              </a:solidFill>
              <a:latin typeface="Calibri"/>
              <a:ea typeface="Calibri"/>
              <a:cs typeface="Calibri"/>
              <a:sym typeface="Calibri"/>
            </a:endParaRPr>
          </a:p>
        </p:txBody>
      </p:sp>
      <p:sp>
        <p:nvSpPr>
          <p:cNvPr id="303" name="Google Shape;303;p7"/>
          <p:cNvSpPr txBox="1"/>
          <p:nvPr/>
        </p:nvSpPr>
        <p:spPr>
          <a:xfrm>
            <a:off x="609905" y="3102559"/>
            <a:ext cx="37819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お客様の業種・業態・現状課題に合わせたアプローチ</a:t>
            </a:r>
            <a:endParaRPr b="0" i="0" sz="1200" u="none" cap="none" strike="noStrike">
              <a:solidFill>
                <a:schemeClr val="dk1"/>
              </a:solidFill>
              <a:latin typeface="Calibri"/>
              <a:ea typeface="Calibri"/>
              <a:cs typeface="Calibri"/>
              <a:sym typeface="Calibri"/>
            </a:endParaRPr>
          </a:p>
        </p:txBody>
      </p:sp>
      <p:sp>
        <p:nvSpPr>
          <p:cNvPr id="304" name="Google Shape;304;p7"/>
          <p:cNvSpPr txBox="1"/>
          <p:nvPr/>
        </p:nvSpPr>
        <p:spPr>
          <a:xfrm>
            <a:off x="609905" y="3407054"/>
            <a:ext cx="22384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AI活用の目的を明確にした提案</a:t>
            </a:r>
            <a:endParaRPr b="0" i="0" sz="1200" u="none" cap="none" strike="noStrike">
              <a:solidFill>
                <a:schemeClr val="dk1"/>
              </a:solidFill>
              <a:latin typeface="Calibri"/>
              <a:ea typeface="Calibri"/>
              <a:cs typeface="Calibri"/>
              <a:sym typeface="Calibri"/>
            </a:endParaRPr>
          </a:p>
        </p:txBody>
      </p:sp>
      <p:sp>
        <p:nvSpPr>
          <p:cNvPr id="305" name="Google Shape;305;p7"/>
          <p:cNvSpPr txBox="1"/>
          <p:nvPr/>
        </p:nvSpPr>
        <p:spPr>
          <a:xfrm>
            <a:off x="609905" y="3711550"/>
            <a:ext cx="27148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定量的・定性的な効果測定方法の提示</a:t>
            </a:r>
            <a:endParaRPr b="0" i="0" sz="1200" u="none" cap="none" strike="noStrike">
              <a:solidFill>
                <a:schemeClr val="dk1"/>
              </a:solidFill>
              <a:latin typeface="Calibri"/>
              <a:ea typeface="Calibri"/>
              <a:cs typeface="Calibri"/>
              <a:sym typeface="Calibri"/>
            </a:endParaRPr>
          </a:p>
        </p:txBody>
      </p:sp>
      <p:sp>
        <p:nvSpPr>
          <p:cNvPr id="306" name="Google Shape;306;p7"/>
          <p:cNvSpPr txBox="1"/>
          <p:nvPr/>
        </p:nvSpPr>
        <p:spPr>
          <a:xfrm>
            <a:off x="381305" y="4092854"/>
            <a:ext cx="15243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導入による期待効果:</a:t>
            </a:r>
            <a:endParaRPr b="0" i="0" sz="1200" u="none" cap="none" strike="noStrike">
              <a:solidFill>
                <a:schemeClr val="dk1"/>
              </a:solidFill>
              <a:latin typeface="Calibri"/>
              <a:ea typeface="Calibri"/>
              <a:cs typeface="Calibri"/>
              <a:sym typeface="Calibri"/>
            </a:endParaRPr>
          </a:p>
        </p:txBody>
      </p:sp>
      <p:sp>
        <p:nvSpPr>
          <p:cNvPr id="307" name="Google Shape;307;p7"/>
          <p:cNvSpPr txBox="1"/>
          <p:nvPr/>
        </p:nvSpPr>
        <p:spPr>
          <a:xfrm>
            <a:off x="609905" y="4474159"/>
            <a:ext cx="1648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業務生産性の大幅向上</a:t>
            </a:r>
            <a:endParaRPr b="0" i="0" sz="1200" u="none" cap="none" strike="noStrike">
              <a:solidFill>
                <a:schemeClr val="dk1"/>
              </a:solidFill>
              <a:latin typeface="Calibri"/>
              <a:ea typeface="Calibri"/>
              <a:cs typeface="Calibri"/>
              <a:sym typeface="Calibri"/>
            </a:endParaRPr>
          </a:p>
        </p:txBody>
      </p:sp>
      <p:sp>
        <p:nvSpPr>
          <p:cNvPr id="308" name="Google Shape;308;p7"/>
          <p:cNvSpPr txBox="1"/>
          <p:nvPr/>
        </p:nvSpPr>
        <p:spPr>
          <a:xfrm>
            <a:off x="609905" y="4778654"/>
            <a:ext cx="3324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ヒューマンエラーの削減とサービス品質の向上</a:t>
            </a:r>
            <a:endParaRPr b="0" i="0" sz="1200" u="none" cap="none" strike="noStrike">
              <a:solidFill>
                <a:schemeClr val="dk1"/>
              </a:solidFill>
              <a:latin typeface="Calibri"/>
              <a:ea typeface="Calibri"/>
              <a:cs typeface="Calibri"/>
              <a:sym typeface="Calibri"/>
            </a:endParaRPr>
          </a:p>
        </p:txBody>
      </p:sp>
      <p:sp>
        <p:nvSpPr>
          <p:cNvPr id="309" name="Google Shape;309;p7"/>
          <p:cNvSpPr txBox="1"/>
          <p:nvPr/>
        </p:nvSpPr>
        <p:spPr>
          <a:xfrm>
            <a:off x="609905" y="5083150"/>
            <a:ext cx="22576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従業員の創造的業務へのシフト</a:t>
            </a:r>
            <a:endParaRPr b="0" i="0" sz="1200" u="none" cap="none" strike="noStrike">
              <a:solidFill>
                <a:schemeClr val="dk1"/>
              </a:solidFill>
              <a:latin typeface="Calibri"/>
              <a:ea typeface="Calibri"/>
              <a:cs typeface="Calibri"/>
              <a:sym typeface="Calibri"/>
            </a:endParaRPr>
          </a:p>
        </p:txBody>
      </p:sp>
      <p:sp>
        <p:nvSpPr>
          <p:cNvPr id="310" name="Google Shape;310;p7"/>
          <p:cNvSpPr txBox="1"/>
          <p:nvPr/>
        </p:nvSpPr>
        <p:spPr>
          <a:xfrm>
            <a:off x="609905" y="5388559"/>
            <a:ext cx="21058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顧客満足度と企業価値の向上</a:t>
            </a:r>
            <a:endParaRPr b="0" i="0" sz="1200" u="none" cap="none" strike="noStrike">
              <a:solidFill>
                <a:schemeClr val="dk1"/>
              </a:solidFill>
              <a:latin typeface="Calibri"/>
              <a:ea typeface="Calibri"/>
              <a:cs typeface="Calibri"/>
              <a:sym typeface="Calibri"/>
            </a:endParaRPr>
          </a:p>
        </p:txBody>
      </p:sp>
      <p:sp>
        <p:nvSpPr>
          <p:cNvPr id="311" name="Google Shape;311;p7"/>
          <p:cNvSpPr txBox="1"/>
          <p:nvPr/>
        </p:nvSpPr>
        <p:spPr>
          <a:xfrm>
            <a:off x="8044891" y="381305"/>
            <a:ext cx="1991563"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価値提案パターン</a:t>
            </a:r>
            <a:endParaRPr b="0" i="0" sz="1800" u="none" cap="none" strike="noStrike">
              <a:solidFill>
                <a:schemeClr val="dk1"/>
              </a:solidFill>
              <a:latin typeface="Calibri"/>
              <a:ea typeface="Calibri"/>
              <a:cs typeface="Calibri"/>
              <a:sym typeface="Calibri"/>
            </a:endParaRPr>
          </a:p>
        </p:txBody>
      </p:sp>
      <p:sp>
        <p:nvSpPr>
          <p:cNvPr id="312" name="Google Shape;312;p7"/>
          <p:cNvSpPr/>
          <p:nvPr/>
        </p:nvSpPr>
        <p:spPr>
          <a:xfrm>
            <a:off x="6096305" y="875995"/>
            <a:ext cx="2781605" cy="1476756"/>
          </a:xfrm>
          <a:prstGeom prst="rect">
            <a:avLst/>
          </a:prstGeom>
          <a:solidFill>
            <a:srgbClr val="81B0E3">
              <a:alpha val="9803"/>
            </a:srgbClr>
          </a:solidFill>
          <a:ln cap="flat" cmpd="sng" w="12700">
            <a:solidFill>
              <a:srgbClr val="005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3" name="Google Shape;313;p7"/>
          <p:cNvPicPr preferRelativeResize="0"/>
          <p:nvPr/>
        </p:nvPicPr>
        <p:blipFill rotWithShape="1">
          <a:blip r:embed="rId3">
            <a:alphaModFix/>
          </a:blip>
          <a:srcRect b="0" l="0" r="0" t="0"/>
          <a:stretch/>
        </p:blipFill>
        <p:spPr>
          <a:xfrm>
            <a:off x="7334402" y="1000354"/>
            <a:ext cx="304495" cy="304495"/>
          </a:xfrm>
          <a:prstGeom prst="rect">
            <a:avLst/>
          </a:prstGeom>
          <a:noFill/>
          <a:ln>
            <a:noFill/>
          </a:ln>
        </p:spPr>
      </p:pic>
      <p:sp>
        <p:nvSpPr>
          <p:cNvPr id="314" name="Google Shape;314;p7"/>
          <p:cNvSpPr txBox="1"/>
          <p:nvPr/>
        </p:nvSpPr>
        <p:spPr>
          <a:xfrm>
            <a:off x="6629400" y="1399946"/>
            <a:ext cx="18434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業務効率・品質安定型</a:t>
            </a:r>
            <a:endParaRPr b="0" i="0" sz="1300" u="none" cap="none" strike="noStrike">
              <a:solidFill>
                <a:schemeClr val="dk1"/>
              </a:solidFill>
              <a:latin typeface="Calibri"/>
              <a:ea typeface="Calibri"/>
              <a:cs typeface="Calibri"/>
              <a:sym typeface="Calibri"/>
            </a:endParaRPr>
          </a:p>
        </p:txBody>
      </p:sp>
      <p:sp>
        <p:nvSpPr>
          <p:cNvPr id="315" name="Google Shape;315;p7"/>
          <p:cNvSpPr txBox="1"/>
          <p:nvPr/>
        </p:nvSpPr>
        <p:spPr>
          <a:xfrm>
            <a:off x="6495898" y="1714500"/>
            <a:ext cx="2105863"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スピードと正確性で信頼向上</a:t>
            </a:r>
            <a:endParaRPr b="0" i="0" sz="1200" u="none" cap="none" strike="noStrike">
              <a:solidFill>
                <a:schemeClr val="dk1"/>
              </a:solidFill>
              <a:latin typeface="Calibri"/>
              <a:ea typeface="Calibri"/>
              <a:cs typeface="Calibri"/>
              <a:sym typeface="Calibri"/>
            </a:endParaRPr>
          </a:p>
        </p:txBody>
      </p:sp>
      <p:sp>
        <p:nvSpPr>
          <p:cNvPr id="316" name="Google Shape;316;p7"/>
          <p:cNvSpPr/>
          <p:nvPr/>
        </p:nvSpPr>
        <p:spPr>
          <a:xfrm>
            <a:off x="9029700" y="875995"/>
            <a:ext cx="2781605" cy="1476756"/>
          </a:xfrm>
          <a:prstGeom prst="rect">
            <a:avLst/>
          </a:prstGeom>
          <a:solidFill>
            <a:srgbClr val="81B0E3">
              <a:alpha val="9803"/>
            </a:srgbClr>
          </a:solidFill>
          <a:ln cap="flat" cmpd="sng" w="12700">
            <a:solidFill>
              <a:srgbClr val="005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7" name="Google Shape;317;p7"/>
          <p:cNvPicPr preferRelativeResize="0"/>
          <p:nvPr/>
        </p:nvPicPr>
        <p:blipFill rotWithShape="1">
          <a:blip r:embed="rId4">
            <a:alphaModFix/>
          </a:blip>
          <a:srcRect b="0" l="-90" r="-90" t="0"/>
          <a:stretch/>
        </p:blipFill>
        <p:spPr>
          <a:xfrm>
            <a:off x="10230307" y="1000354"/>
            <a:ext cx="381305" cy="304495"/>
          </a:xfrm>
          <a:prstGeom prst="rect">
            <a:avLst/>
          </a:prstGeom>
          <a:noFill/>
          <a:ln>
            <a:noFill/>
          </a:ln>
        </p:spPr>
      </p:pic>
      <p:sp>
        <p:nvSpPr>
          <p:cNvPr id="318" name="Google Shape;318;p7"/>
          <p:cNvSpPr txBox="1"/>
          <p:nvPr/>
        </p:nvSpPr>
        <p:spPr>
          <a:xfrm>
            <a:off x="9908438" y="1399946"/>
            <a:ext cx="11576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人×AI協働型</a:t>
            </a:r>
            <a:endParaRPr b="0" i="0" sz="1300" u="none" cap="none" strike="noStrike">
              <a:solidFill>
                <a:schemeClr val="dk1"/>
              </a:solidFill>
              <a:latin typeface="Calibri"/>
              <a:ea typeface="Calibri"/>
              <a:cs typeface="Calibri"/>
              <a:sym typeface="Calibri"/>
            </a:endParaRPr>
          </a:p>
        </p:txBody>
      </p:sp>
      <p:sp>
        <p:nvSpPr>
          <p:cNvPr id="319" name="Google Shape;319;p7"/>
          <p:cNvSpPr txBox="1"/>
          <p:nvPr/>
        </p:nvSpPr>
        <p:spPr>
          <a:xfrm>
            <a:off x="9208922" y="1714500"/>
            <a:ext cx="2543861" cy="4197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AIが支え、人が提案する新連携モデル</a:t>
            </a:r>
            <a:endParaRPr b="0" i="0" sz="1200" u="none" cap="none" strike="noStrike">
              <a:solidFill>
                <a:schemeClr val="dk1"/>
              </a:solidFill>
              <a:latin typeface="Calibri"/>
              <a:ea typeface="Calibri"/>
              <a:cs typeface="Calibri"/>
              <a:sym typeface="Calibri"/>
            </a:endParaRPr>
          </a:p>
        </p:txBody>
      </p:sp>
      <p:sp>
        <p:nvSpPr>
          <p:cNvPr id="320" name="Google Shape;320;p7"/>
          <p:cNvSpPr/>
          <p:nvPr/>
        </p:nvSpPr>
        <p:spPr>
          <a:xfrm>
            <a:off x="6096305" y="2505456"/>
            <a:ext cx="2781605" cy="1476756"/>
          </a:xfrm>
          <a:prstGeom prst="rect">
            <a:avLst/>
          </a:prstGeom>
          <a:solidFill>
            <a:srgbClr val="81B0E3">
              <a:alpha val="9803"/>
            </a:srgbClr>
          </a:solidFill>
          <a:ln cap="flat" cmpd="sng" w="12700">
            <a:solidFill>
              <a:srgbClr val="005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1" name="Google Shape;321;p7"/>
          <p:cNvPicPr preferRelativeResize="0"/>
          <p:nvPr/>
        </p:nvPicPr>
        <p:blipFill rotWithShape="1">
          <a:blip r:embed="rId5">
            <a:alphaModFix/>
          </a:blip>
          <a:srcRect b="0" l="0" r="0" t="0"/>
          <a:stretch/>
        </p:blipFill>
        <p:spPr>
          <a:xfrm>
            <a:off x="7334402" y="2628900"/>
            <a:ext cx="304495" cy="304495"/>
          </a:xfrm>
          <a:prstGeom prst="rect">
            <a:avLst/>
          </a:prstGeom>
          <a:noFill/>
          <a:ln>
            <a:noFill/>
          </a:ln>
        </p:spPr>
      </p:pic>
      <p:sp>
        <p:nvSpPr>
          <p:cNvPr id="322" name="Google Shape;322;p7"/>
          <p:cNvSpPr txBox="1"/>
          <p:nvPr/>
        </p:nvSpPr>
        <p:spPr>
          <a:xfrm>
            <a:off x="6458407" y="3029407"/>
            <a:ext cx="21863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コスト最適・成果最大化型</a:t>
            </a:r>
            <a:endParaRPr b="0" i="0" sz="1300" u="none" cap="none" strike="noStrike">
              <a:solidFill>
                <a:schemeClr val="dk1"/>
              </a:solidFill>
              <a:latin typeface="Calibri"/>
              <a:ea typeface="Calibri"/>
              <a:cs typeface="Calibri"/>
              <a:sym typeface="Calibri"/>
            </a:endParaRPr>
          </a:p>
        </p:txBody>
      </p:sp>
      <p:sp>
        <p:nvSpPr>
          <p:cNvPr id="323" name="Google Shape;323;p7"/>
          <p:cNvSpPr txBox="1"/>
          <p:nvPr/>
        </p:nvSpPr>
        <p:spPr>
          <a:xfrm>
            <a:off x="6270955" y="3343046"/>
            <a:ext cx="2553005" cy="4197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少ないリソースで高いパフォーマンス</a:t>
            </a:r>
            <a:endParaRPr b="0" i="0" sz="1200" u="none" cap="none" strike="noStrike">
              <a:solidFill>
                <a:schemeClr val="dk1"/>
              </a:solidFill>
              <a:latin typeface="Calibri"/>
              <a:ea typeface="Calibri"/>
              <a:cs typeface="Calibri"/>
              <a:sym typeface="Calibri"/>
            </a:endParaRPr>
          </a:p>
        </p:txBody>
      </p:sp>
      <p:sp>
        <p:nvSpPr>
          <p:cNvPr id="324" name="Google Shape;324;p7"/>
          <p:cNvSpPr/>
          <p:nvPr/>
        </p:nvSpPr>
        <p:spPr>
          <a:xfrm>
            <a:off x="9029700" y="2505456"/>
            <a:ext cx="2781605" cy="1476756"/>
          </a:xfrm>
          <a:prstGeom prst="rect">
            <a:avLst/>
          </a:prstGeom>
          <a:solidFill>
            <a:srgbClr val="81B0E3">
              <a:alpha val="9803"/>
            </a:srgbClr>
          </a:solidFill>
          <a:ln cap="flat" cmpd="sng" w="12700">
            <a:solidFill>
              <a:srgbClr val="005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5" name="Google Shape;325;p7"/>
          <p:cNvPicPr preferRelativeResize="0"/>
          <p:nvPr/>
        </p:nvPicPr>
        <p:blipFill rotWithShape="1">
          <a:blip r:embed="rId6">
            <a:alphaModFix/>
          </a:blip>
          <a:srcRect b="0" l="0" r="0" t="0"/>
          <a:stretch/>
        </p:blipFill>
        <p:spPr>
          <a:xfrm>
            <a:off x="10267798" y="2628900"/>
            <a:ext cx="304495" cy="304495"/>
          </a:xfrm>
          <a:prstGeom prst="rect">
            <a:avLst/>
          </a:prstGeom>
          <a:noFill/>
          <a:ln>
            <a:noFill/>
          </a:ln>
        </p:spPr>
      </p:pic>
      <p:sp>
        <p:nvSpPr>
          <p:cNvPr id="326" name="Google Shape;326;p7"/>
          <p:cNvSpPr txBox="1"/>
          <p:nvPr/>
        </p:nvSpPr>
        <p:spPr>
          <a:xfrm>
            <a:off x="9991649" y="3029407"/>
            <a:ext cx="986638"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安定運用型</a:t>
            </a:r>
            <a:endParaRPr b="0" i="0" sz="1300" u="none" cap="none" strike="noStrike">
              <a:solidFill>
                <a:schemeClr val="dk1"/>
              </a:solidFill>
              <a:latin typeface="Calibri"/>
              <a:ea typeface="Calibri"/>
              <a:cs typeface="Calibri"/>
              <a:sym typeface="Calibri"/>
            </a:endParaRPr>
          </a:p>
        </p:txBody>
      </p:sp>
      <p:sp>
        <p:nvSpPr>
          <p:cNvPr id="327" name="Google Shape;327;p7"/>
          <p:cNvSpPr txBox="1"/>
          <p:nvPr/>
        </p:nvSpPr>
        <p:spPr>
          <a:xfrm>
            <a:off x="9353398" y="3343046"/>
            <a:ext cx="2257654"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担当変更や繁忙期でも品質維持</a:t>
            </a:r>
            <a:endParaRPr b="0" i="0" sz="1200" u="none" cap="none" strike="noStrike">
              <a:solidFill>
                <a:schemeClr val="dk1"/>
              </a:solidFill>
              <a:latin typeface="Calibri"/>
              <a:ea typeface="Calibri"/>
              <a:cs typeface="Calibri"/>
              <a:sym typeface="Calibri"/>
            </a:endParaRPr>
          </a:p>
        </p:txBody>
      </p:sp>
      <p:sp>
        <p:nvSpPr>
          <p:cNvPr id="328" name="Google Shape;328;p7"/>
          <p:cNvSpPr/>
          <p:nvPr/>
        </p:nvSpPr>
        <p:spPr>
          <a:xfrm>
            <a:off x="6096300" y="4134001"/>
            <a:ext cx="5715000" cy="1254600"/>
          </a:xfrm>
          <a:prstGeom prst="rect">
            <a:avLst/>
          </a:prstGeom>
          <a:solidFill>
            <a:srgbClr val="81B0E3">
              <a:alpha val="9803"/>
            </a:srgbClr>
          </a:solidFill>
          <a:ln cap="flat" cmpd="sng" w="12700">
            <a:solidFill>
              <a:srgbClr val="005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9" name="Google Shape;329;p7"/>
          <p:cNvPicPr preferRelativeResize="0"/>
          <p:nvPr/>
        </p:nvPicPr>
        <p:blipFill rotWithShape="1">
          <a:blip r:embed="rId7">
            <a:alphaModFix/>
          </a:blip>
          <a:srcRect b="0" l="0" r="0" t="0"/>
          <a:stretch/>
        </p:blipFill>
        <p:spPr>
          <a:xfrm>
            <a:off x="8801100" y="4257446"/>
            <a:ext cx="304495" cy="304495"/>
          </a:xfrm>
          <a:prstGeom prst="rect">
            <a:avLst/>
          </a:prstGeom>
          <a:noFill/>
          <a:ln>
            <a:noFill/>
          </a:ln>
        </p:spPr>
      </p:pic>
      <p:sp>
        <p:nvSpPr>
          <p:cNvPr id="330" name="Google Shape;330;p7"/>
          <p:cNvSpPr txBox="1"/>
          <p:nvPr/>
        </p:nvSpPr>
        <p:spPr>
          <a:xfrm>
            <a:off x="8524951" y="4657954"/>
            <a:ext cx="986638"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300"/>
              <a:buFont typeface="Noto Sans JP"/>
              <a:buNone/>
            </a:pPr>
            <a:r>
              <a:rPr b="1" i="0" lang="en-US" sz="1300" u="none" cap="none" strike="noStrike">
                <a:solidFill>
                  <a:srgbClr val="0052CC"/>
                </a:solidFill>
                <a:latin typeface="Noto Sans JP"/>
                <a:ea typeface="Noto Sans JP"/>
                <a:cs typeface="Noto Sans JP"/>
                <a:sym typeface="Noto Sans JP"/>
              </a:rPr>
              <a:t>未来志向型</a:t>
            </a:r>
            <a:endParaRPr b="0" i="0" sz="1300" u="none" cap="none" strike="noStrike">
              <a:solidFill>
                <a:schemeClr val="dk1"/>
              </a:solidFill>
              <a:latin typeface="Calibri"/>
              <a:ea typeface="Calibri"/>
              <a:cs typeface="Calibri"/>
              <a:sym typeface="Calibri"/>
            </a:endParaRPr>
          </a:p>
        </p:txBody>
      </p:sp>
      <p:sp>
        <p:nvSpPr>
          <p:cNvPr id="331" name="Google Shape;331;p7"/>
          <p:cNvSpPr txBox="1"/>
          <p:nvPr/>
        </p:nvSpPr>
        <p:spPr>
          <a:xfrm>
            <a:off x="7515454" y="4972507"/>
            <a:ext cx="2991002"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AIを活かして提案スピード・価値を高める</a:t>
            </a:r>
            <a:endParaRPr b="0" i="0" sz="1200" u="none" cap="none" strike="noStrike">
              <a:solidFill>
                <a:schemeClr val="dk1"/>
              </a:solidFill>
              <a:latin typeface="Calibri"/>
              <a:ea typeface="Calibri"/>
              <a:cs typeface="Calibri"/>
              <a:sym typeface="Calibri"/>
            </a:endParaRPr>
          </a:p>
        </p:txBody>
      </p:sp>
      <p:sp>
        <p:nvSpPr>
          <p:cNvPr id="332" name="Google Shape;332;p7"/>
          <p:cNvSpPr/>
          <p:nvPr/>
        </p:nvSpPr>
        <p:spPr>
          <a:xfrm>
            <a:off x="6095855" y="5481819"/>
            <a:ext cx="5715000" cy="609900"/>
          </a:xfrm>
          <a:prstGeom prst="rect">
            <a:avLst/>
          </a:prstGeom>
          <a:solidFill>
            <a:srgbClr val="81B0E3">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7"/>
          <p:cNvSpPr/>
          <p:nvPr/>
        </p:nvSpPr>
        <p:spPr>
          <a:xfrm>
            <a:off x="6081680" y="5464044"/>
            <a:ext cx="28200" cy="609900"/>
          </a:xfrm>
          <a:prstGeom prst="rect">
            <a:avLst/>
          </a:prstGeom>
          <a:solidFill>
            <a:srgbClr val="005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7"/>
          <p:cNvSpPr txBox="1"/>
          <p:nvPr/>
        </p:nvSpPr>
        <p:spPr>
          <a:xfrm>
            <a:off x="6191396" y="5540404"/>
            <a:ext cx="55248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3C7B"/>
              </a:buClr>
              <a:buSzPts val="1200"/>
              <a:buFont typeface="Noto Sans JP"/>
              <a:buNone/>
            </a:pPr>
            <a:r>
              <a:rPr b="0" i="0" lang="en-US" sz="1200" u="none" cap="none" strike="noStrike">
                <a:solidFill>
                  <a:srgbClr val="0B3C7B"/>
                </a:solidFill>
                <a:latin typeface="Noto Sans JP"/>
                <a:ea typeface="Noto Sans JP"/>
                <a:cs typeface="Noto Sans JP"/>
                <a:sym typeface="Noto Sans JP"/>
              </a:rPr>
              <a:t>重要ポイント: お客様の状況に合わせて最適な提案パターンを組み合わせ、価値最大化を実現します</a:t>
            </a:r>
            <a:endParaRPr b="0" i="0" sz="1200" u="none" cap="none" strike="noStrike">
              <a:solidFill>
                <a:schemeClr val="dk1"/>
              </a:solidFill>
              <a:latin typeface="Calibri"/>
              <a:ea typeface="Calibri"/>
              <a:cs typeface="Calibri"/>
              <a:sym typeface="Calibri"/>
            </a:endParaRPr>
          </a:p>
        </p:txBody>
      </p:sp>
      <p:sp>
        <p:nvSpPr>
          <p:cNvPr id="335" name="Google Shape;335;p7"/>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52CC"/>
              </a:buClr>
              <a:buSzPts val="1200"/>
              <a:buFont typeface="Noto Sans JP"/>
              <a:buNone/>
            </a:pPr>
            <a:r>
              <a:rPr b="0" i="0" lang="en-US" sz="1200" u="none" cap="none" strike="noStrike">
                <a:solidFill>
                  <a:srgbClr val="0052CC"/>
                </a:solidFill>
                <a:latin typeface="Noto Sans JP"/>
                <a:ea typeface="Noto Sans JP"/>
                <a:cs typeface="Noto Sans JP"/>
                <a:sym typeface="Noto Sans JP"/>
              </a:rPr>
              <a:t>7</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8"/>
          <p:cNvSpPr/>
          <p:nvPr/>
        </p:nvSpPr>
        <p:spPr>
          <a:xfrm>
            <a:off x="0" y="0"/>
            <a:ext cx="12191695"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8"/>
          <p:cNvSpPr/>
          <p:nvPr/>
        </p:nvSpPr>
        <p:spPr>
          <a:xfrm>
            <a:off x="9810600" y="-2"/>
            <a:ext cx="2352600" cy="19047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8"/>
          <p:cNvSpPr/>
          <p:nvPr/>
        </p:nvSpPr>
        <p:spPr>
          <a:xfrm>
            <a:off x="952800" y="5429702"/>
            <a:ext cx="1904700" cy="14283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8"/>
          <p:cNvSpPr txBox="1"/>
          <p:nvPr/>
        </p:nvSpPr>
        <p:spPr>
          <a:xfrm>
            <a:off x="381305" y="898855"/>
            <a:ext cx="2667305"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2700"/>
              <a:buFont typeface="Noto Sans JP"/>
              <a:buNone/>
            </a:pPr>
            <a:r>
              <a:rPr b="1" i="0" lang="en-US" sz="2700" u="none" cap="none" strike="noStrike">
                <a:solidFill>
                  <a:srgbClr val="0A2463"/>
                </a:solidFill>
                <a:latin typeface="Noto Sans JP"/>
                <a:ea typeface="Noto Sans JP"/>
                <a:cs typeface="Noto Sans JP"/>
                <a:sym typeface="Noto Sans JP"/>
              </a:rPr>
              <a:t>懸念点と解決策</a:t>
            </a:r>
            <a:endParaRPr b="0" i="0" sz="2700" u="none" cap="none" strike="noStrike">
              <a:solidFill>
                <a:schemeClr val="dk1"/>
              </a:solidFill>
              <a:latin typeface="Calibri"/>
              <a:ea typeface="Calibri"/>
              <a:cs typeface="Calibri"/>
              <a:sym typeface="Calibri"/>
            </a:endParaRPr>
          </a:p>
        </p:txBody>
      </p:sp>
      <p:sp>
        <p:nvSpPr>
          <p:cNvPr id="345" name="Google Shape;345;p8"/>
          <p:cNvSpPr/>
          <p:nvPr/>
        </p:nvSpPr>
        <p:spPr>
          <a:xfrm>
            <a:off x="381305" y="1472184"/>
            <a:ext cx="571500" cy="384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8"/>
          <p:cNvSpPr txBox="1"/>
          <p:nvPr/>
        </p:nvSpPr>
        <p:spPr>
          <a:xfrm>
            <a:off x="381305" y="1739189"/>
            <a:ext cx="5401361"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AI導入時によくある懸念事項： お客様からいただく4つの主な懸念事項とその対応策をまとめました</a:t>
            </a:r>
            <a:endParaRPr b="0" i="0" sz="1200" u="none" cap="none" strike="noStrike">
              <a:solidFill>
                <a:schemeClr val="dk1"/>
              </a:solidFill>
              <a:latin typeface="Calibri"/>
              <a:ea typeface="Calibri"/>
              <a:cs typeface="Calibri"/>
              <a:sym typeface="Calibri"/>
            </a:endParaRPr>
          </a:p>
        </p:txBody>
      </p:sp>
      <p:sp>
        <p:nvSpPr>
          <p:cNvPr id="347" name="Google Shape;347;p8"/>
          <p:cNvSpPr txBox="1"/>
          <p:nvPr/>
        </p:nvSpPr>
        <p:spPr>
          <a:xfrm>
            <a:off x="381305" y="2349094"/>
            <a:ext cx="13432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基本的な考え方：</a:t>
            </a:r>
            <a:endParaRPr b="0" i="0" sz="1200" u="none" cap="none" strike="noStrike">
              <a:solidFill>
                <a:schemeClr val="dk1"/>
              </a:solidFill>
              <a:latin typeface="Calibri"/>
              <a:ea typeface="Calibri"/>
              <a:cs typeface="Calibri"/>
              <a:sym typeface="Calibri"/>
            </a:endParaRPr>
          </a:p>
        </p:txBody>
      </p:sp>
      <p:sp>
        <p:nvSpPr>
          <p:cNvPr id="348" name="Google Shape;348;p8"/>
          <p:cNvSpPr txBox="1"/>
          <p:nvPr/>
        </p:nvSpPr>
        <p:spPr>
          <a:xfrm>
            <a:off x="609905" y="2729484"/>
            <a:ext cx="316291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人間の判断が最終的に重要である点を明確化</a:t>
            </a:r>
            <a:endParaRPr b="0" i="0" sz="1200" u="none" cap="none" strike="noStrike">
              <a:solidFill>
                <a:schemeClr val="dk1"/>
              </a:solidFill>
              <a:latin typeface="Calibri"/>
              <a:ea typeface="Calibri"/>
              <a:cs typeface="Calibri"/>
              <a:sym typeface="Calibri"/>
            </a:endParaRPr>
          </a:p>
        </p:txBody>
      </p:sp>
      <p:sp>
        <p:nvSpPr>
          <p:cNvPr id="349" name="Google Shape;349;p8"/>
          <p:cNvSpPr txBox="1"/>
          <p:nvPr/>
        </p:nvSpPr>
        <p:spPr>
          <a:xfrm>
            <a:off x="609905" y="3034894"/>
            <a:ext cx="25630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段階的な導入で効果と安全性を確認</a:t>
            </a:r>
            <a:endParaRPr b="0" i="0" sz="1200" u="none" cap="none" strike="noStrike">
              <a:solidFill>
                <a:schemeClr val="dk1"/>
              </a:solidFill>
              <a:latin typeface="Calibri"/>
              <a:ea typeface="Calibri"/>
              <a:cs typeface="Calibri"/>
              <a:sym typeface="Calibri"/>
            </a:endParaRPr>
          </a:p>
        </p:txBody>
      </p:sp>
      <p:sp>
        <p:nvSpPr>
          <p:cNvPr id="350" name="Google Shape;350;p8"/>
          <p:cNvSpPr txBox="1"/>
          <p:nvPr/>
        </p:nvSpPr>
        <p:spPr>
          <a:xfrm>
            <a:off x="609905" y="3339389"/>
            <a:ext cx="2791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常に改善し続けるPDCAサイクルの確立</a:t>
            </a:r>
            <a:endParaRPr b="0" i="0" sz="1200" u="none" cap="none" strike="noStrike">
              <a:solidFill>
                <a:schemeClr val="dk1"/>
              </a:solidFill>
              <a:latin typeface="Calibri"/>
              <a:ea typeface="Calibri"/>
              <a:cs typeface="Calibri"/>
              <a:sym typeface="Calibri"/>
            </a:endParaRPr>
          </a:p>
        </p:txBody>
      </p:sp>
      <p:sp>
        <p:nvSpPr>
          <p:cNvPr id="351" name="Google Shape;351;p8"/>
          <p:cNvSpPr txBox="1"/>
          <p:nvPr/>
        </p:nvSpPr>
        <p:spPr>
          <a:xfrm>
            <a:off x="609905" y="3643884"/>
            <a:ext cx="24103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人間の価値を高める方向での活用</a:t>
            </a:r>
            <a:endParaRPr b="0" i="0" sz="1200" u="none" cap="none" strike="noStrike">
              <a:solidFill>
                <a:schemeClr val="dk1"/>
              </a:solidFill>
              <a:latin typeface="Calibri"/>
              <a:ea typeface="Calibri"/>
              <a:cs typeface="Calibri"/>
              <a:sym typeface="Calibri"/>
            </a:endParaRPr>
          </a:p>
        </p:txBody>
      </p:sp>
      <p:sp>
        <p:nvSpPr>
          <p:cNvPr id="352" name="Google Shape;352;p8"/>
          <p:cNvSpPr/>
          <p:nvPr/>
        </p:nvSpPr>
        <p:spPr>
          <a:xfrm>
            <a:off x="381305" y="4025189"/>
            <a:ext cx="5410505" cy="838505"/>
          </a:xfrm>
          <a:prstGeom prst="roundRect">
            <a:avLst>
              <a:gd fmla="val 9914" name="adj"/>
            </a:avLst>
          </a:prstGeom>
          <a:solidFill>
            <a:srgbClr val="3E92CC">
              <a:alpha val="9803"/>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8"/>
          <p:cNvSpPr txBox="1"/>
          <p:nvPr/>
        </p:nvSpPr>
        <p:spPr>
          <a:xfrm>
            <a:off x="577901" y="4187038"/>
            <a:ext cx="5148986" cy="50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300"/>
              <a:buFont typeface="Noto Sans JP"/>
              <a:buNone/>
            </a:pPr>
            <a:r>
              <a:rPr b="1" i="0" lang="en-US" sz="1300" u="none" cap="none" strike="noStrike">
                <a:solidFill>
                  <a:srgbClr val="0A2463"/>
                </a:solidFill>
                <a:latin typeface="Noto Sans JP"/>
                <a:ea typeface="Noto Sans JP"/>
                <a:cs typeface="Noto Sans JP"/>
                <a:sym typeface="Noto Sans JP"/>
              </a:rPr>
              <a:t>「AIが"冷たい"のではなく、"人が冷たくならずに済む"ための導入です」</a:t>
            </a:r>
            <a:endParaRPr b="0" i="0" sz="1300" u="none" cap="none" strike="noStrike">
              <a:solidFill>
                <a:schemeClr val="dk1"/>
              </a:solidFill>
              <a:latin typeface="Calibri"/>
              <a:ea typeface="Calibri"/>
              <a:cs typeface="Calibri"/>
              <a:sym typeface="Calibri"/>
            </a:endParaRPr>
          </a:p>
        </p:txBody>
      </p:sp>
      <p:sp>
        <p:nvSpPr>
          <p:cNvPr id="354" name="Google Shape;354;p8"/>
          <p:cNvSpPr txBox="1"/>
          <p:nvPr/>
        </p:nvSpPr>
        <p:spPr>
          <a:xfrm>
            <a:off x="7696505" y="381305"/>
            <a:ext cx="26865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E92CC"/>
              </a:buClr>
              <a:buSzPts val="1800"/>
              <a:buFont typeface="Noto Sans JP"/>
              <a:buNone/>
            </a:pPr>
            <a:r>
              <a:rPr b="1" i="0" lang="en-US" sz="1800" u="none" cap="none" strike="noStrike">
                <a:solidFill>
                  <a:srgbClr val="3E92CC"/>
                </a:solidFill>
                <a:latin typeface="Noto Sans JP"/>
                <a:ea typeface="Noto Sans JP"/>
                <a:cs typeface="Noto Sans JP"/>
                <a:sym typeface="Noto Sans JP"/>
              </a:rPr>
              <a:t>想定される懸念と対応策</a:t>
            </a:r>
            <a:endParaRPr b="0" i="0" sz="1800" u="none" cap="none" strike="noStrike">
              <a:solidFill>
                <a:schemeClr val="dk1"/>
              </a:solidFill>
              <a:latin typeface="Calibri"/>
              <a:ea typeface="Calibri"/>
              <a:cs typeface="Calibri"/>
              <a:sym typeface="Calibri"/>
            </a:endParaRPr>
          </a:p>
        </p:txBody>
      </p:sp>
      <p:sp>
        <p:nvSpPr>
          <p:cNvPr id="355" name="Google Shape;355;p8"/>
          <p:cNvSpPr/>
          <p:nvPr/>
        </p:nvSpPr>
        <p:spPr>
          <a:xfrm>
            <a:off x="6100877" y="881482"/>
            <a:ext cx="2857500" cy="466344"/>
          </a:xfrm>
          <a:prstGeom prst="rect">
            <a:avLst/>
          </a:prstGeom>
          <a:solidFill>
            <a:srgbClr val="3E92CC">
              <a:alpha val="20000"/>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8"/>
          <p:cNvSpPr txBox="1"/>
          <p:nvPr/>
        </p:nvSpPr>
        <p:spPr>
          <a:xfrm>
            <a:off x="6993331" y="1000354"/>
            <a:ext cx="1191463"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想定される懸念</a:t>
            </a:r>
            <a:endParaRPr b="0" i="0" sz="1200" u="none" cap="none" strike="noStrike">
              <a:solidFill>
                <a:schemeClr val="dk1"/>
              </a:solidFill>
              <a:latin typeface="Calibri"/>
              <a:ea typeface="Calibri"/>
              <a:cs typeface="Calibri"/>
              <a:sym typeface="Calibri"/>
            </a:endParaRPr>
          </a:p>
        </p:txBody>
      </p:sp>
      <p:sp>
        <p:nvSpPr>
          <p:cNvPr id="357" name="Google Shape;357;p8"/>
          <p:cNvSpPr/>
          <p:nvPr/>
        </p:nvSpPr>
        <p:spPr>
          <a:xfrm>
            <a:off x="8953805" y="881482"/>
            <a:ext cx="2857500" cy="466344"/>
          </a:xfrm>
          <a:prstGeom prst="rect">
            <a:avLst/>
          </a:prstGeom>
          <a:solidFill>
            <a:srgbClr val="3E92CC">
              <a:alpha val="20000"/>
            </a:srgbClr>
          </a:solid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8"/>
          <p:cNvSpPr txBox="1"/>
          <p:nvPr/>
        </p:nvSpPr>
        <p:spPr>
          <a:xfrm>
            <a:off x="10150754" y="1000354"/>
            <a:ext cx="581558"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対応策</a:t>
            </a:r>
            <a:endParaRPr b="0" i="0" sz="1200" u="none" cap="none" strike="noStrike">
              <a:solidFill>
                <a:schemeClr val="dk1"/>
              </a:solidFill>
              <a:latin typeface="Calibri"/>
              <a:ea typeface="Calibri"/>
              <a:cs typeface="Calibri"/>
              <a:sym typeface="Calibri"/>
            </a:endParaRPr>
          </a:p>
        </p:txBody>
      </p:sp>
      <p:sp>
        <p:nvSpPr>
          <p:cNvPr id="359" name="Google Shape;359;p8"/>
          <p:cNvSpPr/>
          <p:nvPr/>
        </p:nvSpPr>
        <p:spPr>
          <a:xfrm>
            <a:off x="6100877" y="1347826"/>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8"/>
          <p:cNvSpPr txBox="1"/>
          <p:nvPr/>
        </p:nvSpPr>
        <p:spPr>
          <a:xfrm>
            <a:off x="6219749" y="1580998"/>
            <a:ext cx="22576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柔軟な対応ができないのでは？</a:t>
            </a:r>
            <a:endParaRPr b="0" i="0" sz="1200" u="none" cap="none" strike="noStrike">
              <a:solidFill>
                <a:schemeClr val="dk1"/>
              </a:solidFill>
              <a:latin typeface="Calibri"/>
              <a:ea typeface="Calibri"/>
              <a:cs typeface="Calibri"/>
              <a:sym typeface="Calibri"/>
            </a:endParaRPr>
          </a:p>
        </p:txBody>
      </p:sp>
      <p:sp>
        <p:nvSpPr>
          <p:cNvPr id="361" name="Google Shape;361;p8"/>
          <p:cNvSpPr/>
          <p:nvPr/>
        </p:nvSpPr>
        <p:spPr>
          <a:xfrm>
            <a:off x="8953805" y="1347826"/>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8"/>
          <p:cNvSpPr txBox="1"/>
          <p:nvPr/>
        </p:nvSpPr>
        <p:spPr>
          <a:xfrm>
            <a:off x="9072677" y="1466698"/>
            <a:ext cx="270571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人が最終判断を行うハイブリッド体制を構築</a:t>
            </a:r>
            <a:endParaRPr b="0" i="0" sz="1200" u="none" cap="none" strike="noStrike">
              <a:solidFill>
                <a:schemeClr val="dk1"/>
              </a:solidFill>
              <a:latin typeface="Calibri"/>
              <a:ea typeface="Calibri"/>
              <a:cs typeface="Calibri"/>
              <a:sym typeface="Calibri"/>
            </a:endParaRPr>
          </a:p>
        </p:txBody>
      </p:sp>
      <p:sp>
        <p:nvSpPr>
          <p:cNvPr id="363" name="Google Shape;363;p8"/>
          <p:cNvSpPr/>
          <p:nvPr/>
        </p:nvSpPr>
        <p:spPr>
          <a:xfrm>
            <a:off x="6100877" y="2042770"/>
            <a:ext cx="2857500" cy="4663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8"/>
          <p:cNvSpPr txBox="1"/>
          <p:nvPr/>
        </p:nvSpPr>
        <p:spPr>
          <a:xfrm>
            <a:off x="6219749" y="2162556"/>
            <a:ext cx="19531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初期コストが高いのでは？</a:t>
            </a:r>
            <a:endParaRPr b="0" i="0" sz="1200" u="none" cap="none" strike="noStrike">
              <a:solidFill>
                <a:schemeClr val="dk1"/>
              </a:solidFill>
              <a:latin typeface="Calibri"/>
              <a:ea typeface="Calibri"/>
              <a:cs typeface="Calibri"/>
              <a:sym typeface="Calibri"/>
            </a:endParaRPr>
          </a:p>
        </p:txBody>
      </p:sp>
      <p:sp>
        <p:nvSpPr>
          <p:cNvPr id="365" name="Google Shape;365;p8"/>
          <p:cNvSpPr/>
          <p:nvPr/>
        </p:nvSpPr>
        <p:spPr>
          <a:xfrm>
            <a:off x="8953805" y="2042770"/>
            <a:ext cx="2857500" cy="4663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8"/>
          <p:cNvSpPr txBox="1"/>
          <p:nvPr/>
        </p:nvSpPr>
        <p:spPr>
          <a:xfrm>
            <a:off x="9072677" y="2162556"/>
            <a:ext cx="23527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段階導入＋ROIを数値化して提示</a:t>
            </a:r>
            <a:endParaRPr b="0" i="0" sz="1200" u="none" cap="none" strike="noStrike">
              <a:solidFill>
                <a:schemeClr val="dk1"/>
              </a:solidFill>
              <a:latin typeface="Calibri"/>
              <a:ea typeface="Calibri"/>
              <a:cs typeface="Calibri"/>
              <a:sym typeface="Calibri"/>
            </a:endParaRPr>
          </a:p>
        </p:txBody>
      </p:sp>
      <p:sp>
        <p:nvSpPr>
          <p:cNvPr id="367" name="Google Shape;367;p8"/>
          <p:cNvSpPr/>
          <p:nvPr/>
        </p:nvSpPr>
        <p:spPr>
          <a:xfrm>
            <a:off x="6100877" y="2510028"/>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8"/>
          <p:cNvSpPr txBox="1"/>
          <p:nvPr/>
        </p:nvSpPr>
        <p:spPr>
          <a:xfrm>
            <a:off x="6219749" y="2743200"/>
            <a:ext cx="14767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AIが誤作動したら？</a:t>
            </a:r>
            <a:endParaRPr b="0" i="0" sz="1200" u="none" cap="none" strike="noStrike">
              <a:solidFill>
                <a:schemeClr val="dk1"/>
              </a:solidFill>
              <a:latin typeface="Calibri"/>
              <a:ea typeface="Calibri"/>
              <a:cs typeface="Calibri"/>
              <a:sym typeface="Calibri"/>
            </a:endParaRPr>
          </a:p>
        </p:txBody>
      </p:sp>
      <p:sp>
        <p:nvSpPr>
          <p:cNvPr id="369" name="Google Shape;369;p8"/>
          <p:cNvSpPr/>
          <p:nvPr/>
        </p:nvSpPr>
        <p:spPr>
          <a:xfrm>
            <a:off x="8953805" y="2510028"/>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8"/>
          <p:cNvSpPr txBox="1"/>
          <p:nvPr/>
        </p:nvSpPr>
        <p:spPr>
          <a:xfrm>
            <a:off x="9072677" y="2628900"/>
            <a:ext cx="270571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常時監視＋人によるチェック体制の確立</a:t>
            </a:r>
            <a:endParaRPr b="0" i="0" sz="1200" u="none" cap="none" strike="noStrike">
              <a:solidFill>
                <a:schemeClr val="dk1"/>
              </a:solidFill>
              <a:latin typeface="Calibri"/>
              <a:ea typeface="Calibri"/>
              <a:cs typeface="Calibri"/>
              <a:sym typeface="Calibri"/>
            </a:endParaRPr>
          </a:p>
        </p:txBody>
      </p:sp>
      <p:sp>
        <p:nvSpPr>
          <p:cNvPr id="371" name="Google Shape;371;p8"/>
          <p:cNvSpPr/>
          <p:nvPr/>
        </p:nvSpPr>
        <p:spPr>
          <a:xfrm>
            <a:off x="6100877" y="3204972"/>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8"/>
          <p:cNvSpPr txBox="1"/>
          <p:nvPr/>
        </p:nvSpPr>
        <p:spPr>
          <a:xfrm>
            <a:off x="6219749" y="3438144"/>
            <a:ext cx="25630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機械的で冷たい印象になるのでは？</a:t>
            </a:r>
            <a:endParaRPr b="0" i="0" sz="1200" u="none" cap="none" strike="noStrike">
              <a:solidFill>
                <a:schemeClr val="dk1"/>
              </a:solidFill>
              <a:latin typeface="Calibri"/>
              <a:ea typeface="Calibri"/>
              <a:cs typeface="Calibri"/>
              <a:sym typeface="Calibri"/>
            </a:endParaRPr>
          </a:p>
        </p:txBody>
      </p:sp>
      <p:sp>
        <p:nvSpPr>
          <p:cNvPr id="373" name="Google Shape;373;p8"/>
          <p:cNvSpPr/>
          <p:nvPr/>
        </p:nvSpPr>
        <p:spPr>
          <a:xfrm>
            <a:off x="8953805" y="3204972"/>
            <a:ext cx="2857500" cy="694944"/>
          </a:xfrm>
          <a:prstGeom prst="rect">
            <a:avLst/>
          </a:prstGeom>
          <a:noFill/>
          <a:ln cap="flat" cmpd="sng" w="12700">
            <a:solidFill>
              <a:srgbClr val="3E92C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8"/>
          <p:cNvSpPr txBox="1"/>
          <p:nvPr/>
        </p:nvSpPr>
        <p:spPr>
          <a:xfrm>
            <a:off x="9072677" y="3323844"/>
            <a:ext cx="271485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顧客接点は人が直接対応し、温かみを維持</a:t>
            </a:r>
            <a:endParaRPr b="0" i="0" sz="1200" u="none" cap="none" strike="noStrike">
              <a:solidFill>
                <a:schemeClr val="dk1"/>
              </a:solidFill>
              <a:latin typeface="Calibri"/>
              <a:ea typeface="Calibri"/>
              <a:cs typeface="Calibri"/>
              <a:sym typeface="Calibri"/>
            </a:endParaRPr>
          </a:p>
        </p:txBody>
      </p:sp>
      <p:sp>
        <p:nvSpPr>
          <p:cNvPr id="375" name="Google Shape;375;p8"/>
          <p:cNvSpPr/>
          <p:nvPr/>
        </p:nvSpPr>
        <p:spPr>
          <a:xfrm>
            <a:off x="6096305" y="4134002"/>
            <a:ext cx="1809598" cy="1181405"/>
          </a:xfrm>
          <a:prstGeom prst="rect">
            <a:avLst/>
          </a:prstGeom>
          <a:solidFill>
            <a:srgbClr val="3E92CC">
              <a:alpha val="9803"/>
            </a:srgbClr>
          </a:solidFill>
          <a:ln cap="flat" cmpd="sng" w="12700">
            <a:solidFill>
              <a:srgbClr val="3E9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6" name="Google Shape;376;p8"/>
          <p:cNvPicPr preferRelativeResize="0"/>
          <p:nvPr/>
        </p:nvPicPr>
        <p:blipFill rotWithShape="1">
          <a:blip r:embed="rId3">
            <a:alphaModFix/>
          </a:blip>
          <a:srcRect b="0" l="-80" r="-80" t="0"/>
          <a:stretch/>
        </p:blipFill>
        <p:spPr>
          <a:xfrm>
            <a:off x="6854342" y="4257446"/>
            <a:ext cx="286207" cy="228600"/>
          </a:xfrm>
          <a:prstGeom prst="rect">
            <a:avLst/>
          </a:prstGeom>
          <a:noFill/>
          <a:ln>
            <a:noFill/>
          </a:ln>
        </p:spPr>
      </p:pic>
      <p:sp>
        <p:nvSpPr>
          <p:cNvPr id="377" name="Google Shape;377;p8"/>
          <p:cNvSpPr txBox="1"/>
          <p:nvPr/>
        </p:nvSpPr>
        <p:spPr>
          <a:xfrm>
            <a:off x="6692494" y="4581144"/>
            <a:ext cx="734263"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人間主導</a:t>
            </a:r>
            <a:endParaRPr b="0" i="0" sz="1200" u="none" cap="none" strike="noStrike">
              <a:solidFill>
                <a:schemeClr val="dk1"/>
              </a:solidFill>
              <a:latin typeface="Calibri"/>
              <a:ea typeface="Calibri"/>
              <a:cs typeface="Calibri"/>
              <a:sym typeface="Calibri"/>
            </a:endParaRPr>
          </a:p>
        </p:txBody>
      </p:sp>
      <p:sp>
        <p:nvSpPr>
          <p:cNvPr id="378" name="Google Shape;378;p8"/>
          <p:cNvSpPr txBox="1"/>
          <p:nvPr/>
        </p:nvSpPr>
        <p:spPr>
          <a:xfrm>
            <a:off x="6270955" y="4809744"/>
            <a:ext cx="1558138" cy="38130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AIはあくまで人間の判断を支援するツール</a:t>
            </a:r>
            <a:endParaRPr b="0" i="0" sz="1000" u="none" cap="none" strike="noStrike">
              <a:solidFill>
                <a:schemeClr val="dk1"/>
              </a:solidFill>
              <a:latin typeface="Calibri"/>
              <a:ea typeface="Calibri"/>
              <a:cs typeface="Calibri"/>
              <a:sym typeface="Calibri"/>
            </a:endParaRPr>
          </a:p>
        </p:txBody>
      </p:sp>
      <p:sp>
        <p:nvSpPr>
          <p:cNvPr id="379" name="Google Shape;379;p8"/>
          <p:cNvSpPr/>
          <p:nvPr/>
        </p:nvSpPr>
        <p:spPr>
          <a:xfrm>
            <a:off x="8052206" y="4134002"/>
            <a:ext cx="1809598" cy="1181405"/>
          </a:xfrm>
          <a:prstGeom prst="rect">
            <a:avLst/>
          </a:prstGeom>
          <a:solidFill>
            <a:srgbClr val="3E92CC">
              <a:alpha val="9803"/>
            </a:srgbClr>
          </a:solidFill>
          <a:ln cap="flat" cmpd="sng" w="12700">
            <a:solidFill>
              <a:srgbClr val="3E9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0" name="Google Shape;380;p8"/>
          <p:cNvPicPr preferRelativeResize="0"/>
          <p:nvPr/>
        </p:nvPicPr>
        <p:blipFill rotWithShape="1">
          <a:blip r:embed="rId4">
            <a:alphaModFix/>
          </a:blip>
          <a:srcRect b="0" l="0" r="0" t="0"/>
          <a:stretch/>
        </p:blipFill>
        <p:spPr>
          <a:xfrm>
            <a:off x="8839505" y="4257446"/>
            <a:ext cx="228600" cy="228600"/>
          </a:xfrm>
          <a:prstGeom prst="rect">
            <a:avLst/>
          </a:prstGeom>
          <a:noFill/>
          <a:ln>
            <a:noFill/>
          </a:ln>
        </p:spPr>
      </p:pic>
      <p:sp>
        <p:nvSpPr>
          <p:cNvPr id="381" name="Google Shape;381;p8"/>
          <p:cNvSpPr txBox="1"/>
          <p:nvPr/>
        </p:nvSpPr>
        <p:spPr>
          <a:xfrm>
            <a:off x="8648395" y="4581144"/>
            <a:ext cx="734263"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安全設計</a:t>
            </a:r>
            <a:endParaRPr b="0" i="0" sz="1200" u="none" cap="none" strike="noStrike">
              <a:solidFill>
                <a:schemeClr val="dk1"/>
              </a:solidFill>
              <a:latin typeface="Calibri"/>
              <a:ea typeface="Calibri"/>
              <a:cs typeface="Calibri"/>
              <a:sym typeface="Calibri"/>
            </a:endParaRPr>
          </a:p>
        </p:txBody>
      </p:sp>
      <p:sp>
        <p:nvSpPr>
          <p:cNvPr id="382" name="Google Shape;382;p8"/>
          <p:cNvSpPr txBox="1"/>
          <p:nvPr/>
        </p:nvSpPr>
        <p:spPr>
          <a:xfrm>
            <a:off x="8219542" y="4809744"/>
            <a:ext cx="1567282" cy="38130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複数の安全対策で誤作動リスクを最小化</a:t>
            </a:r>
            <a:endParaRPr b="0" i="0" sz="1000" u="none" cap="none" strike="noStrike">
              <a:solidFill>
                <a:schemeClr val="dk1"/>
              </a:solidFill>
              <a:latin typeface="Calibri"/>
              <a:ea typeface="Calibri"/>
              <a:cs typeface="Calibri"/>
              <a:sym typeface="Calibri"/>
            </a:endParaRPr>
          </a:p>
        </p:txBody>
      </p:sp>
      <p:sp>
        <p:nvSpPr>
          <p:cNvPr id="383" name="Google Shape;383;p8"/>
          <p:cNvSpPr/>
          <p:nvPr/>
        </p:nvSpPr>
        <p:spPr>
          <a:xfrm>
            <a:off x="10007194" y="4134002"/>
            <a:ext cx="1809598" cy="1181405"/>
          </a:xfrm>
          <a:prstGeom prst="rect">
            <a:avLst/>
          </a:prstGeom>
          <a:solidFill>
            <a:srgbClr val="3E92CC">
              <a:alpha val="9803"/>
            </a:srgbClr>
          </a:solidFill>
          <a:ln cap="flat" cmpd="sng" w="12700">
            <a:solidFill>
              <a:srgbClr val="3E92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4" name="Google Shape;384;p8"/>
          <p:cNvPicPr preferRelativeResize="0"/>
          <p:nvPr/>
        </p:nvPicPr>
        <p:blipFill rotWithShape="1">
          <a:blip r:embed="rId5">
            <a:alphaModFix/>
          </a:blip>
          <a:srcRect b="0" l="0" r="0" t="0"/>
          <a:stretch/>
        </p:blipFill>
        <p:spPr>
          <a:xfrm>
            <a:off x="10794492" y="4257446"/>
            <a:ext cx="228600" cy="228600"/>
          </a:xfrm>
          <a:prstGeom prst="rect">
            <a:avLst/>
          </a:prstGeom>
          <a:noFill/>
          <a:ln>
            <a:noFill/>
          </a:ln>
        </p:spPr>
      </p:pic>
      <p:sp>
        <p:nvSpPr>
          <p:cNvPr id="385" name="Google Shape;385;p8"/>
          <p:cNvSpPr txBox="1"/>
          <p:nvPr/>
        </p:nvSpPr>
        <p:spPr>
          <a:xfrm>
            <a:off x="10528402" y="4581144"/>
            <a:ext cx="886054"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A2463"/>
              </a:buClr>
              <a:buSzPts val="1200"/>
              <a:buFont typeface="Noto Sans JP"/>
              <a:buNone/>
            </a:pPr>
            <a:r>
              <a:rPr b="1" i="0" lang="en-US" sz="1200" u="none" cap="none" strike="noStrike">
                <a:solidFill>
                  <a:srgbClr val="0A2463"/>
                </a:solidFill>
                <a:latin typeface="Noto Sans JP"/>
                <a:ea typeface="Noto Sans JP"/>
                <a:cs typeface="Noto Sans JP"/>
                <a:sym typeface="Noto Sans JP"/>
              </a:rPr>
              <a:t>人間らしさ</a:t>
            </a:r>
            <a:endParaRPr b="0" i="0" sz="1200" u="none" cap="none" strike="noStrike">
              <a:solidFill>
                <a:schemeClr val="dk1"/>
              </a:solidFill>
              <a:latin typeface="Calibri"/>
              <a:ea typeface="Calibri"/>
              <a:cs typeface="Calibri"/>
              <a:sym typeface="Calibri"/>
            </a:endParaRPr>
          </a:p>
        </p:txBody>
      </p:sp>
      <p:sp>
        <p:nvSpPr>
          <p:cNvPr id="386" name="Google Shape;386;p8"/>
          <p:cNvSpPr txBox="1"/>
          <p:nvPr/>
        </p:nvSpPr>
        <p:spPr>
          <a:xfrm>
            <a:off x="10175443" y="4809744"/>
            <a:ext cx="1567282" cy="38130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FB8DE"/>
              </a:buClr>
              <a:buSzPts val="1000"/>
              <a:buFont typeface="Noto Sans JP"/>
              <a:buNone/>
            </a:pPr>
            <a:r>
              <a:rPr b="0" i="0" lang="en-US" sz="1000" u="none" cap="none" strike="noStrike">
                <a:solidFill>
                  <a:srgbClr val="8FB8DE"/>
                </a:solidFill>
                <a:latin typeface="Noto Sans JP"/>
                <a:ea typeface="Noto Sans JP"/>
                <a:cs typeface="Noto Sans JP"/>
                <a:sym typeface="Noto Sans JP"/>
              </a:rPr>
              <a:t>人間にしかできない温かみのある対応を重視</a:t>
            </a:r>
            <a:endParaRPr b="0" i="0" sz="1000" u="none" cap="none" strike="noStrike">
              <a:solidFill>
                <a:schemeClr val="dk1"/>
              </a:solidFill>
              <a:latin typeface="Calibri"/>
              <a:ea typeface="Calibri"/>
              <a:cs typeface="Calibri"/>
              <a:sym typeface="Calibri"/>
            </a:endParaRPr>
          </a:p>
        </p:txBody>
      </p:sp>
      <p:sp>
        <p:nvSpPr>
          <p:cNvPr id="387" name="Google Shape;387;p8"/>
          <p:cNvSpPr txBox="1"/>
          <p:nvPr/>
        </p:nvSpPr>
        <p:spPr>
          <a:xfrm>
            <a:off x="11726266" y="6476695"/>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8</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9"/>
          <p:cNvSpPr/>
          <p:nvPr/>
        </p:nvSpPr>
        <p:spPr>
          <a:xfrm>
            <a:off x="0" y="1146150"/>
            <a:ext cx="12409500" cy="6858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9"/>
          <p:cNvSpPr/>
          <p:nvPr/>
        </p:nvSpPr>
        <p:spPr>
          <a:xfrm>
            <a:off x="9810600" y="-2"/>
            <a:ext cx="2381400" cy="1904700"/>
          </a:xfrm>
          <a:prstGeom prst="rect">
            <a:avLst/>
          </a:prstGeom>
          <a:solidFill>
            <a:srgbClr val="ADD8E6">
              <a:alpha val="2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9"/>
          <p:cNvSpPr/>
          <p:nvPr/>
        </p:nvSpPr>
        <p:spPr>
          <a:xfrm>
            <a:off x="952800" y="6581850"/>
            <a:ext cx="1904700" cy="1422300"/>
          </a:xfrm>
          <a:prstGeom prst="rect">
            <a:avLst/>
          </a:prstGeom>
          <a:solidFill>
            <a:srgbClr val="ADD8E6">
              <a:alpha val="2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9"/>
          <p:cNvSpPr txBox="1"/>
          <p:nvPr/>
        </p:nvSpPr>
        <p:spPr>
          <a:xfrm>
            <a:off x="381305" y="1504188"/>
            <a:ext cx="2667305"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2700"/>
              <a:buFont typeface="Noto Sans JP"/>
              <a:buNone/>
            </a:pPr>
            <a:r>
              <a:rPr b="1" i="0" lang="en-US" sz="2700" u="none" cap="none" strike="noStrike">
                <a:solidFill>
                  <a:srgbClr val="003366"/>
                </a:solidFill>
                <a:latin typeface="Noto Sans JP"/>
                <a:ea typeface="Noto Sans JP"/>
                <a:cs typeface="Noto Sans JP"/>
                <a:sym typeface="Noto Sans JP"/>
              </a:rPr>
              <a:t>導入までの流れ</a:t>
            </a:r>
            <a:endParaRPr b="0" i="0" sz="2700" u="none" cap="none" strike="noStrike">
              <a:solidFill>
                <a:schemeClr val="dk1"/>
              </a:solidFill>
              <a:latin typeface="Calibri"/>
              <a:ea typeface="Calibri"/>
              <a:cs typeface="Calibri"/>
              <a:sym typeface="Calibri"/>
            </a:endParaRPr>
          </a:p>
        </p:txBody>
      </p:sp>
      <p:sp>
        <p:nvSpPr>
          <p:cNvPr id="397" name="Google Shape;397;p9"/>
          <p:cNvSpPr/>
          <p:nvPr/>
        </p:nvSpPr>
        <p:spPr>
          <a:xfrm>
            <a:off x="381305" y="2077517"/>
            <a:ext cx="571500" cy="38405"/>
          </a:xfrm>
          <a:prstGeom prst="rect">
            <a:avLst/>
          </a:prstGeom>
          <a:solidFill>
            <a:srgbClr val="ADD8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9"/>
          <p:cNvSpPr txBox="1"/>
          <p:nvPr/>
        </p:nvSpPr>
        <p:spPr>
          <a:xfrm>
            <a:off x="381305" y="2343607"/>
            <a:ext cx="5468112"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段階的アプローチ： AIの導入は一度に全てを変えるのではなく、計画的に段階を踏んで進めることが成功の鍵です</a:t>
            </a:r>
            <a:endParaRPr b="0" i="0" sz="1200" u="none" cap="none" strike="noStrike">
              <a:solidFill>
                <a:schemeClr val="dk1"/>
              </a:solidFill>
              <a:latin typeface="Calibri"/>
              <a:ea typeface="Calibri"/>
              <a:cs typeface="Calibri"/>
              <a:sym typeface="Calibri"/>
            </a:endParaRPr>
          </a:p>
        </p:txBody>
      </p:sp>
      <p:sp>
        <p:nvSpPr>
          <p:cNvPr id="399" name="Google Shape;399;p9"/>
          <p:cNvSpPr txBox="1"/>
          <p:nvPr/>
        </p:nvSpPr>
        <p:spPr>
          <a:xfrm>
            <a:off x="381305" y="2953512"/>
            <a:ext cx="2029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5ステップの導入プロセス：</a:t>
            </a:r>
            <a:endParaRPr b="0" i="0" sz="1200" u="none" cap="none" strike="noStrike">
              <a:solidFill>
                <a:schemeClr val="dk1"/>
              </a:solidFill>
              <a:latin typeface="Calibri"/>
              <a:ea typeface="Calibri"/>
              <a:cs typeface="Calibri"/>
              <a:sym typeface="Calibri"/>
            </a:endParaRPr>
          </a:p>
        </p:txBody>
      </p:sp>
      <p:sp>
        <p:nvSpPr>
          <p:cNvPr id="400" name="Google Shape;400;p9"/>
          <p:cNvSpPr txBox="1"/>
          <p:nvPr/>
        </p:nvSpPr>
        <p:spPr>
          <a:xfrm>
            <a:off x="609905" y="3334817"/>
            <a:ext cx="3172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現状業務の詳細分析と最適化ポイントの特定</a:t>
            </a:r>
            <a:endParaRPr b="0" i="0" sz="1200" u="none" cap="none" strike="noStrike">
              <a:solidFill>
                <a:schemeClr val="dk1"/>
              </a:solidFill>
              <a:latin typeface="Calibri"/>
              <a:ea typeface="Calibri"/>
              <a:cs typeface="Calibri"/>
              <a:sym typeface="Calibri"/>
            </a:endParaRPr>
          </a:p>
        </p:txBody>
      </p:sp>
      <p:sp>
        <p:nvSpPr>
          <p:cNvPr id="401" name="Google Shape;401;p9"/>
          <p:cNvSpPr txBox="1"/>
          <p:nvPr/>
        </p:nvSpPr>
        <p:spPr>
          <a:xfrm>
            <a:off x="609905" y="3639312"/>
            <a:ext cx="26956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各業務におけるAI活用可能領域の設計</a:t>
            </a:r>
            <a:endParaRPr b="0" i="0" sz="1200" u="none" cap="none" strike="noStrike">
              <a:solidFill>
                <a:schemeClr val="dk1"/>
              </a:solidFill>
              <a:latin typeface="Calibri"/>
              <a:ea typeface="Calibri"/>
              <a:cs typeface="Calibri"/>
              <a:sym typeface="Calibri"/>
            </a:endParaRPr>
          </a:p>
        </p:txBody>
      </p:sp>
      <p:sp>
        <p:nvSpPr>
          <p:cNvPr id="402" name="Google Shape;402;p9"/>
          <p:cNvSpPr txBox="1"/>
          <p:nvPr/>
        </p:nvSpPr>
        <p:spPr>
          <a:xfrm>
            <a:off x="609905" y="3943807"/>
            <a:ext cx="3143707"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小規模での試験導入による効果検証（PoC）</a:t>
            </a:r>
            <a:endParaRPr b="0" i="0" sz="1200" u="none" cap="none" strike="noStrike">
              <a:solidFill>
                <a:schemeClr val="dk1"/>
              </a:solidFill>
              <a:latin typeface="Calibri"/>
              <a:ea typeface="Calibri"/>
              <a:cs typeface="Calibri"/>
              <a:sym typeface="Calibri"/>
            </a:endParaRPr>
          </a:p>
        </p:txBody>
      </p:sp>
      <p:sp>
        <p:nvSpPr>
          <p:cNvPr id="403" name="Google Shape;403;p9"/>
          <p:cNvSpPr txBox="1"/>
          <p:nvPr/>
        </p:nvSpPr>
        <p:spPr>
          <a:xfrm>
            <a:off x="609905" y="4249217"/>
            <a:ext cx="27148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検証結果に基づく本格導入と運用開始</a:t>
            </a:r>
            <a:endParaRPr b="0" i="0" sz="1200" u="none" cap="none" strike="noStrike">
              <a:solidFill>
                <a:schemeClr val="dk1"/>
              </a:solidFill>
              <a:latin typeface="Calibri"/>
              <a:ea typeface="Calibri"/>
              <a:cs typeface="Calibri"/>
              <a:sym typeface="Calibri"/>
            </a:endParaRPr>
          </a:p>
        </p:txBody>
      </p:sp>
      <p:sp>
        <p:nvSpPr>
          <p:cNvPr id="404" name="Google Shape;404;p9"/>
          <p:cNvSpPr txBox="1"/>
          <p:nvPr/>
        </p:nvSpPr>
        <p:spPr>
          <a:xfrm>
            <a:off x="609905" y="4553712"/>
            <a:ext cx="33147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継続的な改善とチューニングによる効果最大化</a:t>
            </a:r>
            <a:endParaRPr b="0" i="0" sz="1200" u="none" cap="none" strike="noStrike">
              <a:solidFill>
                <a:schemeClr val="dk1"/>
              </a:solidFill>
              <a:latin typeface="Calibri"/>
              <a:ea typeface="Calibri"/>
              <a:cs typeface="Calibri"/>
              <a:sym typeface="Calibri"/>
            </a:endParaRPr>
          </a:p>
        </p:txBody>
      </p:sp>
      <p:sp>
        <p:nvSpPr>
          <p:cNvPr id="405" name="Google Shape;405;p9"/>
          <p:cNvSpPr txBox="1"/>
          <p:nvPr/>
        </p:nvSpPr>
        <p:spPr>
          <a:xfrm>
            <a:off x="381305" y="4935017"/>
            <a:ext cx="13432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導入期間の目安：</a:t>
            </a:r>
            <a:endParaRPr b="0" i="0" sz="1200" u="none" cap="none" strike="noStrike">
              <a:solidFill>
                <a:schemeClr val="dk1"/>
              </a:solidFill>
              <a:latin typeface="Calibri"/>
              <a:ea typeface="Calibri"/>
              <a:cs typeface="Calibri"/>
              <a:sym typeface="Calibri"/>
            </a:endParaRPr>
          </a:p>
        </p:txBody>
      </p:sp>
      <p:sp>
        <p:nvSpPr>
          <p:cNvPr id="406" name="Google Shape;406;p9"/>
          <p:cNvSpPr txBox="1"/>
          <p:nvPr/>
        </p:nvSpPr>
        <p:spPr>
          <a:xfrm>
            <a:off x="609905" y="5315407"/>
            <a:ext cx="2115007"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初期分析・設計：約1〜2ヶ月</a:t>
            </a:r>
            <a:endParaRPr b="0" i="0" sz="1200" u="none" cap="none" strike="noStrike">
              <a:solidFill>
                <a:schemeClr val="dk1"/>
              </a:solidFill>
              <a:latin typeface="Calibri"/>
              <a:ea typeface="Calibri"/>
              <a:cs typeface="Calibri"/>
              <a:sym typeface="Calibri"/>
            </a:endParaRPr>
          </a:p>
        </p:txBody>
      </p:sp>
      <p:sp>
        <p:nvSpPr>
          <p:cNvPr id="407" name="Google Shape;407;p9"/>
          <p:cNvSpPr txBox="1"/>
          <p:nvPr/>
        </p:nvSpPr>
        <p:spPr>
          <a:xfrm>
            <a:off x="609905" y="5620817"/>
            <a:ext cx="16386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PoC実施：約1〜3ヶ月</a:t>
            </a:r>
            <a:endParaRPr b="0" i="0" sz="1200" u="none" cap="none" strike="noStrike">
              <a:solidFill>
                <a:schemeClr val="dk1"/>
              </a:solidFill>
              <a:latin typeface="Calibri"/>
              <a:ea typeface="Calibri"/>
              <a:cs typeface="Calibri"/>
              <a:sym typeface="Calibri"/>
            </a:endParaRPr>
          </a:p>
        </p:txBody>
      </p:sp>
      <p:sp>
        <p:nvSpPr>
          <p:cNvPr id="408" name="Google Shape;408;p9"/>
          <p:cNvSpPr txBox="1"/>
          <p:nvPr/>
        </p:nvSpPr>
        <p:spPr>
          <a:xfrm>
            <a:off x="609905" y="5925312"/>
            <a:ext cx="196230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本格導入準備：約2〜3ヶ月</a:t>
            </a:r>
            <a:endParaRPr b="0" i="0" sz="1200" u="none" cap="none" strike="noStrike">
              <a:solidFill>
                <a:schemeClr val="dk1"/>
              </a:solidFill>
              <a:latin typeface="Calibri"/>
              <a:ea typeface="Calibri"/>
              <a:cs typeface="Calibri"/>
              <a:sym typeface="Calibri"/>
            </a:endParaRPr>
          </a:p>
        </p:txBody>
      </p:sp>
      <p:sp>
        <p:nvSpPr>
          <p:cNvPr id="409" name="Google Shape;409;p9"/>
          <p:cNvSpPr txBox="1"/>
          <p:nvPr/>
        </p:nvSpPr>
        <p:spPr>
          <a:xfrm>
            <a:off x="609905" y="6229807"/>
            <a:ext cx="15718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運用安定化：約3ヶ月</a:t>
            </a:r>
            <a:endParaRPr b="0" i="0" sz="1200" u="none" cap="none" strike="noStrike">
              <a:solidFill>
                <a:schemeClr val="dk1"/>
              </a:solidFill>
              <a:latin typeface="Calibri"/>
              <a:ea typeface="Calibri"/>
              <a:cs typeface="Calibri"/>
              <a:sym typeface="Calibri"/>
            </a:endParaRPr>
          </a:p>
        </p:txBody>
      </p:sp>
      <p:sp>
        <p:nvSpPr>
          <p:cNvPr id="410" name="Google Shape;410;p9"/>
          <p:cNvSpPr txBox="1"/>
          <p:nvPr/>
        </p:nvSpPr>
        <p:spPr>
          <a:xfrm>
            <a:off x="7743139" y="381305"/>
            <a:ext cx="2600554"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800"/>
              <a:buFont typeface="Noto Sans JP"/>
              <a:buNone/>
            </a:pPr>
            <a:r>
              <a:rPr b="1" i="0" lang="en-US" sz="1800" u="none" cap="none" strike="noStrike">
                <a:solidFill>
                  <a:srgbClr val="0066CC"/>
                </a:solidFill>
                <a:latin typeface="Noto Sans JP"/>
                <a:ea typeface="Noto Sans JP"/>
                <a:cs typeface="Noto Sans JP"/>
                <a:sym typeface="Noto Sans JP"/>
              </a:rPr>
              <a:t>5ステップ導入プロセス</a:t>
            </a:r>
            <a:endParaRPr b="0" i="0" sz="1800" u="none" cap="none" strike="noStrike">
              <a:solidFill>
                <a:schemeClr val="dk1"/>
              </a:solidFill>
              <a:latin typeface="Calibri"/>
              <a:ea typeface="Calibri"/>
              <a:cs typeface="Calibri"/>
              <a:sym typeface="Calibri"/>
            </a:endParaRPr>
          </a:p>
        </p:txBody>
      </p:sp>
      <p:sp>
        <p:nvSpPr>
          <p:cNvPr id="411" name="Google Shape;411;p9"/>
          <p:cNvSpPr/>
          <p:nvPr/>
        </p:nvSpPr>
        <p:spPr>
          <a:xfrm>
            <a:off x="6096305" y="875995"/>
            <a:ext cx="1904695" cy="1019556"/>
          </a:xfrm>
          <a:prstGeom prst="rect">
            <a:avLst/>
          </a:prstGeom>
          <a:solidFill>
            <a:srgbClr val="ADD8E6">
              <a:alpha val="29803"/>
            </a:srgbClr>
          </a:solidFill>
          <a:ln cap="flat" cmpd="sng" w="12700">
            <a:solidFill>
              <a:srgbClr val="0066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2" name="Google Shape;412;p9"/>
          <p:cNvPicPr preferRelativeResize="0"/>
          <p:nvPr/>
        </p:nvPicPr>
        <p:blipFill rotWithShape="1">
          <a:blip r:embed="rId3">
            <a:alphaModFix/>
          </a:blip>
          <a:srcRect b="0" l="0" r="0" t="0"/>
          <a:stretch/>
        </p:blipFill>
        <p:spPr>
          <a:xfrm>
            <a:off x="6933895" y="1000354"/>
            <a:ext cx="228600" cy="228600"/>
          </a:xfrm>
          <a:prstGeom prst="rect">
            <a:avLst/>
          </a:prstGeom>
          <a:noFill/>
          <a:ln>
            <a:noFill/>
          </a:ln>
        </p:spPr>
      </p:pic>
      <p:sp>
        <p:nvSpPr>
          <p:cNvPr id="413" name="Google Shape;413;p9"/>
          <p:cNvSpPr txBox="1"/>
          <p:nvPr/>
        </p:nvSpPr>
        <p:spPr>
          <a:xfrm>
            <a:off x="6763817" y="1324051"/>
            <a:ext cx="7004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300"/>
              <a:buFont typeface="Noto Sans JP"/>
              <a:buNone/>
            </a:pPr>
            <a:r>
              <a:rPr b="1" i="0" lang="en-US" sz="1300" u="none" cap="none" strike="noStrike">
                <a:solidFill>
                  <a:srgbClr val="0066CC"/>
                </a:solidFill>
                <a:latin typeface="Noto Sans JP"/>
                <a:ea typeface="Noto Sans JP"/>
                <a:cs typeface="Noto Sans JP"/>
                <a:sym typeface="Noto Sans JP"/>
              </a:rPr>
              <a:t>STEP 1</a:t>
            </a:r>
            <a:endParaRPr b="0" i="0" sz="1300" u="none" cap="none" strike="noStrike">
              <a:solidFill>
                <a:schemeClr val="dk1"/>
              </a:solidFill>
              <a:latin typeface="Calibri"/>
              <a:ea typeface="Calibri"/>
              <a:cs typeface="Calibri"/>
              <a:sym typeface="Calibri"/>
            </a:endParaRPr>
          </a:p>
        </p:txBody>
      </p:sp>
      <p:sp>
        <p:nvSpPr>
          <p:cNvPr id="414" name="Google Shape;414;p9"/>
          <p:cNvSpPr txBox="1"/>
          <p:nvPr/>
        </p:nvSpPr>
        <p:spPr>
          <a:xfrm>
            <a:off x="6448349" y="1580998"/>
            <a:ext cx="1300277"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現状分析・課題整理</a:t>
            </a:r>
            <a:endParaRPr b="0" i="0" sz="1000" u="none" cap="none" strike="noStrike">
              <a:solidFill>
                <a:schemeClr val="dk1"/>
              </a:solidFill>
              <a:latin typeface="Calibri"/>
              <a:ea typeface="Calibri"/>
              <a:cs typeface="Calibri"/>
              <a:sym typeface="Calibri"/>
            </a:endParaRPr>
          </a:p>
        </p:txBody>
      </p:sp>
      <p:pic>
        <p:nvPicPr>
          <p:cNvPr descr="preencoded.png" id="415" name="Google Shape;415;p9"/>
          <p:cNvPicPr preferRelativeResize="0"/>
          <p:nvPr/>
        </p:nvPicPr>
        <p:blipFill rotWithShape="1">
          <a:blip r:embed="rId4">
            <a:alphaModFix/>
          </a:blip>
          <a:srcRect b="0" l="-56" r="-57" t="0"/>
          <a:stretch/>
        </p:blipFill>
        <p:spPr>
          <a:xfrm>
            <a:off x="8853221" y="1328623"/>
            <a:ext cx="200254" cy="228600"/>
          </a:xfrm>
          <a:prstGeom prst="rect">
            <a:avLst/>
          </a:prstGeom>
          <a:noFill/>
          <a:ln>
            <a:noFill/>
          </a:ln>
        </p:spPr>
      </p:pic>
      <p:sp>
        <p:nvSpPr>
          <p:cNvPr id="416" name="Google Shape;416;p9"/>
          <p:cNvSpPr/>
          <p:nvPr/>
        </p:nvSpPr>
        <p:spPr>
          <a:xfrm>
            <a:off x="9905695" y="875995"/>
            <a:ext cx="1904695" cy="1019556"/>
          </a:xfrm>
          <a:prstGeom prst="rect">
            <a:avLst/>
          </a:prstGeom>
          <a:solidFill>
            <a:srgbClr val="ADD8E6">
              <a:alpha val="29803"/>
            </a:srgbClr>
          </a:solidFill>
          <a:ln cap="flat" cmpd="sng" w="12700">
            <a:solidFill>
              <a:srgbClr val="0066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7" name="Google Shape;417;p9"/>
          <p:cNvPicPr preferRelativeResize="0"/>
          <p:nvPr/>
        </p:nvPicPr>
        <p:blipFill rotWithShape="1">
          <a:blip r:embed="rId5">
            <a:alphaModFix/>
          </a:blip>
          <a:srcRect b="0" l="0" r="0" t="0"/>
          <a:stretch/>
        </p:blipFill>
        <p:spPr>
          <a:xfrm>
            <a:off x="10744200" y="1000354"/>
            <a:ext cx="228600" cy="228600"/>
          </a:xfrm>
          <a:prstGeom prst="rect">
            <a:avLst/>
          </a:prstGeom>
          <a:noFill/>
          <a:ln>
            <a:noFill/>
          </a:ln>
        </p:spPr>
      </p:pic>
      <p:sp>
        <p:nvSpPr>
          <p:cNvPr id="418" name="Google Shape;418;p9"/>
          <p:cNvSpPr txBox="1"/>
          <p:nvPr/>
        </p:nvSpPr>
        <p:spPr>
          <a:xfrm>
            <a:off x="10574122" y="1324051"/>
            <a:ext cx="7004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300"/>
              <a:buFont typeface="Noto Sans JP"/>
              <a:buNone/>
            </a:pPr>
            <a:r>
              <a:rPr b="1" i="0" lang="en-US" sz="1300" u="none" cap="none" strike="noStrike">
                <a:solidFill>
                  <a:srgbClr val="0066CC"/>
                </a:solidFill>
                <a:latin typeface="Noto Sans JP"/>
                <a:ea typeface="Noto Sans JP"/>
                <a:cs typeface="Noto Sans JP"/>
                <a:sym typeface="Noto Sans JP"/>
              </a:rPr>
              <a:t>STEP 2</a:t>
            </a:r>
            <a:endParaRPr b="0" i="0" sz="1300" u="none" cap="none" strike="noStrike">
              <a:solidFill>
                <a:schemeClr val="dk1"/>
              </a:solidFill>
              <a:latin typeface="Calibri"/>
              <a:ea typeface="Calibri"/>
              <a:cs typeface="Calibri"/>
              <a:sym typeface="Calibri"/>
            </a:endParaRPr>
          </a:p>
        </p:txBody>
      </p:sp>
      <p:sp>
        <p:nvSpPr>
          <p:cNvPr id="419" name="Google Shape;419;p9"/>
          <p:cNvSpPr txBox="1"/>
          <p:nvPr/>
        </p:nvSpPr>
        <p:spPr>
          <a:xfrm>
            <a:off x="10331806" y="1580998"/>
            <a:ext cx="1157630"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AI適用領域の設計</a:t>
            </a:r>
            <a:endParaRPr b="0" i="0" sz="1000" u="none" cap="none" strike="noStrike">
              <a:solidFill>
                <a:schemeClr val="dk1"/>
              </a:solidFill>
              <a:latin typeface="Calibri"/>
              <a:ea typeface="Calibri"/>
              <a:cs typeface="Calibri"/>
              <a:sym typeface="Calibri"/>
            </a:endParaRPr>
          </a:p>
        </p:txBody>
      </p:sp>
      <p:pic>
        <p:nvPicPr>
          <p:cNvPr descr="preencoded.png" id="420" name="Google Shape;420;p9"/>
          <p:cNvPicPr preferRelativeResize="0"/>
          <p:nvPr/>
        </p:nvPicPr>
        <p:blipFill rotWithShape="1">
          <a:blip r:embed="rId6">
            <a:alphaModFix/>
          </a:blip>
          <a:srcRect b="0" l="-133" r="-133" t="0"/>
          <a:stretch/>
        </p:blipFill>
        <p:spPr>
          <a:xfrm rot="2700000">
            <a:off x="8867851" y="2085746"/>
            <a:ext cx="171907" cy="228600"/>
          </a:xfrm>
          <a:prstGeom prst="rect">
            <a:avLst/>
          </a:prstGeom>
          <a:noFill/>
          <a:ln>
            <a:noFill/>
          </a:ln>
        </p:spPr>
      </p:pic>
      <p:sp>
        <p:nvSpPr>
          <p:cNvPr id="421" name="Google Shape;421;p9"/>
          <p:cNvSpPr/>
          <p:nvPr/>
        </p:nvSpPr>
        <p:spPr>
          <a:xfrm>
            <a:off x="8001455" y="4040669"/>
            <a:ext cx="1904700" cy="1019700"/>
          </a:xfrm>
          <a:prstGeom prst="rect">
            <a:avLst/>
          </a:prstGeom>
          <a:solidFill>
            <a:srgbClr val="ADD8E6">
              <a:alpha val="29803"/>
            </a:srgbClr>
          </a:solidFill>
          <a:ln cap="flat" cmpd="sng" w="12700">
            <a:solidFill>
              <a:srgbClr val="0066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22" name="Google Shape;422;p9"/>
          <p:cNvPicPr preferRelativeResize="0"/>
          <p:nvPr/>
        </p:nvPicPr>
        <p:blipFill rotWithShape="1">
          <a:blip r:embed="rId7">
            <a:alphaModFix/>
          </a:blip>
          <a:srcRect b="0" l="0" r="0" t="0"/>
          <a:stretch/>
        </p:blipFill>
        <p:spPr>
          <a:xfrm>
            <a:off x="8839045" y="4164113"/>
            <a:ext cx="228600" cy="228600"/>
          </a:xfrm>
          <a:prstGeom prst="rect">
            <a:avLst/>
          </a:prstGeom>
          <a:noFill/>
          <a:ln>
            <a:noFill/>
          </a:ln>
        </p:spPr>
      </p:pic>
      <p:sp>
        <p:nvSpPr>
          <p:cNvPr id="423" name="Google Shape;423;p9"/>
          <p:cNvSpPr txBox="1"/>
          <p:nvPr/>
        </p:nvSpPr>
        <p:spPr>
          <a:xfrm>
            <a:off x="8668967" y="4487811"/>
            <a:ext cx="700500" cy="247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300"/>
              <a:buFont typeface="Noto Sans JP"/>
              <a:buNone/>
            </a:pPr>
            <a:r>
              <a:rPr b="1" i="0" lang="en-US" sz="1300" u="none" cap="none" strike="noStrike">
                <a:solidFill>
                  <a:srgbClr val="0066CC"/>
                </a:solidFill>
                <a:latin typeface="Noto Sans JP"/>
                <a:ea typeface="Noto Sans JP"/>
                <a:cs typeface="Noto Sans JP"/>
                <a:sym typeface="Noto Sans JP"/>
              </a:rPr>
              <a:t>STEP 5</a:t>
            </a:r>
            <a:endParaRPr b="0" i="0" sz="1300" u="none" cap="none" strike="noStrike">
              <a:solidFill>
                <a:schemeClr val="dk1"/>
              </a:solidFill>
              <a:latin typeface="Calibri"/>
              <a:ea typeface="Calibri"/>
              <a:cs typeface="Calibri"/>
              <a:sym typeface="Calibri"/>
            </a:endParaRPr>
          </a:p>
        </p:txBody>
      </p:sp>
      <p:sp>
        <p:nvSpPr>
          <p:cNvPr id="424" name="Google Shape;424;p9"/>
          <p:cNvSpPr txBox="1"/>
          <p:nvPr/>
        </p:nvSpPr>
        <p:spPr>
          <a:xfrm>
            <a:off x="8219996" y="4744757"/>
            <a:ext cx="1567200" cy="19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改善・チューニング支援</a:t>
            </a:r>
            <a:endParaRPr b="0" i="0" sz="1000" u="none" cap="none" strike="noStrike">
              <a:solidFill>
                <a:schemeClr val="dk1"/>
              </a:solidFill>
              <a:latin typeface="Calibri"/>
              <a:ea typeface="Calibri"/>
              <a:cs typeface="Calibri"/>
              <a:sym typeface="Calibri"/>
            </a:endParaRPr>
          </a:p>
        </p:txBody>
      </p:sp>
      <p:pic>
        <p:nvPicPr>
          <p:cNvPr descr="preencoded.png" id="425" name="Google Shape;425;p9"/>
          <p:cNvPicPr preferRelativeResize="0"/>
          <p:nvPr/>
        </p:nvPicPr>
        <p:blipFill rotWithShape="1">
          <a:blip r:embed="rId8">
            <a:alphaModFix/>
          </a:blip>
          <a:srcRect b="0" l="-56" r="-57" t="0"/>
          <a:stretch/>
        </p:blipFill>
        <p:spPr>
          <a:xfrm rot="10799997">
            <a:off x="8853221" y="2842870"/>
            <a:ext cx="200254" cy="228600"/>
          </a:xfrm>
          <a:prstGeom prst="rect">
            <a:avLst/>
          </a:prstGeom>
          <a:noFill/>
          <a:ln>
            <a:noFill/>
          </a:ln>
        </p:spPr>
      </p:pic>
      <p:sp>
        <p:nvSpPr>
          <p:cNvPr id="426" name="Google Shape;426;p9"/>
          <p:cNvSpPr/>
          <p:nvPr/>
        </p:nvSpPr>
        <p:spPr>
          <a:xfrm>
            <a:off x="9905695" y="2391156"/>
            <a:ext cx="1904695" cy="1019556"/>
          </a:xfrm>
          <a:prstGeom prst="rect">
            <a:avLst/>
          </a:prstGeom>
          <a:solidFill>
            <a:srgbClr val="ADD8E6">
              <a:alpha val="29803"/>
            </a:srgbClr>
          </a:solidFill>
          <a:ln cap="flat" cmpd="sng" w="12700">
            <a:solidFill>
              <a:srgbClr val="0066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27" name="Google Shape;427;p9"/>
          <p:cNvPicPr preferRelativeResize="0"/>
          <p:nvPr/>
        </p:nvPicPr>
        <p:blipFill rotWithShape="1">
          <a:blip r:embed="rId9">
            <a:alphaModFix/>
          </a:blip>
          <a:srcRect b="0" l="0" r="0" t="0"/>
          <a:stretch/>
        </p:blipFill>
        <p:spPr>
          <a:xfrm>
            <a:off x="10744200" y="2514600"/>
            <a:ext cx="228600" cy="228600"/>
          </a:xfrm>
          <a:prstGeom prst="rect">
            <a:avLst/>
          </a:prstGeom>
          <a:noFill/>
          <a:ln>
            <a:noFill/>
          </a:ln>
        </p:spPr>
      </p:pic>
      <p:sp>
        <p:nvSpPr>
          <p:cNvPr id="428" name="Google Shape;428;p9"/>
          <p:cNvSpPr txBox="1"/>
          <p:nvPr/>
        </p:nvSpPr>
        <p:spPr>
          <a:xfrm>
            <a:off x="10574122" y="2838298"/>
            <a:ext cx="700430" cy="24780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300"/>
              <a:buFont typeface="Noto Sans JP"/>
              <a:buNone/>
            </a:pPr>
            <a:r>
              <a:rPr b="1" i="0" lang="en-US" sz="1300" u="none" cap="none" strike="noStrike">
                <a:solidFill>
                  <a:srgbClr val="0066CC"/>
                </a:solidFill>
                <a:latin typeface="Noto Sans JP"/>
                <a:ea typeface="Noto Sans JP"/>
                <a:cs typeface="Noto Sans JP"/>
                <a:sym typeface="Noto Sans JP"/>
              </a:rPr>
              <a:t>STEP 4</a:t>
            </a:r>
            <a:endParaRPr b="0" i="0" sz="1300" u="none" cap="none" strike="noStrike">
              <a:solidFill>
                <a:schemeClr val="dk1"/>
              </a:solidFill>
              <a:latin typeface="Calibri"/>
              <a:ea typeface="Calibri"/>
              <a:cs typeface="Calibri"/>
              <a:sym typeface="Calibri"/>
            </a:endParaRPr>
          </a:p>
        </p:txBody>
      </p:sp>
      <p:sp>
        <p:nvSpPr>
          <p:cNvPr id="429" name="Google Shape;429;p9"/>
          <p:cNvSpPr txBox="1"/>
          <p:nvPr/>
        </p:nvSpPr>
        <p:spPr>
          <a:xfrm>
            <a:off x="10258654" y="3095244"/>
            <a:ext cx="1300277"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本格導入・運用開始</a:t>
            </a:r>
            <a:endParaRPr b="0" i="0" sz="1000" u="none" cap="none" strike="noStrike">
              <a:solidFill>
                <a:schemeClr val="dk1"/>
              </a:solidFill>
              <a:latin typeface="Calibri"/>
              <a:ea typeface="Calibri"/>
              <a:cs typeface="Calibri"/>
              <a:sym typeface="Calibri"/>
            </a:endParaRPr>
          </a:p>
        </p:txBody>
      </p:sp>
      <p:pic>
        <p:nvPicPr>
          <p:cNvPr descr="preencoded.png" id="430" name="Google Shape;430;p9"/>
          <p:cNvPicPr preferRelativeResize="0"/>
          <p:nvPr/>
        </p:nvPicPr>
        <p:blipFill rotWithShape="1">
          <a:blip r:embed="rId10">
            <a:alphaModFix/>
          </a:blip>
          <a:srcRect b="0" l="-133" r="-133" t="0"/>
          <a:stretch/>
        </p:blipFill>
        <p:spPr>
          <a:xfrm rot="10800000">
            <a:off x="8867851" y="3600907"/>
            <a:ext cx="171907" cy="228600"/>
          </a:xfrm>
          <a:prstGeom prst="rect">
            <a:avLst/>
          </a:prstGeom>
          <a:noFill/>
          <a:ln>
            <a:noFill/>
          </a:ln>
        </p:spPr>
      </p:pic>
      <p:sp>
        <p:nvSpPr>
          <p:cNvPr id="431" name="Google Shape;431;p9"/>
          <p:cNvSpPr/>
          <p:nvPr/>
        </p:nvSpPr>
        <p:spPr>
          <a:xfrm>
            <a:off x="6067950" y="2447325"/>
            <a:ext cx="1904700" cy="1019700"/>
          </a:xfrm>
          <a:prstGeom prst="rect">
            <a:avLst/>
          </a:prstGeom>
          <a:solidFill>
            <a:srgbClr val="ADD8E6">
              <a:alpha val="29803"/>
            </a:srgbClr>
          </a:solidFill>
          <a:ln cap="flat" cmpd="sng" w="12700">
            <a:solidFill>
              <a:srgbClr val="0066CC">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32" name="Google Shape;432;p9"/>
          <p:cNvPicPr preferRelativeResize="0"/>
          <p:nvPr/>
        </p:nvPicPr>
        <p:blipFill rotWithShape="1">
          <a:blip r:embed="rId11">
            <a:alphaModFix/>
          </a:blip>
          <a:srcRect b="0" l="-56" r="-57" t="0"/>
          <a:stretch/>
        </p:blipFill>
        <p:spPr>
          <a:xfrm>
            <a:off x="6933909" y="2643496"/>
            <a:ext cx="200254" cy="228600"/>
          </a:xfrm>
          <a:prstGeom prst="rect">
            <a:avLst/>
          </a:prstGeom>
          <a:noFill/>
          <a:ln>
            <a:noFill/>
          </a:ln>
        </p:spPr>
      </p:pic>
      <p:sp>
        <p:nvSpPr>
          <p:cNvPr id="433" name="Google Shape;433;p9"/>
          <p:cNvSpPr txBox="1"/>
          <p:nvPr/>
        </p:nvSpPr>
        <p:spPr>
          <a:xfrm>
            <a:off x="6697949" y="2914019"/>
            <a:ext cx="700500" cy="247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66CC"/>
              </a:buClr>
              <a:buSzPts val="1300"/>
              <a:buFont typeface="Noto Sans JP"/>
              <a:buNone/>
            </a:pPr>
            <a:r>
              <a:rPr b="1" i="0" lang="en-US" sz="1300" u="none" cap="none" strike="noStrike">
                <a:solidFill>
                  <a:srgbClr val="0066CC"/>
                </a:solidFill>
                <a:latin typeface="Noto Sans JP"/>
                <a:ea typeface="Noto Sans JP"/>
                <a:cs typeface="Noto Sans JP"/>
                <a:sym typeface="Noto Sans JP"/>
              </a:rPr>
              <a:t>STEP 3</a:t>
            </a:r>
            <a:endParaRPr b="0" i="0" sz="1300" u="none" cap="none" strike="noStrike">
              <a:solidFill>
                <a:schemeClr val="dk1"/>
              </a:solidFill>
              <a:latin typeface="Calibri"/>
              <a:ea typeface="Calibri"/>
              <a:cs typeface="Calibri"/>
              <a:sym typeface="Calibri"/>
            </a:endParaRPr>
          </a:p>
        </p:txBody>
      </p:sp>
      <p:sp>
        <p:nvSpPr>
          <p:cNvPr id="434" name="Google Shape;434;p9"/>
          <p:cNvSpPr txBox="1"/>
          <p:nvPr/>
        </p:nvSpPr>
        <p:spPr>
          <a:xfrm>
            <a:off x="6257750" y="3127501"/>
            <a:ext cx="1681500" cy="283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試験導入（PoC）で効果検証</a:t>
            </a:r>
            <a:endParaRPr b="0" i="0" sz="1000" u="none" cap="none" strike="noStrike">
              <a:solidFill>
                <a:schemeClr val="dk1"/>
              </a:solidFill>
              <a:latin typeface="Calibri"/>
              <a:ea typeface="Calibri"/>
              <a:cs typeface="Calibri"/>
              <a:sym typeface="Calibri"/>
            </a:endParaRPr>
          </a:p>
        </p:txBody>
      </p:sp>
      <p:sp>
        <p:nvSpPr>
          <p:cNvPr id="435" name="Google Shape;435;p9"/>
          <p:cNvSpPr txBox="1"/>
          <p:nvPr/>
        </p:nvSpPr>
        <p:spPr>
          <a:xfrm>
            <a:off x="6096305" y="5533949"/>
            <a:ext cx="31437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66CC"/>
              </a:buClr>
              <a:buSzPts val="1800"/>
              <a:buFont typeface="Noto Sans JP"/>
              <a:buNone/>
            </a:pPr>
            <a:r>
              <a:rPr b="1" i="0" lang="en-US" sz="1800" u="none" cap="none" strike="noStrike">
                <a:solidFill>
                  <a:srgbClr val="0066CC"/>
                </a:solidFill>
                <a:latin typeface="Noto Sans JP"/>
                <a:ea typeface="Noto Sans JP"/>
                <a:cs typeface="Noto Sans JP"/>
                <a:sym typeface="Noto Sans JP"/>
              </a:rPr>
              <a:t>プロジェクト成功のポイント</a:t>
            </a:r>
            <a:endParaRPr b="0" i="0" sz="1800" u="none" cap="none" strike="noStrike">
              <a:solidFill>
                <a:schemeClr val="dk1"/>
              </a:solidFill>
              <a:latin typeface="Calibri"/>
              <a:ea typeface="Calibri"/>
              <a:cs typeface="Calibri"/>
              <a:sym typeface="Calibri"/>
            </a:endParaRPr>
          </a:p>
        </p:txBody>
      </p:sp>
      <p:sp>
        <p:nvSpPr>
          <p:cNvPr id="436" name="Google Shape;436;p9"/>
          <p:cNvSpPr/>
          <p:nvPr/>
        </p:nvSpPr>
        <p:spPr>
          <a:xfrm>
            <a:off x="6096305" y="6029554"/>
            <a:ext cx="5715000" cy="381305"/>
          </a:xfrm>
          <a:prstGeom prst="rect">
            <a:avLst/>
          </a:prstGeom>
          <a:solidFill>
            <a:srgbClr val="ADD8E6">
              <a:alpha val="2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9"/>
          <p:cNvSpPr/>
          <p:nvPr/>
        </p:nvSpPr>
        <p:spPr>
          <a:xfrm>
            <a:off x="6096305" y="6029554"/>
            <a:ext cx="28346" cy="381305"/>
          </a:xfrm>
          <a:prstGeom prst="rect">
            <a:avLst/>
          </a:prstGeom>
          <a:solidFill>
            <a:srgbClr val="0066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9"/>
          <p:cNvSpPr txBox="1"/>
          <p:nvPr/>
        </p:nvSpPr>
        <p:spPr>
          <a:xfrm>
            <a:off x="6238951" y="6105449"/>
            <a:ext cx="442021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段階的アプローチ： リスクを最小化しながら効果を確認できる</a:t>
            </a:r>
            <a:endParaRPr b="0" i="0" sz="1200" u="none" cap="none" strike="noStrike">
              <a:solidFill>
                <a:schemeClr val="dk1"/>
              </a:solidFill>
              <a:latin typeface="Calibri"/>
              <a:ea typeface="Calibri"/>
              <a:cs typeface="Calibri"/>
              <a:sym typeface="Calibri"/>
            </a:endParaRPr>
          </a:p>
        </p:txBody>
      </p:sp>
      <p:sp>
        <p:nvSpPr>
          <p:cNvPr id="439" name="Google Shape;439;p9"/>
          <p:cNvSpPr/>
          <p:nvPr/>
        </p:nvSpPr>
        <p:spPr>
          <a:xfrm>
            <a:off x="6096305" y="6486754"/>
            <a:ext cx="5715000" cy="381305"/>
          </a:xfrm>
          <a:prstGeom prst="rect">
            <a:avLst/>
          </a:prstGeom>
          <a:solidFill>
            <a:srgbClr val="ADD8E6">
              <a:alpha val="2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9"/>
          <p:cNvSpPr/>
          <p:nvPr/>
        </p:nvSpPr>
        <p:spPr>
          <a:xfrm>
            <a:off x="6096305" y="6486754"/>
            <a:ext cx="28346" cy="381305"/>
          </a:xfrm>
          <a:prstGeom prst="rect">
            <a:avLst/>
          </a:prstGeom>
          <a:solidFill>
            <a:srgbClr val="0066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9"/>
          <p:cNvSpPr txBox="1"/>
          <p:nvPr/>
        </p:nvSpPr>
        <p:spPr>
          <a:xfrm>
            <a:off x="6238951" y="6562649"/>
            <a:ext cx="3810305"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現場の巻き込み： 設計段階から現場担当者と協働する</a:t>
            </a:r>
            <a:endParaRPr b="0" i="0" sz="1200" u="none" cap="none" strike="noStrike">
              <a:solidFill>
                <a:schemeClr val="dk1"/>
              </a:solidFill>
              <a:latin typeface="Calibri"/>
              <a:ea typeface="Calibri"/>
              <a:cs typeface="Calibri"/>
              <a:sym typeface="Calibri"/>
            </a:endParaRPr>
          </a:p>
        </p:txBody>
      </p:sp>
      <p:sp>
        <p:nvSpPr>
          <p:cNvPr id="442" name="Google Shape;442;p9"/>
          <p:cNvSpPr/>
          <p:nvPr/>
        </p:nvSpPr>
        <p:spPr>
          <a:xfrm>
            <a:off x="6096305" y="6943954"/>
            <a:ext cx="5715000" cy="381305"/>
          </a:xfrm>
          <a:prstGeom prst="rect">
            <a:avLst/>
          </a:prstGeom>
          <a:solidFill>
            <a:srgbClr val="ADD8E6">
              <a:alpha val="200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9"/>
          <p:cNvSpPr/>
          <p:nvPr/>
        </p:nvSpPr>
        <p:spPr>
          <a:xfrm>
            <a:off x="6096305" y="6943954"/>
            <a:ext cx="28346" cy="381305"/>
          </a:xfrm>
          <a:prstGeom prst="rect">
            <a:avLst/>
          </a:prstGeom>
          <a:solidFill>
            <a:srgbClr val="0066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9"/>
          <p:cNvSpPr txBox="1"/>
          <p:nvPr/>
        </p:nvSpPr>
        <p:spPr>
          <a:xfrm>
            <a:off x="6238951" y="7019849"/>
            <a:ext cx="38962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効果測定： 明確なKPIを設定し継続的に効果を検証する</a:t>
            </a:r>
            <a:endParaRPr b="0" i="0" sz="1200" u="none" cap="none" strike="noStrike">
              <a:solidFill>
                <a:schemeClr val="dk1"/>
              </a:solidFill>
              <a:latin typeface="Calibri"/>
              <a:ea typeface="Calibri"/>
              <a:cs typeface="Calibri"/>
              <a:sym typeface="Calibri"/>
            </a:endParaRPr>
          </a:p>
        </p:txBody>
      </p:sp>
      <p:sp>
        <p:nvSpPr>
          <p:cNvPr id="445" name="Google Shape;445;p9"/>
          <p:cNvSpPr txBox="1"/>
          <p:nvPr/>
        </p:nvSpPr>
        <p:spPr>
          <a:xfrm>
            <a:off x="11726266" y="7629754"/>
            <a:ext cx="2002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10"/>
          <p:cNvSpPr/>
          <p:nvPr/>
        </p:nvSpPr>
        <p:spPr>
          <a:xfrm>
            <a:off x="0" y="0"/>
            <a:ext cx="12191695" cy="6991502"/>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0"/>
          <p:cNvSpPr/>
          <p:nvPr/>
        </p:nvSpPr>
        <p:spPr>
          <a:xfrm>
            <a:off x="9810600" y="0"/>
            <a:ext cx="2381400" cy="19047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0"/>
          <p:cNvSpPr/>
          <p:nvPr/>
        </p:nvSpPr>
        <p:spPr>
          <a:xfrm>
            <a:off x="952800" y="5554976"/>
            <a:ext cx="1904700" cy="14364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0"/>
          <p:cNvSpPr txBox="1"/>
          <p:nvPr/>
        </p:nvSpPr>
        <p:spPr>
          <a:xfrm>
            <a:off x="381305" y="333756"/>
            <a:ext cx="5391302"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2700"/>
              <a:buFont typeface="Noto Sans JP"/>
              <a:buNone/>
            </a:pPr>
            <a:r>
              <a:rPr b="1" i="0" lang="en-US" sz="2700" u="none" cap="none" strike="noStrike">
                <a:solidFill>
                  <a:srgbClr val="003366"/>
                </a:solidFill>
                <a:latin typeface="Noto Sans JP"/>
                <a:ea typeface="Noto Sans JP"/>
                <a:cs typeface="Noto Sans JP"/>
                <a:sym typeface="Noto Sans JP"/>
              </a:rPr>
              <a:t>導入効果シミュレーション（例）</a:t>
            </a:r>
            <a:endParaRPr b="0" i="0" sz="2700" u="none" cap="none" strike="noStrike">
              <a:solidFill>
                <a:schemeClr val="dk1"/>
              </a:solidFill>
              <a:latin typeface="Calibri"/>
              <a:ea typeface="Calibri"/>
              <a:cs typeface="Calibri"/>
              <a:sym typeface="Calibri"/>
            </a:endParaRPr>
          </a:p>
        </p:txBody>
      </p:sp>
      <p:sp>
        <p:nvSpPr>
          <p:cNvPr id="455" name="Google Shape;455;p10"/>
          <p:cNvSpPr/>
          <p:nvPr/>
        </p:nvSpPr>
        <p:spPr>
          <a:xfrm>
            <a:off x="381305" y="907085"/>
            <a:ext cx="571500" cy="384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0"/>
          <p:cNvSpPr txBox="1"/>
          <p:nvPr/>
        </p:nvSpPr>
        <p:spPr>
          <a:xfrm>
            <a:off x="381305" y="1097280"/>
            <a:ext cx="2839212"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AI導入による主要業務効果の定量的予測</a:t>
            </a:r>
            <a:endParaRPr b="0" i="0" sz="1200" u="none" cap="none" strike="noStrike">
              <a:solidFill>
                <a:schemeClr val="dk1"/>
              </a:solidFill>
              <a:latin typeface="Calibri"/>
              <a:ea typeface="Calibri"/>
              <a:cs typeface="Calibri"/>
              <a:sym typeface="Calibri"/>
            </a:endParaRPr>
          </a:p>
        </p:txBody>
      </p:sp>
      <p:sp>
        <p:nvSpPr>
          <p:cNvPr id="457" name="Google Shape;457;p10"/>
          <p:cNvSpPr txBox="1"/>
          <p:nvPr/>
        </p:nvSpPr>
        <p:spPr>
          <a:xfrm>
            <a:off x="381305" y="1554480"/>
            <a:ext cx="20007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作業時間削減効果</a:t>
            </a:r>
            <a:endParaRPr b="0" i="0" sz="1800" u="none" cap="none" strike="noStrike">
              <a:solidFill>
                <a:schemeClr val="dk1"/>
              </a:solidFill>
              <a:latin typeface="Calibri"/>
              <a:ea typeface="Calibri"/>
              <a:cs typeface="Calibri"/>
              <a:sym typeface="Calibri"/>
            </a:endParaRPr>
          </a:p>
        </p:txBody>
      </p:sp>
      <p:pic>
        <p:nvPicPr>
          <p:cNvPr descr="preencoded.png" id="458" name="Google Shape;458;p10"/>
          <p:cNvPicPr preferRelativeResize="0"/>
          <p:nvPr/>
        </p:nvPicPr>
        <p:blipFill rotWithShape="1">
          <a:blip r:embed="rId3">
            <a:alphaModFix/>
          </a:blip>
          <a:srcRect b="0" l="-8" r="-8" t="0"/>
          <a:stretch/>
        </p:blipFill>
        <p:spPr>
          <a:xfrm>
            <a:off x="381305" y="2011680"/>
            <a:ext cx="3657600" cy="1904695"/>
          </a:xfrm>
          <a:prstGeom prst="rect">
            <a:avLst/>
          </a:prstGeom>
          <a:noFill/>
          <a:ln>
            <a:noFill/>
          </a:ln>
        </p:spPr>
      </p:pic>
      <p:sp>
        <p:nvSpPr>
          <p:cNvPr id="459" name="Google Shape;459;p10"/>
          <p:cNvSpPr/>
          <p:nvPr/>
        </p:nvSpPr>
        <p:spPr>
          <a:xfrm>
            <a:off x="381305" y="4059936"/>
            <a:ext cx="3657600" cy="895198"/>
          </a:xfrm>
          <a:prstGeom prst="rect">
            <a:avLst/>
          </a:prstGeom>
          <a:solidFill>
            <a:srgbClr val="FFFFFF"/>
          </a:solidFill>
          <a:ln cap="flat" cmpd="sng" w="12700">
            <a:solidFill>
              <a:srgbClr val="E6F2FF"/>
            </a:solidFill>
            <a:prstDash val="solid"/>
            <a:round/>
            <a:headEnd len="sm" w="sm" type="none"/>
            <a:tailEnd len="sm" w="sm" type="none"/>
          </a:ln>
          <a:effectLst>
            <a:outerShdw blurRad="38100" rotWithShape="0" algn="bl" dir="5400000" dist="25400">
              <a:srgbClr val="000000">
                <a:alpha val="4705"/>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0"/>
          <p:cNvSpPr txBox="1"/>
          <p:nvPr/>
        </p:nvSpPr>
        <p:spPr>
          <a:xfrm>
            <a:off x="533095" y="4183380"/>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分析ポイント：</a:t>
            </a:r>
            <a:endParaRPr b="0" i="0" sz="1200" u="none" cap="none" strike="noStrike">
              <a:solidFill>
                <a:schemeClr val="dk1"/>
              </a:solidFill>
              <a:latin typeface="Calibri"/>
              <a:ea typeface="Calibri"/>
              <a:cs typeface="Calibri"/>
              <a:sym typeface="Calibri"/>
            </a:endParaRPr>
          </a:p>
        </p:txBody>
      </p:sp>
      <p:sp>
        <p:nvSpPr>
          <p:cNvPr id="461" name="Google Shape;461;p10"/>
          <p:cNvSpPr txBox="1"/>
          <p:nvPr/>
        </p:nvSpPr>
        <p:spPr>
          <a:xfrm>
            <a:off x="533095" y="4431182"/>
            <a:ext cx="3381451" cy="4197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定型作業のAI自動化により、通常8時間の作業が5.6時間に短縮、担当者の作業負担を大幅に軽減</a:t>
            </a:r>
            <a:endParaRPr b="0" i="0" sz="1200" u="none" cap="none" strike="noStrike">
              <a:solidFill>
                <a:schemeClr val="dk1"/>
              </a:solidFill>
              <a:latin typeface="Calibri"/>
              <a:ea typeface="Calibri"/>
              <a:cs typeface="Calibri"/>
              <a:sym typeface="Calibri"/>
            </a:endParaRPr>
          </a:p>
        </p:txBody>
      </p:sp>
      <p:sp>
        <p:nvSpPr>
          <p:cNvPr id="462" name="Google Shape;462;p10"/>
          <p:cNvSpPr txBox="1"/>
          <p:nvPr/>
        </p:nvSpPr>
        <p:spPr>
          <a:xfrm>
            <a:off x="4267505" y="1554480"/>
            <a:ext cx="20007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対応スピード向上</a:t>
            </a:r>
            <a:endParaRPr b="0" i="0" sz="1800" u="none" cap="none" strike="noStrike">
              <a:solidFill>
                <a:schemeClr val="dk1"/>
              </a:solidFill>
              <a:latin typeface="Calibri"/>
              <a:ea typeface="Calibri"/>
              <a:cs typeface="Calibri"/>
              <a:sym typeface="Calibri"/>
            </a:endParaRPr>
          </a:p>
        </p:txBody>
      </p:sp>
      <p:pic>
        <p:nvPicPr>
          <p:cNvPr descr="preencoded.png" id="463" name="Google Shape;463;p10"/>
          <p:cNvPicPr preferRelativeResize="0"/>
          <p:nvPr/>
        </p:nvPicPr>
        <p:blipFill rotWithShape="1">
          <a:blip r:embed="rId4">
            <a:alphaModFix/>
          </a:blip>
          <a:srcRect b="0" l="-8" r="-8" t="0"/>
          <a:stretch/>
        </p:blipFill>
        <p:spPr>
          <a:xfrm>
            <a:off x="4267505" y="2011680"/>
            <a:ext cx="3657600" cy="1904695"/>
          </a:xfrm>
          <a:prstGeom prst="rect">
            <a:avLst/>
          </a:prstGeom>
          <a:noFill/>
          <a:ln>
            <a:noFill/>
          </a:ln>
        </p:spPr>
      </p:pic>
      <p:sp>
        <p:nvSpPr>
          <p:cNvPr id="464" name="Google Shape;464;p10"/>
          <p:cNvSpPr/>
          <p:nvPr/>
        </p:nvSpPr>
        <p:spPr>
          <a:xfrm>
            <a:off x="4267505" y="4059936"/>
            <a:ext cx="3657600" cy="895198"/>
          </a:xfrm>
          <a:prstGeom prst="rect">
            <a:avLst/>
          </a:prstGeom>
          <a:solidFill>
            <a:srgbClr val="FFFFFF"/>
          </a:solidFill>
          <a:ln cap="flat" cmpd="sng" w="12700">
            <a:solidFill>
              <a:srgbClr val="E6F2FF"/>
            </a:solidFill>
            <a:prstDash val="solid"/>
            <a:round/>
            <a:headEnd len="sm" w="sm" type="none"/>
            <a:tailEnd len="sm" w="sm" type="none"/>
          </a:ln>
          <a:effectLst>
            <a:outerShdw blurRad="38100" rotWithShape="0" algn="bl" dir="5400000" dist="25400">
              <a:srgbClr val="000000">
                <a:alpha val="4705"/>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0"/>
          <p:cNvSpPr txBox="1"/>
          <p:nvPr/>
        </p:nvSpPr>
        <p:spPr>
          <a:xfrm>
            <a:off x="4419295" y="4183380"/>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改善効果：</a:t>
            </a:r>
            <a:endParaRPr b="0" i="0" sz="1200" u="none" cap="none" strike="noStrike">
              <a:solidFill>
                <a:schemeClr val="dk1"/>
              </a:solidFill>
              <a:latin typeface="Calibri"/>
              <a:ea typeface="Calibri"/>
              <a:cs typeface="Calibri"/>
              <a:sym typeface="Calibri"/>
            </a:endParaRPr>
          </a:p>
        </p:txBody>
      </p:sp>
      <p:sp>
        <p:nvSpPr>
          <p:cNvPr id="466" name="Google Shape;466;p10"/>
          <p:cNvSpPr txBox="1"/>
          <p:nvPr/>
        </p:nvSpPr>
        <p:spPr>
          <a:xfrm>
            <a:off x="4419295" y="4431182"/>
            <a:ext cx="3324758" cy="4197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平均対応時間が従来の48時間から24時間へ短縮、お客様満足度向上に直結する即時性を実現</a:t>
            </a:r>
            <a:endParaRPr b="0" i="0" sz="1200" u="none" cap="none" strike="noStrike">
              <a:solidFill>
                <a:schemeClr val="dk1"/>
              </a:solidFill>
              <a:latin typeface="Calibri"/>
              <a:ea typeface="Calibri"/>
              <a:cs typeface="Calibri"/>
              <a:sym typeface="Calibri"/>
            </a:endParaRPr>
          </a:p>
        </p:txBody>
      </p:sp>
      <p:sp>
        <p:nvSpPr>
          <p:cNvPr id="467" name="Google Shape;467;p10"/>
          <p:cNvSpPr txBox="1"/>
          <p:nvPr/>
        </p:nvSpPr>
        <p:spPr>
          <a:xfrm>
            <a:off x="8153705" y="1554480"/>
            <a:ext cx="17721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ミス発生率低減</a:t>
            </a:r>
            <a:endParaRPr b="0" i="0" sz="1800" u="none" cap="none" strike="noStrike">
              <a:solidFill>
                <a:schemeClr val="dk1"/>
              </a:solidFill>
              <a:latin typeface="Calibri"/>
              <a:ea typeface="Calibri"/>
              <a:cs typeface="Calibri"/>
              <a:sym typeface="Calibri"/>
            </a:endParaRPr>
          </a:p>
        </p:txBody>
      </p:sp>
      <p:pic>
        <p:nvPicPr>
          <p:cNvPr descr="preencoded.png" id="468" name="Google Shape;468;p10"/>
          <p:cNvPicPr preferRelativeResize="0"/>
          <p:nvPr/>
        </p:nvPicPr>
        <p:blipFill rotWithShape="1">
          <a:blip r:embed="rId5">
            <a:alphaModFix/>
          </a:blip>
          <a:srcRect b="0" l="-8" r="-8" t="0"/>
          <a:stretch/>
        </p:blipFill>
        <p:spPr>
          <a:xfrm>
            <a:off x="8153705" y="2011680"/>
            <a:ext cx="3657600" cy="1904695"/>
          </a:xfrm>
          <a:prstGeom prst="rect">
            <a:avLst/>
          </a:prstGeom>
          <a:noFill/>
          <a:ln>
            <a:noFill/>
          </a:ln>
        </p:spPr>
      </p:pic>
      <p:sp>
        <p:nvSpPr>
          <p:cNvPr id="469" name="Google Shape;469;p10"/>
          <p:cNvSpPr/>
          <p:nvPr/>
        </p:nvSpPr>
        <p:spPr>
          <a:xfrm>
            <a:off x="8153705" y="4059936"/>
            <a:ext cx="3657600" cy="895198"/>
          </a:xfrm>
          <a:prstGeom prst="rect">
            <a:avLst/>
          </a:prstGeom>
          <a:solidFill>
            <a:srgbClr val="FFFFFF"/>
          </a:solidFill>
          <a:ln cap="flat" cmpd="sng" w="12700">
            <a:solidFill>
              <a:srgbClr val="E6F2FF"/>
            </a:solidFill>
            <a:prstDash val="solid"/>
            <a:round/>
            <a:headEnd len="sm" w="sm" type="none"/>
            <a:tailEnd len="sm" w="sm" type="none"/>
          </a:ln>
          <a:effectLst>
            <a:outerShdw blurRad="38100" rotWithShape="0" algn="bl" dir="5400000" dist="25400">
              <a:srgbClr val="000000">
                <a:alpha val="4705"/>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0"/>
          <p:cNvSpPr txBox="1"/>
          <p:nvPr/>
        </p:nvSpPr>
        <p:spPr>
          <a:xfrm>
            <a:off x="8305495" y="4183380"/>
            <a:ext cx="1038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200"/>
              <a:buFont typeface="Noto Sans JP"/>
              <a:buNone/>
            </a:pPr>
            <a:r>
              <a:rPr b="1" i="0" lang="en-US" sz="1200" u="none" cap="none" strike="noStrike">
                <a:solidFill>
                  <a:srgbClr val="0052CC"/>
                </a:solidFill>
                <a:latin typeface="Noto Sans JP"/>
                <a:ea typeface="Noto Sans JP"/>
                <a:cs typeface="Noto Sans JP"/>
                <a:sym typeface="Noto Sans JP"/>
              </a:rPr>
              <a:t>信頼性向上：</a:t>
            </a:r>
            <a:endParaRPr b="0" i="0" sz="1200" u="none" cap="none" strike="noStrike">
              <a:solidFill>
                <a:schemeClr val="dk1"/>
              </a:solidFill>
              <a:latin typeface="Calibri"/>
              <a:ea typeface="Calibri"/>
              <a:cs typeface="Calibri"/>
              <a:sym typeface="Calibri"/>
            </a:endParaRPr>
          </a:p>
        </p:txBody>
      </p:sp>
      <p:sp>
        <p:nvSpPr>
          <p:cNvPr id="471" name="Google Shape;471;p10"/>
          <p:cNvSpPr txBox="1"/>
          <p:nvPr/>
        </p:nvSpPr>
        <p:spPr>
          <a:xfrm>
            <a:off x="8305495" y="4431182"/>
            <a:ext cx="3477463" cy="4197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人的ミスが多発していた作業工程で80%のエラー削減を達成、再作業の大幅な減少につながる</a:t>
            </a:r>
            <a:endParaRPr b="0" i="0" sz="1200" u="none" cap="none" strike="noStrike">
              <a:solidFill>
                <a:schemeClr val="dk1"/>
              </a:solidFill>
              <a:latin typeface="Calibri"/>
              <a:ea typeface="Calibri"/>
              <a:cs typeface="Calibri"/>
              <a:sym typeface="Calibri"/>
            </a:endParaRPr>
          </a:p>
        </p:txBody>
      </p:sp>
      <p:sp>
        <p:nvSpPr>
          <p:cNvPr id="472" name="Google Shape;472;p10"/>
          <p:cNvSpPr txBox="1"/>
          <p:nvPr/>
        </p:nvSpPr>
        <p:spPr>
          <a:xfrm>
            <a:off x="381305" y="5202936"/>
            <a:ext cx="15435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主要効果指標</a:t>
            </a:r>
            <a:endParaRPr b="0" i="0" sz="1800" u="none" cap="none" strike="noStrike">
              <a:solidFill>
                <a:schemeClr val="dk1"/>
              </a:solidFill>
              <a:latin typeface="Calibri"/>
              <a:ea typeface="Calibri"/>
              <a:cs typeface="Calibri"/>
              <a:sym typeface="Calibri"/>
            </a:endParaRPr>
          </a:p>
        </p:txBody>
      </p:sp>
      <p:sp>
        <p:nvSpPr>
          <p:cNvPr id="473" name="Google Shape;473;p10"/>
          <p:cNvSpPr/>
          <p:nvPr/>
        </p:nvSpPr>
        <p:spPr>
          <a:xfrm>
            <a:off x="381305" y="5660136"/>
            <a:ext cx="2286000" cy="942746"/>
          </a:xfrm>
          <a:prstGeom prst="roundRect">
            <a:avLst>
              <a:gd fmla="val 3919" name="adj"/>
            </a:avLst>
          </a:prstGeom>
          <a:solidFill>
            <a:srgbClr val="F8FBFF"/>
          </a:solidFill>
          <a:ln cap="flat" cmpd="sng" w="12700">
            <a:solidFill>
              <a:srgbClr val="E6F2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0"/>
          <p:cNvSpPr txBox="1"/>
          <p:nvPr/>
        </p:nvSpPr>
        <p:spPr>
          <a:xfrm>
            <a:off x="1164946" y="5783580"/>
            <a:ext cx="896112"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▲30%</a:t>
            </a:r>
            <a:endParaRPr b="0" i="0" sz="1800" u="none" cap="none" strike="noStrike">
              <a:solidFill>
                <a:schemeClr val="dk1"/>
              </a:solidFill>
              <a:latin typeface="Calibri"/>
              <a:ea typeface="Calibri"/>
              <a:cs typeface="Calibri"/>
              <a:sym typeface="Calibri"/>
            </a:endParaRPr>
          </a:p>
        </p:txBody>
      </p:sp>
      <p:sp>
        <p:nvSpPr>
          <p:cNvPr id="475" name="Google Shape;475;p10"/>
          <p:cNvSpPr txBox="1"/>
          <p:nvPr/>
        </p:nvSpPr>
        <p:spPr>
          <a:xfrm>
            <a:off x="1123798" y="6126480"/>
            <a:ext cx="900684"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作業時間削減</a:t>
            </a:r>
            <a:endParaRPr b="0" i="0" sz="1000" u="none" cap="none" strike="noStrike">
              <a:solidFill>
                <a:schemeClr val="dk1"/>
              </a:solidFill>
              <a:latin typeface="Calibri"/>
              <a:ea typeface="Calibri"/>
              <a:cs typeface="Calibri"/>
              <a:sym typeface="Calibri"/>
            </a:endParaRPr>
          </a:p>
        </p:txBody>
      </p:sp>
      <p:sp>
        <p:nvSpPr>
          <p:cNvPr id="476" name="Google Shape;476;p10"/>
          <p:cNvSpPr txBox="1"/>
          <p:nvPr/>
        </p:nvSpPr>
        <p:spPr>
          <a:xfrm>
            <a:off x="952805" y="6316675"/>
            <a:ext cx="1239012" cy="1627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900"/>
              <a:buFont typeface="Noto Sans JP"/>
              <a:buNone/>
            </a:pPr>
            <a:r>
              <a:rPr b="0" i="0" lang="en-US" sz="900" u="none" cap="none" strike="noStrike">
                <a:solidFill>
                  <a:srgbClr val="4A90E2"/>
                </a:solidFill>
                <a:latin typeface="Noto Sans JP"/>
                <a:ea typeface="Noto Sans JP"/>
                <a:cs typeface="Noto Sans JP"/>
                <a:sym typeface="Noto Sans JP"/>
              </a:rPr>
              <a:t>担当者の本来業務創出</a:t>
            </a:r>
            <a:endParaRPr b="0" i="0" sz="900" u="none" cap="none" strike="noStrike">
              <a:solidFill>
                <a:schemeClr val="dk1"/>
              </a:solidFill>
              <a:latin typeface="Calibri"/>
              <a:ea typeface="Calibri"/>
              <a:cs typeface="Calibri"/>
              <a:sym typeface="Calibri"/>
            </a:endParaRPr>
          </a:p>
        </p:txBody>
      </p:sp>
      <p:sp>
        <p:nvSpPr>
          <p:cNvPr id="477" name="Google Shape;477;p10"/>
          <p:cNvSpPr/>
          <p:nvPr/>
        </p:nvSpPr>
        <p:spPr>
          <a:xfrm>
            <a:off x="3429000" y="5660136"/>
            <a:ext cx="2286000" cy="942746"/>
          </a:xfrm>
          <a:prstGeom prst="roundRect">
            <a:avLst>
              <a:gd fmla="val 3919" name="adj"/>
            </a:avLst>
          </a:prstGeom>
          <a:solidFill>
            <a:srgbClr val="F8FBFF"/>
          </a:solidFill>
          <a:ln cap="flat" cmpd="sng" w="12700">
            <a:solidFill>
              <a:srgbClr val="E6F2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0"/>
          <p:cNvSpPr txBox="1"/>
          <p:nvPr/>
        </p:nvSpPr>
        <p:spPr>
          <a:xfrm>
            <a:off x="4285793" y="5783580"/>
            <a:ext cx="752551"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2.0倍</a:t>
            </a:r>
            <a:endParaRPr b="0" i="0" sz="1800" u="none" cap="none" strike="noStrike">
              <a:solidFill>
                <a:schemeClr val="dk1"/>
              </a:solidFill>
              <a:latin typeface="Calibri"/>
              <a:ea typeface="Calibri"/>
              <a:cs typeface="Calibri"/>
              <a:sym typeface="Calibri"/>
            </a:endParaRPr>
          </a:p>
        </p:txBody>
      </p:sp>
      <p:sp>
        <p:nvSpPr>
          <p:cNvPr id="479" name="Google Shape;479;p10"/>
          <p:cNvSpPr txBox="1"/>
          <p:nvPr/>
        </p:nvSpPr>
        <p:spPr>
          <a:xfrm>
            <a:off x="4038905" y="6126480"/>
            <a:ext cx="1167689"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対応スピード向上</a:t>
            </a:r>
            <a:endParaRPr b="0" i="0" sz="1000" u="none" cap="none" strike="noStrike">
              <a:solidFill>
                <a:schemeClr val="dk1"/>
              </a:solidFill>
              <a:latin typeface="Calibri"/>
              <a:ea typeface="Calibri"/>
              <a:cs typeface="Calibri"/>
              <a:sym typeface="Calibri"/>
            </a:endParaRPr>
          </a:p>
        </p:txBody>
      </p:sp>
      <p:sp>
        <p:nvSpPr>
          <p:cNvPr id="480" name="Google Shape;480;p10"/>
          <p:cNvSpPr txBox="1"/>
          <p:nvPr/>
        </p:nvSpPr>
        <p:spPr>
          <a:xfrm>
            <a:off x="4114800" y="6316675"/>
            <a:ext cx="1010412" cy="1627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900"/>
              <a:buFont typeface="Noto Sans JP"/>
              <a:buNone/>
            </a:pPr>
            <a:r>
              <a:rPr b="0" i="0" lang="en-US" sz="900" u="none" cap="none" strike="noStrike">
                <a:solidFill>
                  <a:srgbClr val="4A90E2"/>
                </a:solidFill>
                <a:latin typeface="Noto Sans JP"/>
                <a:ea typeface="Noto Sans JP"/>
                <a:cs typeface="Noto Sans JP"/>
                <a:sym typeface="Noto Sans JP"/>
              </a:rPr>
              <a:t>顧客満足度に直結</a:t>
            </a:r>
            <a:endParaRPr b="0" i="0" sz="900" u="none" cap="none" strike="noStrike">
              <a:solidFill>
                <a:schemeClr val="dk1"/>
              </a:solidFill>
              <a:latin typeface="Calibri"/>
              <a:ea typeface="Calibri"/>
              <a:cs typeface="Calibri"/>
              <a:sym typeface="Calibri"/>
            </a:endParaRPr>
          </a:p>
        </p:txBody>
      </p:sp>
      <p:sp>
        <p:nvSpPr>
          <p:cNvPr id="481" name="Google Shape;481;p10"/>
          <p:cNvSpPr/>
          <p:nvPr/>
        </p:nvSpPr>
        <p:spPr>
          <a:xfrm>
            <a:off x="6476695" y="5660136"/>
            <a:ext cx="2286000" cy="942746"/>
          </a:xfrm>
          <a:prstGeom prst="roundRect">
            <a:avLst>
              <a:gd fmla="val 3919" name="adj"/>
            </a:avLst>
          </a:prstGeom>
          <a:solidFill>
            <a:srgbClr val="F8FBFF"/>
          </a:solidFill>
          <a:ln cap="flat" cmpd="sng" w="12700">
            <a:solidFill>
              <a:srgbClr val="E6F2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0"/>
          <p:cNvSpPr txBox="1"/>
          <p:nvPr/>
        </p:nvSpPr>
        <p:spPr>
          <a:xfrm>
            <a:off x="7260336" y="5783580"/>
            <a:ext cx="896112"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▲80%</a:t>
            </a:r>
            <a:endParaRPr b="0" i="0" sz="1800" u="none" cap="none" strike="noStrike">
              <a:solidFill>
                <a:schemeClr val="dk1"/>
              </a:solidFill>
              <a:latin typeface="Calibri"/>
              <a:ea typeface="Calibri"/>
              <a:cs typeface="Calibri"/>
              <a:sym typeface="Calibri"/>
            </a:endParaRPr>
          </a:p>
        </p:txBody>
      </p:sp>
      <p:sp>
        <p:nvSpPr>
          <p:cNvPr id="483" name="Google Shape;483;p10"/>
          <p:cNvSpPr txBox="1"/>
          <p:nvPr/>
        </p:nvSpPr>
        <p:spPr>
          <a:xfrm>
            <a:off x="7153351" y="6126480"/>
            <a:ext cx="1034186"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ミス発生率削減</a:t>
            </a:r>
            <a:endParaRPr b="0" i="0" sz="1000" u="none" cap="none" strike="noStrike">
              <a:solidFill>
                <a:schemeClr val="dk1"/>
              </a:solidFill>
              <a:latin typeface="Calibri"/>
              <a:ea typeface="Calibri"/>
              <a:cs typeface="Calibri"/>
              <a:sym typeface="Calibri"/>
            </a:endParaRPr>
          </a:p>
        </p:txBody>
      </p:sp>
      <p:sp>
        <p:nvSpPr>
          <p:cNvPr id="484" name="Google Shape;484;p10"/>
          <p:cNvSpPr txBox="1"/>
          <p:nvPr/>
        </p:nvSpPr>
        <p:spPr>
          <a:xfrm>
            <a:off x="7276795" y="6316675"/>
            <a:ext cx="781812" cy="1627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900"/>
              <a:buFont typeface="Noto Sans JP"/>
              <a:buNone/>
            </a:pPr>
            <a:r>
              <a:rPr b="0" i="0" lang="en-US" sz="900" u="none" cap="none" strike="noStrike">
                <a:solidFill>
                  <a:srgbClr val="4A90E2"/>
                </a:solidFill>
                <a:latin typeface="Noto Sans JP"/>
                <a:ea typeface="Noto Sans JP"/>
                <a:cs typeface="Noto Sans JP"/>
                <a:sym typeface="Noto Sans JP"/>
              </a:rPr>
              <a:t>品質の安定化</a:t>
            </a:r>
            <a:endParaRPr b="0" i="0" sz="900" u="none" cap="none" strike="noStrike">
              <a:solidFill>
                <a:schemeClr val="dk1"/>
              </a:solidFill>
              <a:latin typeface="Calibri"/>
              <a:ea typeface="Calibri"/>
              <a:cs typeface="Calibri"/>
              <a:sym typeface="Calibri"/>
            </a:endParaRPr>
          </a:p>
        </p:txBody>
      </p:sp>
      <p:sp>
        <p:nvSpPr>
          <p:cNvPr id="485" name="Google Shape;485;p10"/>
          <p:cNvSpPr/>
          <p:nvPr/>
        </p:nvSpPr>
        <p:spPr>
          <a:xfrm>
            <a:off x="9525305" y="5660136"/>
            <a:ext cx="2286000" cy="942746"/>
          </a:xfrm>
          <a:prstGeom prst="roundRect">
            <a:avLst>
              <a:gd fmla="val 3919" name="adj"/>
            </a:avLst>
          </a:prstGeom>
          <a:solidFill>
            <a:srgbClr val="F8FBFF"/>
          </a:solidFill>
          <a:ln cap="flat" cmpd="sng" w="12700">
            <a:solidFill>
              <a:srgbClr val="E6F2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0"/>
          <p:cNvSpPr txBox="1"/>
          <p:nvPr/>
        </p:nvSpPr>
        <p:spPr>
          <a:xfrm>
            <a:off x="10236708" y="5783580"/>
            <a:ext cx="1038758"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240万円</a:t>
            </a:r>
            <a:endParaRPr b="0" i="0" sz="1800" u="none" cap="none" strike="noStrike">
              <a:solidFill>
                <a:schemeClr val="dk1"/>
              </a:solidFill>
              <a:latin typeface="Calibri"/>
              <a:ea typeface="Calibri"/>
              <a:cs typeface="Calibri"/>
              <a:sym typeface="Calibri"/>
            </a:endParaRPr>
          </a:p>
        </p:txBody>
      </p:sp>
      <p:sp>
        <p:nvSpPr>
          <p:cNvPr id="487" name="Google Shape;487;p10"/>
          <p:cNvSpPr txBox="1"/>
          <p:nvPr/>
        </p:nvSpPr>
        <p:spPr>
          <a:xfrm>
            <a:off x="10201046" y="6126480"/>
            <a:ext cx="1034186" cy="19111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000"/>
              <a:buFont typeface="Noto Sans JP"/>
              <a:buNone/>
            </a:pPr>
            <a:r>
              <a:rPr b="0" i="0" lang="en-US" sz="1000" u="none" cap="none" strike="noStrike">
                <a:solidFill>
                  <a:srgbClr val="003366"/>
                </a:solidFill>
                <a:latin typeface="Noto Sans JP"/>
                <a:ea typeface="Noto Sans JP"/>
                <a:cs typeface="Noto Sans JP"/>
                <a:sym typeface="Noto Sans JP"/>
              </a:rPr>
              <a:t>年間人件費削減</a:t>
            </a:r>
            <a:endParaRPr b="0" i="0" sz="1000" u="none" cap="none" strike="noStrike">
              <a:solidFill>
                <a:schemeClr val="dk1"/>
              </a:solidFill>
              <a:latin typeface="Calibri"/>
              <a:ea typeface="Calibri"/>
              <a:cs typeface="Calibri"/>
              <a:sym typeface="Calibri"/>
            </a:endParaRPr>
          </a:p>
        </p:txBody>
      </p:sp>
      <p:sp>
        <p:nvSpPr>
          <p:cNvPr id="488" name="Google Shape;488;p10"/>
          <p:cNvSpPr txBox="1"/>
          <p:nvPr/>
        </p:nvSpPr>
        <p:spPr>
          <a:xfrm>
            <a:off x="10235794" y="6316675"/>
            <a:ext cx="952805" cy="1627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A90E2"/>
              </a:buClr>
              <a:buSzPts val="900"/>
              <a:buFont typeface="Noto Sans JP"/>
              <a:buNone/>
            </a:pPr>
            <a:r>
              <a:rPr b="0" i="0" lang="en-US" sz="900" u="none" cap="none" strike="noStrike">
                <a:solidFill>
                  <a:srgbClr val="4A90E2"/>
                </a:solidFill>
                <a:latin typeface="Noto Sans JP"/>
                <a:ea typeface="Noto Sans JP"/>
                <a:cs typeface="Noto Sans JP"/>
                <a:sym typeface="Noto Sans JP"/>
              </a:rPr>
              <a:t>投資回収1年以内</a:t>
            </a:r>
            <a:endParaRPr b="0" i="0" sz="900" u="none" cap="none" strike="noStrike">
              <a:solidFill>
                <a:schemeClr val="dk1"/>
              </a:solidFill>
              <a:latin typeface="Calibri"/>
              <a:ea typeface="Calibri"/>
              <a:cs typeface="Calibri"/>
              <a:sym typeface="Calibri"/>
            </a:endParaRPr>
          </a:p>
        </p:txBody>
      </p:sp>
      <p:sp>
        <p:nvSpPr>
          <p:cNvPr id="489" name="Google Shape;489;p10"/>
          <p:cNvSpPr txBox="1"/>
          <p:nvPr/>
        </p:nvSpPr>
        <p:spPr>
          <a:xfrm>
            <a:off x="11642141" y="6602882"/>
            <a:ext cx="286207"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3366"/>
              </a:buClr>
              <a:buSzPts val="1200"/>
              <a:buFont typeface="Noto Sans JP"/>
              <a:buNone/>
            </a:pPr>
            <a:r>
              <a:rPr b="0" i="0" lang="en-US" sz="1200" u="none" cap="none" strike="noStrike">
                <a:solidFill>
                  <a:srgbClr val="003366"/>
                </a:solidFill>
                <a:latin typeface="Noto Sans JP"/>
                <a:ea typeface="Noto Sans JP"/>
                <a:cs typeface="Noto Sans JP"/>
                <a:sym typeface="Noto Sans JP"/>
              </a:rPr>
              <a:t>10</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11"/>
          <p:cNvSpPr/>
          <p:nvPr/>
        </p:nvSpPr>
        <p:spPr>
          <a:xfrm>
            <a:off x="9810600" y="0"/>
            <a:ext cx="2400300" cy="19047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1"/>
          <p:cNvSpPr/>
          <p:nvPr/>
        </p:nvSpPr>
        <p:spPr>
          <a:xfrm>
            <a:off x="952800" y="5429702"/>
            <a:ext cx="1904700" cy="1428300"/>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1"/>
          <p:cNvSpPr txBox="1"/>
          <p:nvPr/>
        </p:nvSpPr>
        <p:spPr>
          <a:xfrm>
            <a:off x="381305" y="598932"/>
            <a:ext cx="3696005" cy="4956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2700"/>
              <a:buFont typeface="Noto Sans JP"/>
              <a:buNone/>
            </a:pPr>
            <a:r>
              <a:rPr b="1" i="0" lang="en-US" sz="2700" u="none" cap="none" strike="noStrike">
                <a:solidFill>
                  <a:srgbClr val="0A2463"/>
                </a:solidFill>
                <a:latin typeface="Noto Sans JP"/>
                <a:ea typeface="Noto Sans JP"/>
                <a:cs typeface="Noto Sans JP"/>
                <a:sym typeface="Noto Sans JP"/>
              </a:rPr>
              <a:t>導入実績・お客様の声</a:t>
            </a:r>
            <a:endParaRPr b="0" i="0" sz="2700" u="none" cap="none" strike="noStrike">
              <a:solidFill>
                <a:schemeClr val="dk1"/>
              </a:solidFill>
              <a:latin typeface="Calibri"/>
              <a:ea typeface="Calibri"/>
              <a:cs typeface="Calibri"/>
              <a:sym typeface="Calibri"/>
            </a:endParaRPr>
          </a:p>
        </p:txBody>
      </p:sp>
      <p:sp>
        <p:nvSpPr>
          <p:cNvPr id="498" name="Google Shape;498;p11"/>
          <p:cNvSpPr/>
          <p:nvPr/>
        </p:nvSpPr>
        <p:spPr>
          <a:xfrm>
            <a:off x="381305" y="1172261"/>
            <a:ext cx="571500" cy="38405"/>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1"/>
          <p:cNvSpPr txBox="1"/>
          <p:nvPr/>
        </p:nvSpPr>
        <p:spPr>
          <a:xfrm>
            <a:off x="381305" y="1439266"/>
            <a:ext cx="5477256"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AI導入の効果： お客様の業務プロセスを変革し、業務効率と顧客満足度を大幅に向上させています</a:t>
            </a:r>
            <a:endParaRPr b="0" i="0" sz="1200" u="none" cap="none" strike="noStrike">
              <a:solidFill>
                <a:schemeClr val="dk1"/>
              </a:solidFill>
              <a:latin typeface="Calibri"/>
              <a:ea typeface="Calibri"/>
              <a:cs typeface="Calibri"/>
              <a:sym typeface="Calibri"/>
            </a:endParaRPr>
          </a:p>
        </p:txBody>
      </p:sp>
      <p:sp>
        <p:nvSpPr>
          <p:cNvPr id="500" name="Google Shape;500;p11"/>
          <p:cNvSpPr txBox="1"/>
          <p:nvPr/>
        </p:nvSpPr>
        <p:spPr>
          <a:xfrm>
            <a:off x="381305" y="2049170"/>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主な導入効果：</a:t>
            </a:r>
            <a:endParaRPr b="0" i="0" sz="1200" u="none" cap="none" strike="noStrike">
              <a:solidFill>
                <a:schemeClr val="dk1"/>
              </a:solidFill>
              <a:latin typeface="Calibri"/>
              <a:ea typeface="Calibri"/>
              <a:cs typeface="Calibri"/>
              <a:sym typeface="Calibri"/>
            </a:endParaRPr>
          </a:p>
        </p:txBody>
      </p:sp>
      <p:sp>
        <p:nvSpPr>
          <p:cNvPr id="501" name="Google Shape;501;p11"/>
          <p:cNvSpPr txBox="1"/>
          <p:nvPr/>
        </p:nvSpPr>
        <p:spPr>
          <a:xfrm>
            <a:off x="609905" y="2429561"/>
            <a:ext cx="34582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定型業務の自動化による人的リソースの有効活用</a:t>
            </a:r>
            <a:endParaRPr b="0" i="0" sz="1200" u="none" cap="none" strike="noStrike">
              <a:solidFill>
                <a:schemeClr val="dk1"/>
              </a:solidFill>
              <a:latin typeface="Calibri"/>
              <a:ea typeface="Calibri"/>
              <a:cs typeface="Calibri"/>
              <a:sym typeface="Calibri"/>
            </a:endParaRPr>
          </a:p>
        </p:txBody>
      </p:sp>
      <p:sp>
        <p:nvSpPr>
          <p:cNvPr id="502" name="Google Shape;502;p11"/>
          <p:cNvSpPr txBox="1"/>
          <p:nvPr/>
        </p:nvSpPr>
        <p:spPr>
          <a:xfrm>
            <a:off x="609905" y="2734970"/>
            <a:ext cx="28675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24時間対応によるレスポンス時間の短縮</a:t>
            </a:r>
            <a:endParaRPr b="0" i="0" sz="1200" u="none" cap="none" strike="noStrike">
              <a:solidFill>
                <a:schemeClr val="dk1"/>
              </a:solidFill>
              <a:latin typeface="Calibri"/>
              <a:ea typeface="Calibri"/>
              <a:cs typeface="Calibri"/>
              <a:sym typeface="Calibri"/>
            </a:endParaRPr>
          </a:p>
        </p:txBody>
      </p:sp>
      <p:sp>
        <p:nvSpPr>
          <p:cNvPr id="503" name="Google Shape;503;p11"/>
          <p:cNvSpPr txBox="1"/>
          <p:nvPr/>
        </p:nvSpPr>
        <p:spPr>
          <a:xfrm>
            <a:off x="609905" y="3039466"/>
            <a:ext cx="19531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ミスの削減と品質の安定化</a:t>
            </a:r>
            <a:endParaRPr b="0" i="0" sz="1200" u="none" cap="none" strike="noStrike">
              <a:solidFill>
                <a:schemeClr val="dk1"/>
              </a:solidFill>
              <a:latin typeface="Calibri"/>
              <a:ea typeface="Calibri"/>
              <a:cs typeface="Calibri"/>
              <a:sym typeface="Calibri"/>
            </a:endParaRPr>
          </a:p>
        </p:txBody>
      </p:sp>
      <p:sp>
        <p:nvSpPr>
          <p:cNvPr id="504" name="Google Shape;504;p11"/>
          <p:cNvSpPr txBox="1"/>
          <p:nvPr/>
        </p:nvSpPr>
        <p:spPr>
          <a:xfrm>
            <a:off x="609905" y="3343961"/>
            <a:ext cx="24003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5091"/>
              </a:buClr>
              <a:buSzPts val="1200"/>
              <a:buFont typeface="Noto Sans JP"/>
              <a:buNone/>
            </a:pPr>
            <a:r>
              <a:rPr b="0" i="0" lang="en-US" sz="1200" u="none" cap="none" strike="noStrike">
                <a:solidFill>
                  <a:srgbClr val="1E5091"/>
                </a:solidFill>
                <a:latin typeface="Noto Sans JP"/>
                <a:ea typeface="Noto Sans JP"/>
                <a:cs typeface="Noto Sans JP"/>
                <a:sym typeface="Noto Sans JP"/>
              </a:rPr>
              <a:t>データ分析による新たな価値創造</a:t>
            </a:r>
            <a:endParaRPr b="0" i="0" sz="1200" u="none" cap="none" strike="noStrike">
              <a:solidFill>
                <a:schemeClr val="dk1"/>
              </a:solidFill>
              <a:latin typeface="Calibri"/>
              <a:ea typeface="Calibri"/>
              <a:cs typeface="Calibri"/>
              <a:sym typeface="Calibri"/>
            </a:endParaRPr>
          </a:p>
        </p:txBody>
      </p:sp>
      <p:sp>
        <p:nvSpPr>
          <p:cNvPr id="505" name="Google Shape;505;p11"/>
          <p:cNvSpPr/>
          <p:nvPr/>
        </p:nvSpPr>
        <p:spPr>
          <a:xfrm>
            <a:off x="381305" y="3725266"/>
            <a:ext cx="5410505" cy="743407"/>
          </a:xfrm>
          <a:prstGeom prst="rect">
            <a:avLst/>
          </a:prstGeom>
          <a:solidFill>
            <a:srgbClr val="3E92CC">
              <a:alpha val="4705"/>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1"/>
          <p:cNvSpPr/>
          <p:nvPr/>
        </p:nvSpPr>
        <p:spPr>
          <a:xfrm>
            <a:off x="381305" y="3725266"/>
            <a:ext cx="28346" cy="743407"/>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7" name="Google Shape;507;p11"/>
          <p:cNvPicPr preferRelativeResize="0"/>
          <p:nvPr/>
        </p:nvPicPr>
        <p:blipFill rotWithShape="1">
          <a:blip r:embed="rId3">
            <a:alphaModFix amt="40000"/>
          </a:blip>
          <a:srcRect b="0" l="-56" r="-57" t="0"/>
          <a:stretch/>
        </p:blipFill>
        <p:spPr>
          <a:xfrm>
            <a:off x="504749" y="3820363"/>
            <a:ext cx="200254" cy="228600"/>
          </a:xfrm>
          <a:prstGeom prst="rect">
            <a:avLst/>
          </a:prstGeom>
          <a:noFill/>
          <a:ln>
            <a:noFill/>
          </a:ln>
        </p:spPr>
      </p:pic>
      <p:sp>
        <p:nvSpPr>
          <p:cNvPr id="508" name="Google Shape;508;p11"/>
          <p:cNvSpPr txBox="1"/>
          <p:nvPr/>
        </p:nvSpPr>
        <p:spPr>
          <a:xfrm>
            <a:off x="743407" y="3867912"/>
            <a:ext cx="465795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200"/>
              <a:buFont typeface="Noto Sans JP"/>
              <a:buNone/>
            </a:pPr>
            <a:r>
              <a:rPr b="0" i="1" lang="en-US" sz="1200" u="none" cap="none" strike="noStrike">
                <a:solidFill>
                  <a:srgbClr val="0A2463"/>
                </a:solidFill>
                <a:latin typeface="Noto Sans JP"/>
                <a:ea typeface="Noto Sans JP"/>
                <a:cs typeface="Noto Sans JP"/>
                <a:sym typeface="Noto Sans JP"/>
              </a:rPr>
              <a:t>「AI導入で"作業時間削減"以上に、"お客様対応の質"が向上しました」</a:t>
            </a:r>
            <a:endParaRPr b="0" i="0" sz="1200" u="none" cap="none" strike="noStrike">
              <a:solidFill>
                <a:schemeClr val="dk1"/>
              </a:solidFill>
              <a:latin typeface="Calibri"/>
              <a:ea typeface="Calibri"/>
              <a:cs typeface="Calibri"/>
              <a:sym typeface="Calibri"/>
            </a:endParaRPr>
          </a:p>
        </p:txBody>
      </p:sp>
      <p:pic>
        <p:nvPicPr>
          <p:cNvPr descr="preencoded.png" id="509" name="Google Shape;509;p11"/>
          <p:cNvPicPr preferRelativeResize="0"/>
          <p:nvPr/>
        </p:nvPicPr>
        <p:blipFill rotWithShape="1">
          <a:blip r:embed="rId4">
            <a:alphaModFix amt="40000"/>
          </a:blip>
          <a:srcRect b="0" l="-56" r="-57" t="0"/>
          <a:stretch/>
        </p:blipFill>
        <p:spPr>
          <a:xfrm>
            <a:off x="5495544" y="4144061"/>
            <a:ext cx="200254" cy="228600"/>
          </a:xfrm>
          <a:prstGeom prst="rect">
            <a:avLst/>
          </a:prstGeom>
          <a:noFill/>
          <a:ln>
            <a:noFill/>
          </a:ln>
        </p:spPr>
      </p:pic>
      <p:sp>
        <p:nvSpPr>
          <p:cNvPr id="510" name="Google Shape;510;p11"/>
          <p:cNvSpPr txBox="1"/>
          <p:nvPr/>
        </p:nvSpPr>
        <p:spPr>
          <a:xfrm>
            <a:off x="8153705" y="381305"/>
            <a:ext cx="17721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E92CC"/>
              </a:buClr>
              <a:buSzPts val="1800"/>
              <a:buFont typeface="Noto Sans JP"/>
              <a:buNone/>
            </a:pPr>
            <a:r>
              <a:rPr b="1" i="0" lang="en-US" sz="1800" u="none" cap="none" strike="noStrike">
                <a:solidFill>
                  <a:srgbClr val="3E92CC"/>
                </a:solidFill>
                <a:latin typeface="Noto Sans JP"/>
                <a:ea typeface="Noto Sans JP"/>
                <a:cs typeface="Noto Sans JP"/>
                <a:sym typeface="Noto Sans JP"/>
              </a:rPr>
              <a:t>お客様導入事例</a:t>
            </a:r>
            <a:endParaRPr b="0" i="0" sz="1800" u="none" cap="none" strike="noStrike">
              <a:solidFill>
                <a:schemeClr val="dk1"/>
              </a:solidFill>
              <a:latin typeface="Calibri"/>
              <a:ea typeface="Calibri"/>
              <a:cs typeface="Calibri"/>
              <a:sym typeface="Calibri"/>
            </a:endParaRPr>
          </a:p>
        </p:txBody>
      </p:sp>
      <p:sp>
        <p:nvSpPr>
          <p:cNvPr id="511" name="Google Shape;511;p11"/>
          <p:cNvSpPr/>
          <p:nvPr/>
        </p:nvSpPr>
        <p:spPr>
          <a:xfrm>
            <a:off x="6096305" y="875995"/>
            <a:ext cx="5715000" cy="1133856"/>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1"/>
          <p:cNvSpPr/>
          <p:nvPr/>
        </p:nvSpPr>
        <p:spPr>
          <a:xfrm>
            <a:off x="6096305" y="875995"/>
            <a:ext cx="28346" cy="1133856"/>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3" name="Google Shape;513;p11"/>
          <p:cNvPicPr preferRelativeResize="0"/>
          <p:nvPr/>
        </p:nvPicPr>
        <p:blipFill rotWithShape="1">
          <a:blip r:embed="rId5">
            <a:alphaModFix/>
          </a:blip>
          <a:srcRect b="0" l="-133" r="-133" t="0"/>
          <a:stretch/>
        </p:blipFill>
        <p:spPr>
          <a:xfrm>
            <a:off x="6238951" y="966521"/>
            <a:ext cx="171907" cy="228600"/>
          </a:xfrm>
          <a:prstGeom prst="rect">
            <a:avLst/>
          </a:prstGeom>
          <a:noFill/>
          <a:ln>
            <a:noFill/>
          </a:ln>
        </p:spPr>
      </p:pic>
      <p:sp>
        <p:nvSpPr>
          <p:cNvPr id="514" name="Google Shape;514;p11"/>
          <p:cNvSpPr txBox="1"/>
          <p:nvPr/>
        </p:nvSpPr>
        <p:spPr>
          <a:xfrm>
            <a:off x="6524244" y="952805"/>
            <a:ext cx="2186330"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Noto Sans JP"/>
              <a:buNone/>
            </a:pPr>
            <a:r>
              <a:rPr b="1" i="0" lang="en-US" sz="1300" u="none" cap="none" strike="noStrike">
                <a:solidFill>
                  <a:srgbClr val="0A2463"/>
                </a:solidFill>
                <a:latin typeface="Noto Sans JP"/>
                <a:ea typeface="Noto Sans JP"/>
                <a:cs typeface="Noto Sans JP"/>
                <a:sym typeface="Noto Sans JP"/>
              </a:rPr>
              <a:t>◯◯社：レポート作成AI化</a:t>
            </a:r>
            <a:endParaRPr b="0" i="0" sz="1300" u="none" cap="none" strike="noStrike">
              <a:solidFill>
                <a:schemeClr val="dk1"/>
              </a:solidFill>
              <a:latin typeface="Calibri"/>
              <a:ea typeface="Calibri"/>
              <a:cs typeface="Calibri"/>
              <a:sym typeface="Calibri"/>
            </a:endParaRPr>
          </a:p>
        </p:txBody>
      </p:sp>
      <p:sp>
        <p:nvSpPr>
          <p:cNvPr id="515" name="Google Shape;515;p11"/>
          <p:cNvSpPr txBox="1"/>
          <p:nvPr/>
        </p:nvSpPr>
        <p:spPr>
          <a:xfrm>
            <a:off x="6238951" y="1285646"/>
            <a:ext cx="5491886" cy="3813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000"/>
              <a:buFont typeface="Noto Sans JP"/>
              <a:buNone/>
            </a:pPr>
            <a:r>
              <a:rPr b="0" i="0" lang="en-US" sz="1000" u="none" cap="none" strike="noStrike">
                <a:solidFill>
                  <a:srgbClr val="0A2463"/>
                </a:solidFill>
                <a:latin typeface="Noto Sans JP"/>
                <a:ea typeface="Noto Sans JP"/>
                <a:cs typeface="Noto Sans JP"/>
                <a:sym typeface="Noto Sans JP"/>
              </a:rPr>
              <a:t>月次レポート作成をAI自動化し、作成時間を従来の1/5に短縮。担当者は分析業務に集中できるようになり、納期を半減させました。</a:t>
            </a:r>
            <a:endParaRPr b="0" i="0" sz="1000" u="none" cap="none" strike="noStrike">
              <a:solidFill>
                <a:schemeClr val="dk1"/>
              </a:solidFill>
              <a:latin typeface="Calibri"/>
              <a:ea typeface="Calibri"/>
              <a:cs typeface="Calibri"/>
              <a:sym typeface="Calibri"/>
            </a:endParaRPr>
          </a:p>
        </p:txBody>
      </p:sp>
      <p:sp>
        <p:nvSpPr>
          <p:cNvPr id="516" name="Google Shape;516;p11"/>
          <p:cNvSpPr txBox="1"/>
          <p:nvPr/>
        </p:nvSpPr>
        <p:spPr>
          <a:xfrm>
            <a:off x="6238951" y="1742846"/>
            <a:ext cx="2548433"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000"/>
              <a:buFont typeface="Noto Sans JP"/>
              <a:buNone/>
            </a:pPr>
            <a:r>
              <a:rPr b="1" i="0" lang="en-US" sz="1000" u="none" cap="none" strike="noStrike">
                <a:solidFill>
                  <a:srgbClr val="3E92CC"/>
                </a:solidFill>
                <a:latin typeface="Noto Sans JP"/>
                <a:ea typeface="Noto Sans JP"/>
                <a:cs typeface="Noto Sans JP"/>
                <a:sym typeface="Noto Sans JP"/>
              </a:rPr>
              <a:t>効果：作業時間80%削減・納期50%短縮</a:t>
            </a:r>
            <a:endParaRPr b="0" i="0" sz="1000" u="none" cap="none" strike="noStrike">
              <a:solidFill>
                <a:schemeClr val="dk1"/>
              </a:solidFill>
              <a:latin typeface="Calibri"/>
              <a:ea typeface="Calibri"/>
              <a:cs typeface="Calibri"/>
              <a:sym typeface="Calibri"/>
            </a:endParaRPr>
          </a:p>
        </p:txBody>
      </p:sp>
      <p:sp>
        <p:nvSpPr>
          <p:cNvPr id="517" name="Google Shape;517;p11"/>
          <p:cNvSpPr/>
          <p:nvPr/>
        </p:nvSpPr>
        <p:spPr>
          <a:xfrm>
            <a:off x="6096305" y="2085746"/>
            <a:ext cx="5715000" cy="1133856"/>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1"/>
          <p:cNvSpPr/>
          <p:nvPr/>
        </p:nvSpPr>
        <p:spPr>
          <a:xfrm>
            <a:off x="6096305" y="2085746"/>
            <a:ext cx="28346" cy="1133856"/>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9" name="Google Shape;519;p11"/>
          <p:cNvPicPr preferRelativeResize="0"/>
          <p:nvPr/>
        </p:nvPicPr>
        <p:blipFill rotWithShape="1">
          <a:blip r:embed="rId6">
            <a:alphaModFix/>
          </a:blip>
          <a:srcRect b="0" l="0" r="0" t="0"/>
          <a:stretch/>
        </p:blipFill>
        <p:spPr>
          <a:xfrm>
            <a:off x="6238951" y="2176272"/>
            <a:ext cx="228600" cy="228600"/>
          </a:xfrm>
          <a:prstGeom prst="rect">
            <a:avLst/>
          </a:prstGeom>
          <a:noFill/>
          <a:ln>
            <a:noFill/>
          </a:ln>
        </p:spPr>
      </p:pic>
      <p:sp>
        <p:nvSpPr>
          <p:cNvPr id="520" name="Google Shape;520;p11"/>
          <p:cNvSpPr txBox="1"/>
          <p:nvPr/>
        </p:nvSpPr>
        <p:spPr>
          <a:xfrm>
            <a:off x="6581851" y="2162556"/>
            <a:ext cx="2186330"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Noto Sans JP"/>
              <a:buNone/>
            </a:pPr>
            <a:r>
              <a:rPr b="1" i="0" lang="en-US" sz="1300" u="none" cap="none" strike="noStrike">
                <a:solidFill>
                  <a:srgbClr val="0A2463"/>
                </a:solidFill>
                <a:latin typeface="Noto Sans JP"/>
                <a:ea typeface="Noto Sans JP"/>
                <a:cs typeface="Noto Sans JP"/>
                <a:sym typeface="Noto Sans JP"/>
              </a:rPr>
              <a:t>△△社：問い合わせ自動化</a:t>
            </a:r>
            <a:endParaRPr b="0" i="0" sz="1300" u="none" cap="none" strike="noStrike">
              <a:solidFill>
                <a:schemeClr val="dk1"/>
              </a:solidFill>
              <a:latin typeface="Calibri"/>
              <a:ea typeface="Calibri"/>
              <a:cs typeface="Calibri"/>
              <a:sym typeface="Calibri"/>
            </a:endParaRPr>
          </a:p>
        </p:txBody>
      </p:sp>
      <p:sp>
        <p:nvSpPr>
          <p:cNvPr id="521" name="Google Shape;521;p11"/>
          <p:cNvSpPr txBox="1"/>
          <p:nvPr/>
        </p:nvSpPr>
        <p:spPr>
          <a:xfrm>
            <a:off x="6238951" y="2495398"/>
            <a:ext cx="5434279" cy="3813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000"/>
              <a:buFont typeface="Noto Sans JP"/>
              <a:buNone/>
            </a:pPr>
            <a:r>
              <a:rPr b="0" i="0" lang="en-US" sz="1000" u="none" cap="none" strike="noStrike">
                <a:solidFill>
                  <a:srgbClr val="0A2463"/>
                </a:solidFill>
                <a:latin typeface="Noto Sans JP"/>
                <a:ea typeface="Noto Sans JP"/>
                <a:cs typeface="Noto Sans JP"/>
                <a:sym typeface="Noto Sans JP"/>
              </a:rPr>
              <a:t>AIチャットボットによる24時間自動応答システムを導入。定型的な質問への即時回答を実現し、オペレーターは複雑な問い合わせに集中できるようになりました。</a:t>
            </a:r>
            <a:endParaRPr b="0" i="0" sz="1000" u="none" cap="none" strike="noStrike">
              <a:solidFill>
                <a:schemeClr val="dk1"/>
              </a:solidFill>
              <a:latin typeface="Calibri"/>
              <a:ea typeface="Calibri"/>
              <a:cs typeface="Calibri"/>
              <a:sym typeface="Calibri"/>
            </a:endParaRPr>
          </a:p>
        </p:txBody>
      </p:sp>
      <p:sp>
        <p:nvSpPr>
          <p:cNvPr id="522" name="Google Shape;522;p11"/>
          <p:cNvSpPr txBox="1"/>
          <p:nvPr/>
        </p:nvSpPr>
        <p:spPr>
          <a:xfrm>
            <a:off x="6238951" y="2952598"/>
            <a:ext cx="3024835"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000"/>
              <a:buFont typeface="Noto Sans JP"/>
              <a:buNone/>
            </a:pPr>
            <a:r>
              <a:rPr b="1" i="0" lang="en-US" sz="1000" u="none" cap="none" strike="noStrike">
                <a:solidFill>
                  <a:srgbClr val="3E92CC"/>
                </a:solidFill>
                <a:latin typeface="Noto Sans JP"/>
                <a:ea typeface="Noto Sans JP"/>
                <a:cs typeface="Noto Sans JP"/>
                <a:sym typeface="Noto Sans JP"/>
              </a:rPr>
              <a:t>効果：顧客満足度120%向上・応答時間90%短縮</a:t>
            </a:r>
            <a:endParaRPr b="0" i="0" sz="1000" u="none" cap="none" strike="noStrike">
              <a:solidFill>
                <a:schemeClr val="dk1"/>
              </a:solidFill>
              <a:latin typeface="Calibri"/>
              <a:ea typeface="Calibri"/>
              <a:cs typeface="Calibri"/>
              <a:sym typeface="Calibri"/>
            </a:endParaRPr>
          </a:p>
        </p:txBody>
      </p:sp>
      <p:sp>
        <p:nvSpPr>
          <p:cNvPr id="523" name="Google Shape;523;p11"/>
          <p:cNvSpPr/>
          <p:nvPr/>
        </p:nvSpPr>
        <p:spPr>
          <a:xfrm>
            <a:off x="6096305" y="3295498"/>
            <a:ext cx="5715000" cy="1133856"/>
          </a:xfrm>
          <a:prstGeom prst="rect">
            <a:avLst/>
          </a:prstGeom>
          <a:solidFill>
            <a:srgbClr val="3E92CC">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1"/>
          <p:cNvSpPr/>
          <p:nvPr/>
        </p:nvSpPr>
        <p:spPr>
          <a:xfrm>
            <a:off x="6096305" y="3295498"/>
            <a:ext cx="28346" cy="1133856"/>
          </a:xfrm>
          <a:prstGeom prst="rect">
            <a:avLst/>
          </a:prstGeom>
          <a:solidFill>
            <a:srgbClr val="3E9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25" name="Google Shape;525;p11"/>
          <p:cNvPicPr preferRelativeResize="0"/>
          <p:nvPr/>
        </p:nvPicPr>
        <p:blipFill rotWithShape="1">
          <a:blip r:embed="rId7">
            <a:alphaModFix/>
          </a:blip>
          <a:srcRect b="0" l="0" r="0" t="0"/>
          <a:stretch/>
        </p:blipFill>
        <p:spPr>
          <a:xfrm>
            <a:off x="6238951" y="3386023"/>
            <a:ext cx="228600" cy="228600"/>
          </a:xfrm>
          <a:prstGeom prst="rect">
            <a:avLst/>
          </a:prstGeom>
          <a:noFill/>
          <a:ln>
            <a:noFill/>
          </a:ln>
        </p:spPr>
      </p:pic>
      <p:sp>
        <p:nvSpPr>
          <p:cNvPr id="526" name="Google Shape;526;p11"/>
          <p:cNvSpPr txBox="1"/>
          <p:nvPr/>
        </p:nvSpPr>
        <p:spPr>
          <a:xfrm>
            <a:off x="6581851" y="3372307"/>
            <a:ext cx="1786738" cy="24780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300"/>
              <a:buFont typeface="Noto Sans JP"/>
              <a:buNone/>
            </a:pPr>
            <a:r>
              <a:rPr b="1" i="0" lang="en-US" sz="1300" u="none" cap="none" strike="noStrike">
                <a:solidFill>
                  <a:srgbClr val="0A2463"/>
                </a:solidFill>
                <a:latin typeface="Noto Sans JP"/>
                <a:ea typeface="Noto Sans JP"/>
                <a:cs typeface="Noto Sans JP"/>
                <a:sym typeface="Noto Sans JP"/>
              </a:rPr>
              <a:t>✕✕社：AIデータ集計</a:t>
            </a:r>
            <a:endParaRPr b="0" i="0" sz="1300" u="none" cap="none" strike="noStrike">
              <a:solidFill>
                <a:schemeClr val="dk1"/>
              </a:solidFill>
              <a:latin typeface="Calibri"/>
              <a:ea typeface="Calibri"/>
              <a:cs typeface="Calibri"/>
              <a:sym typeface="Calibri"/>
            </a:endParaRPr>
          </a:p>
        </p:txBody>
      </p:sp>
      <p:sp>
        <p:nvSpPr>
          <p:cNvPr id="527" name="Google Shape;527;p11"/>
          <p:cNvSpPr txBox="1"/>
          <p:nvPr/>
        </p:nvSpPr>
        <p:spPr>
          <a:xfrm>
            <a:off x="6238951" y="3705149"/>
            <a:ext cx="5434279" cy="38130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A2463"/>
              </a:buClr>
              <a:buSzPts val="1000"/>
              <a:buFont typeface="Noto Sans JP"/>
              <a:buNone/>
            </a:pPr>
            <a:r>
              <a:rPr b="0" i="0" lang="en-US" sz="1000" u="none" cap="none" strike="noStrike">
                <a:solidFill>
                  <a:srgbClr val="0A2463"/>
                </a:solidFill>
                <a:latin typeface="Noto Sans JP"/>
                <a:ea typeface="Noto Sans JP"/>
                <a:cs typeface="Noto Sans JP"/>
                <a:sym typeface="Noto Sans JP"/>
              </a:rPr>
              <a:t>複数システムのデータ統合と分析をAI化。手作業では1週間かかっていた月次分析が1日で完了し、年間1,000時間以上の工数削減に成功しました。</a:t>
            </a:r>
            <a:endParaRPr b="0" i="0" sz="1000" u="none" cap="none" strike="noStrike">
              <a:solidFill>
                <a:schemeClr val="dk1"/>
              </a:solidFill>
              <a:latin typeface="Calibri"/>
              <a:ea typeface="Calibri"/>
              <a:cs typeface="Calibri"/>
              <a:sym typeface="Calibri"/>
            </a:endParaRPr>
          </a:p>
        </p:txBody>
      </p:sp>
      <p:sp>
        <p:nvSpPr>
          <p:cNvPr id="528" name="Google Shape;528;p11"/>
          <p:cNvSpPr txBox="1"/>
          <p:nvPr/>
        </p:nvSpPr>
        <p:spPr>
          <a:xfrm>
            <a:off x="6238951" y="4162349"/>
            <a:ext cx="3281782"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E92CC"/>
              </a:buClr>
              <a:buSzPts val="1000"/>
              <a:buFont typeface="Noto Sans JP"/>
              <a:buNone/>
            </a:pPr>
            <a:r>
              <a:rPr b="1" i="0" lang="en-US" sz="1000" u="none" cap="none" strike="noStrike">
                <a:solidFill>
                  <a:srgbClr val="3E92CC"/>
                </a:solidFill>
                <a:latin typeface="Noto Sans JP"/>
                <a:ea typeface="Noto Sans JP"/>
                <a:cs typeface="Noto Sans JP"/>
                <a:sym typeface="Noto Sans JP"/>
              </a:rPr>
              <a:t>効果：年間1,000時間工数削減・データ精度15%向上</a:t>
            </a:r>
            <a:endParaRPr b="0" i="0" sz="1000" u="none" cap="none" strike="noStrike">
              <a:solidFill>
                <a:schemeClr val="dk1"/>
              </a:solidFill>
              <a:latin typeface="Calibri"/>
              <a:ea typeface="Calibri"/>
              <a:cs typeface="Calibri"/>
              <a:sym typeface="Calibri"/>
            </a:endParaRPr>
          </a:p>
        </p:txBody>
      </p:sp>
      <p:sp>
        <p:nvSpPr>
          <p:cNvPr id="529" name="Google Shape;529;p11"/>
          <p:cNvSpPr txBox="1"/>
          <p:nvPr/>
        </p:nvSpPr>
        <p:spPr>
          <a:xfrm>
            <a:off x="11642141" y="6476695"/>
            <a:ext cx="286207"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A2463"/>
              </a:buClr>
              <a:buSzPts val="1200"/>
              <a:buFont typeface="Noto Sans JP"/>
              <a:buNone/>
            </a:pPr>
            <a:r>
              <a:rPr b="0" i="0" lang="en-US" sz="1200" u="none" cap="none" strike="noStrike">
                <a:solidFill>
                  <a:srgbClr val="0A2463"/>
                </a:solidFill>
                <a:latin typeface="Noto Sans JP"/>
                <a:ea typeface="Noto Sans JP"/>
                <a:cs typeface="Noto Sans JP"/>
                <a:sym typeface="Noto Sans JP"/>
              </a:rPr>
              <a:t>11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12"/>
          <p:cNvSpPr/>
          <p:nvPr/>
        </p:nvSpPr>
        <p:spPr>
          <a:xfrm>
            <a:off x="0" y="0"/>
            <a:ext cx="12191695" cy="7029907"/>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2"/>
          <p:cNvSpPr/>
          <p:nvPr/>
        </p:nvSpPr>
        <p:spPr>
          <a:xfrm>
            <a:off x="9810600" y="-2"/>
            <a:ext cx="2381400" cy="19047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2"/>
          <p:cNvSpPr/>
          <p:nvPr/>
        </p:nvSpPr>
        <p:spPr>
          <a:xfrm>
            <a:off x="952800" y="5600700"/>
            <a:ext cx="1904700" cy="1429200"/>
          </a:xfrm>
          <a:prstGeom prst="rect">
            <a:avLst/>
          </a:prstGeom>
          <a:solidFill>
            <a:srgbClr val="4A90E2">
              <a:alpha val="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2"/>
          <p:cNvSpPr txBox="1"/>
          <p:nvPr/>
        </p:nvSpPr>
        <p:spPr>
          <a:xfrm>
            <a:off x="381305" y="393192"/>
            <a:ext cx="5391302"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2700"/>
              <a:buFont typeface="Noto Sans JP"/>
              <a:buNone/>
            </a:pPr>
            <a:r>
              <a:rPr b="1" i="0" lang="en-US" sz="2700" u="none" cap="none" strike="noStrike">
                <a:solidFill>
                  <a:srgbClr val="003366"/>
                </a:solidFill>
                <a:latin typeface="Noto Sans JP"/>
                <a:ea typeface="Noto Sans JP"/>
                <a:cs typeface="Noto Sans JP"/>
                <a:sym typeface="Noto Sans JP"/>
              </a:rPr>
              <a:t>人とAIが共に働く新しい業務モデルへ</a:t>
            </a:r>
            <a:endParaRPr b="0" i="0" sz="2700" u="none" cap="none" strike="noStrike">
              <a:solidFill>
                <a:schemeClr val="dk1"/>
              </a:solidFill>
              <a:latin typeface="Calibri"/>
              <a:ea typeface="Calibri"/>
              <a:cs typeface="Calibri"/>
              <a:sym typeface="Calibri"/>
            </a:endParaRPr>
          </a:p>
        </p:txBody>
      </p:sp>
      <p:sp>
        <p:nvSpPr>
          <p:cNvPr id="539" name="Google Shape;539;p12"/>
          <p:cNvSpPr/>
          <p:nvPr/>
        </p:nvSpPr>
        <p:spPr>
          <a:xfrm>
            <a:off x="381305" y="1378001"/>
            <a:ext cx="571500" cy="38405"/>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2"/>
          <p:cNvSpPr txBox="1"/>
          <p:nvPr/>
        </p:nvSpPr>
        <p:spPr>
          <a:xfrm>
            <a:off x="381305" y="1645006"/>
            <a:ext cx="549645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提案のまとめ： AI導入は単なる業務自動化ではなく、人とAIが役割を分担し、互いの強みを活かす新たな働き方を実現します。</a:t>
            </a:r>
            <a:endParaRPr b="0" i="0" sz="1200" u="none" cap="none" strike="noStrike">
              <a:solidFill>
                <a:schemeClr val="dk1"/>
              </a:solidFill>
              <a:latin typeface="Calibri"/>
              <a:ea typeface="Calibri"/>
              <a:cs typeface="Calibri"/>
              <a:sym typeface="Calibri"/>
            </a:endParaRPr>
          </a:p>
        </p:txBody>
      </p:sp>
      <p:sp>
        <p:nvSpPr>
          <p:cNvPr id="541" name="Google Shape;541;p12"/>
          <p:cNvSpPr txBox="1"/>
          <p:nvPr/>
        </p:nvSpPr>
        <p:spPr>
          <a:xfrm>
            <a:off x="381305" y="2254910"/>
            <a:ext cx="16486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提案の主要ポイント：</a:t>
            </a:r>
            <a:endParaRPr b="0" i="0" sz="1200" u="none" cap="none" strike="noStrike">
              <a:solidFill>
                <a:schemeClr val="dk1"/>
              </a:solidFill>
              <a:latin typeface="Calibri"/>
              <a:ea typeface="Calibri"/>
              <a:cs typeface="Calibri"/>
              <a:sym typeface="Calibri"/>
            </a:endParaRPr>
          </a:p>
        </p:txBody>
      </p:sp>
      <p:sp>
        <p:nvSpPr>
          <p:cNvPr id="542" name="Google Shape;542;p12"/>
          <p:cNvSpPr txBox="1"/>
          <p:nvPr/>
        </p:nvSpPr>
        <p:spPr>
          <a:xfrm>
            <a:off x="609905" y="2635301"/>
            <a:ext cx="270571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AIが作業を支え、人が価値を生み出す</a:t>
            </a:r>
            <a:endParaRPr b="0" i="0" sz="1200" u="none" cap="none" strike="noStrike">
              <a:solidFill>
                <a:schemeClr val="dk1"/>
              </a:solidFill>
              <a:latin typeface="Calibri"/>
              <a:ea typeface="Calibri"/>
              <a:cs typeface="Calibri"/>
              <a:sym typeface="Calibri"/>
            </a:endParaRPr>
          </a:p>
        </p:txBody>
      </p:sp>
      <p:sp>
        <p:nvSpPr>
          <p:cNvPr id="543" name="Google Shape;543;p12"/>
          <p:cNvSpPr txBox="1"/>
          <p:nvPr/>
        </p:nvSpPr>
        <p:spPr>
          <a:xfrm>
            <a:off x="609905" y="2940710"/>
            <a:ext cx="33147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効率化ではなく、"信頼と満足度の向上"が目的</a:t>
            </a:r>
            <a:endParaRPr b="0" i="0" sz="1200" u="none" cap="none" strike="noStrike">
              <a:solidFill>
                <a:schemeClr val="dk1"/>
              </a:solidFill>
              <a:latin typeface="Calibri"/>
              <a:ea typeface="Calibri"/>
              <a:cs typeface="Calibri"/>
              <a:sym typeface="Calibri"/>
            </a:endParaRPr>
          </a:p>
        </p:txBody>
      </p:sp>
      <p:sp>
        <p:nvSpPr>
          <p:cNvPr id="544" name="Google Shape;544;p12"/>
          <p:cNvSpPr txBox="1"/>
          <p:nvPr/>
        </p:nvSpPr>
        <p:spPr>
          <a:xfrm>
            <a:off x="609905" y="3245206"/>
            <a:ext cx="3324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人がより創造的な仕事に集中できる環境づくり</a:t>
            </a:r>
            <a:endParaRPr b="0" i="0" sz="1200" u="none" cap="none" strike="noStrike">
              <a:solidFill>
                <a:schemeClr val="dk1"/>
              </a:solidFill>
              <a:latin typeface="Calibri"/>
              <a:ea typeface="Calibri"/>
              <a:cs typeface="Calibri"/>
              <a:sym typeface="Calibri"/>
            </a:endParaRPr>
          </a:p>
        </p:txBody>
      </p:sp>
      <p:sp>
        <p:nvSpPr>
          <p:cNvPr id="545" name="Google Shape;545;p12"/>
          <p:cNvSpPr txBox="1"/>
          <p:nvPr/>
        </p:nvSpPr>
        <p:spPr>
          <a:xfrm>
            <a:off x="609905" y="3549701"/>
            <a:ext cx="34582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AIは"冷たさ"ではなく"温かさ"を実現するツール</a:t>
            </a:r>
            <a:endParaRPr b="0" i="0" sz="1200" u="none" cap="none" strike="noStrike">
              <a:solidFill>
                <a:schemeClr val="dk1"/>
              </a:solidFill>
              <a:latin typeface="Calibri"/>
              <a:ea typeface="Calibri"/>
              <a:cs typeface="Calibri"/>
              <a:sym typeface="Calibri"/>
            </a:endParaRPr>
          </a:p>
        </p:txBody>
      </p:sp>
      <p:sp>
        <p:nvSpPr>
          <p:cNvPr id="546" name="Google Shape;546;p12"/>
          <p:cNvSpPr txBox="1"/>
          <p:nvPr/>
        </p:nvSpPr>
        <p:spPr>
          <a:xfrm>
            <a:off x="381305" y="3931006"/>
            <a:ext cx="13432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導入アプローチ：</a:t>
            </a:r>
            <a:endParaRPr b="0" i="0" sz="1200" u="none" cap="none" strike="noStrike">
              <a:solidFill>
                <a:schemeClr val="dk1"/>
              </a:solidFill>
              <a:latin typeface="Calibri"/>
              <a:ea typeface="Calibri"/>
              <a:cs typeface="Calibri"/>
              <a:sym typeface="Calibri"/>
            </a:endParaRPr>
          </a:p>
        </p:txBody>
      </p:sp>
      <p:sp>
        <p:nvSpPr>
          <p:cNvPr id="547" name="Google Shape;547;p12"/>
          <p:cNvSpPr/>
          <p:nvPr/>
        </p:nvSpPr>
        <p:spPr>
          <a:xfrm>
            <a:off x="381305" y="4312310"/>
            <a:ext cx="5410505" cy="657454"/>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12"/>
          <p:cNvSpPr/>
          <p:nvPr/>
        </p:nvSpPr>
        <p:spPr>
          <a:xfrm>
            <a:off x="381305" y="4312310"/>
            <a:ext cx="28346" cy="657454"/>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2"/>
          <p:cNvSpPr txBox="1"/>
          <p:nvPr/>
        </p:nvSpPr>
        <p:spPr>
          <a:xfrm>
            <a:off x="523951" y="4426610"/>
            <a:ext cx="20482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フェーズ1：業務分析と設計</a:t>
            </a:r>
            <a:endParaRPr b="0" i="0" sz="1200" u="none" cap="none" strike="noStrike">
              <a:solidFill>
                <a:schemeClr val="dk1"/>
              </a:solidFill>
              <a:latin typeface="Calibri"/>
              <a:ea typeface="Calibri"/>
              <a:cs typeface="Calibri"/>
              <a:sym typeface="Calibri"/>
            </a:endParaRPr>
          </a:p>
        </p:txBody>
      </p:sp>
      <p:sp>
        <p:nvSpPr>
          <p:cNvPr id="550" name="Google Shape;550;p12"/>
          <p:cNvSpPr txBox="1"/>
          <p:nvPr/>
        </p:nvSpPr>
        <p:spPr>
          <a:xfrm>
            <a:off x="523951" y="4655210"/>
            <a:ext cx="1834286"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90E2"/>
              </a:buClr>
              <a:buSzPts val="1000"/>
              <a:buFont typeface="M PLUS 1"/>
              <a:buNone/>
            </a:pPr>
            <a:r>
              <a:rPr b="0" i="1" lang="en-US" sz="1000" u="none" cap="none" strike="noStrike">
                <a:solidFill>
                  <a:srgbClr val="4A90E2"/>
                </a:solidFill>
                <a:latin typeface="M PLUS 1"/>
                <a:ea typeface="M PLUS 1"/>
                <a:cs typeface="M PLUS 1"/>
                <a:sym typeface="M PLUS 1"/>
              </a:rPr>
              <a:t>担当：コンサルタントチーム</a:t>
            </a:r>
            <a:endParaRPr b="0" i="0" sz="1000" u="none" cap="none" strike="noStrike">
              <a:solidFill>
                <a:schemeClr val="dk1"/>
              </a:solidFill>
              <a:latin typeface="Calibri"/>
              <a:ea typeface="Calibri"/>
              <a:cs typeface="Calibri"/>
              <a:sym typeface="Calibri"/>
            </a:endParaRPr>
          </a:p>
        </p:txBody>
      </p:sp>
      <p:sp>
        <p:nvSpPr>
          <p:cNvPr id="551" name="Google Shape;551;p12"/>
          <p:cNvSpPr/>
          <p:nvPr/>
        </p:nvSpPr>
        <p:spPr>
          <a:xfrm>
            <a:off x="5046574" y="4426610"/>
            <a:ext cx="638251" cy="247802"/>
          </a:xfrm>
          <a:prstGeom prst="roundRect">
            <a:avLst>
              <a:gd fmla="val 170310" name="adj"/>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2"/>
          <p:cNvSpPr txBox="1"/>
          <p:nvPr/>
        </p:nvSpPr>
        <p:spPr>
          <a:xfrm>
            <a:off x="5122469" y="4464101"/>
            <a:ext cx="571500" cy="1627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00"/>
              <a:buFont typeface="Noto Sans JP"/>
              <a:buNone/>
            </a:pPr>
            <a:r>
              <a:rPr b="1" i="0" lang="en-US" sz="900" u="none" cap="none" strike="noStrike">
                <a:solidFill>
                  <a:srgbClr val="FFFFFF"/>
                </a:solidFill>
                <a:latin typeface="Noto Sans JP"/>
                <a:ea typeface="Noto Sans JP"/>
                <a:cs typeface="Noto Sans JP"/>
                <a:sym typeface="Noto Sans JP"/>
              </a:rPr>
              <a:t>1〜2ヶ月</a:t>
            </a:r>
            <a:endParaRPr b="0" i="0" sz="900" u="none" cap="none" strike="noStrike">
              <a:solidFill>
                <a:schemeClr val="dk1"/>
              </a:solidFill>
              <a:latin typeface="Calibri"/>
              <a:ea typeface="Calibri"/>
              <a:cs typeface="Calibri"/>
              <a:sym typeface="Calibri"/>
            </a:endParaRPr>
          </a:p>
        </p:txBody>
      </p:sp>
      <p:sp>
        <p:nvSpPr>
          <p:cNvPr id="553" name="Google Shape;553;p12"/>
          <p:cNvSpPr/>
          <p:nvPr/>
        </p:nvSpPr>
        <p:spPr>
          <a:xfrm>
            <a:off x="381305" y="5121554"/>
            <a:ext cx="5410505" cy="657454"/>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2"/>
          <p:cNvSpPr/>
          <p:nvPr/>
        </p:nvSpPr>
        <p:spPr>
          <a:xfrm>
            <a:off x="381305" y="5121554"/>
            <a:ext cx="28346" cy="657454"/>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2"/>
          <p:cNvSpPr txBox="1"/>
          <p:nvPr/>
        </p:nvSpPr>
        <p:spPr>
          <a:xfrm>
            <a:off x="523951" y="5235854"/>
            <a:ext cx="2343607"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フェーズ2：PoC（小規模検証）</a:t>
            </a:r>
            <a:endParaRPr b="0" i="0" sz="1200" u="none" cap="none" strike="noStrike">
              <a:solidFill>
                <a:schemeClr val="dk1"/>
              </a:solidFill>
              <a:latin typeface="Calibri"/>
              <a:ea typeface="Calibri"/>
              <a:cs typeface="Calibri"/>
              <a:sym typeface="Calibri"/>
            </a:endParaRPr>
          </a:p>
        </p:txBody>
      </p:sp>
      <p:sp>
        <p:nvSpPr>
          <p:cNvPr id="556" name="Google Shape;556;p12"/>
          <p:cNvSpPr txBox="1"/>
          <p:nvPr/>
        </p:nvSpPr>
        <p:spPr>
          <a:xfrm>
            <a:off x="523951" y="5464454"/>
            <a:ext cx="1834286"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90E2"/>
              </a:buClr>
              <a:buSzPts val="1000"/>
              <a:buFont typeface="M PLUS 1"/>
              <a:buNone/>
            </a:pPr>
            <a:r>
              <a:rPr b="0" i="1" lang="en-US" sz="1000" u="none" cap="none" strike="noStrike">
                <a:solidFill>
                  <a:srgbClr val="4A90E2"/>
                </a:solidFill>
                <a:latin typeface="M PLUS 1"/>
                <a:ea typeface="M PLUS 1"/>
                <a:cs typeface="M PLUS 1"/>
                <a:sym typeface="M PLUS 1"/>
              </a:rPr>
              <a:t>担当：技術チーム・業務部門</a:t>
            </a:r>
            <a:endParaRPr b="0" i="0" sz="1000" u="none" cap="none" strike="noStrike">
              <a:solidFill>
                <a:schemeClr val="dk1"/>
              </a:solidFill>
              <a:latin typeface="Calibri"/>
              <a:ea typeface="Calibri"/>
              <a:cs typeface="Calibri"/>
              <a:sym typeface="Calibri"/>
            </a:endParaRPr>
          </a:p>
        </p:txBody>
      </p:sp>
      <p:sp>
        <p:nvSpPr>
          <p:cNvPr id="557" name="Google Shape;557;p12"/>
          <p:cNvSpPr/>
          <p:nvPr/>
        </p:nvSpPr>
        <p:spPr>
          <a:xfrm>
            <a:off x="5046574" y="5235854"/>
            <a:ext cx="638251" cy="247802"/>
          </a:xfrm>
          <a:prstGeom prst="roundRect">
            <a:avLst>
              <a:gd fmla="val 170310" name="adj"/>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2"/>
          <p:cNvSpPr txBox="1"/>
          <p:nvPr/>
        </p:nvSpPr>
        <p:spPr>
          <a:xfrm>
            <a:off x="5122469" y="5274259"/>
            <a:ext cx="571500" cy="1627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00"/>
              <a:buFont typeface="Noto Sans JP"/>
              <a:buNone/>
            </a:pPr>
            <a:r>
              <a:rPr b="1" i="0" lang="en-US" sz="900" u="none" cap="none" strike="noStrike">
                <a:solidFill>
                  <a:srgbClr val="FFFFFF"/>
                </a:solidFill>
                <a:latin typeface="Noto Sans JP"/>
                <a:ea typeface="Noto Sans JP"/>
                <a:cs typeface="Noto Sans JP"/>
                <a:sym typeface="Noto Sans JP"/>
              </a:rPr>
              <a:t>2〜3ヶ月</a:t>
            </a:r>
            <a:endParaRPr b="0" i="0" sz="900" u="none" cap="none" strike="noStrike">
              <a:solidFill>
                <a:schemeClr val="dk1"/>
              </a:solidFill>
              <a:latin typeface="Calibri"/>
              <a:ea typeface="Calibri"/>
              <a:cs typeface="Calibri"/>
              <a:sym typeface="Calibri"/>
            </a:endParaRPr>
          </a:p>
        </p:txBody>
      </p:sp>
      <p:sp>
        <p:nvSpPr>
          <p:cNvPr id="559" name="Google Shape;559;p12"/>
          <p:cNvSpPr/>
          <p:nvPr/>
        </p:nvSpPr>
        <p:spPr>
          <a:xfrm>
            <a:off x="381305" y="5930798"/>
            <a:ext cx="5410505" cy="657454"/>
          </a:xfrm>
          <a:prstGeom prst="rect">
            <a:avLst/>
          </a:prstGeom>
          <a:solidFill>
            <a:srgbClr val="E3F2FD">
              <a:alpha val="4980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2"/>
          <p:cNvSpPr/>
          <p:nvPr/>
        </p:nvSpPr>
        <p:spPr>
          <a:xfrm>
            <a:off x="381305" y="5930798"/>
            <a:ext cx="28346" cy="657454"/>
          </a:xfrm>
          <a:prstGeom prst="rect">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2"/>
          <p:cNvSpPr txBox="1"/>
          <p:nvPr/>
        </p:nvSpPr>
        <p:spPr>
          <a:xfrm>
            <a:off x="523951" y="6045098"/>
            <a:ext cx="20482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フェーズ3：本格導入と運用</a:t>
            </a:r>
            <a:endParaRPr b="0" i="0" sz="1200" u="none" cap="none" strike="noStrike">
              <a:solidFill>
                <a:schemeClr val="dk1"/>
              </a:solidFill>
              <a:latin typeface="Calibri"/>
              <a:ea typeface="Calibri"/>
              <a:cs typeface="Calibri"/>
              <a:sym typeface="Calibri"/>
            </a:endParaRPr>
          </a:p>
        </p:txBody>
      </p:sp>
      <p:sp>
        <p:nvSpPr>
          <p:cNvPr id="562" name="Google Shape;562;p12"/>
          <p:cNvSpPr txBox="1"/>
          <p:nvPr/>
        </p:nvSpPr>
        <p:spPr>
          <a:xfrm>
            <a:off x="523951" y="6273698"/>
            <a:ext cx="1433779" cy="19111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A90E2"/>
              </a:buClr>
              <a:buSzPts val="1000"/>
              <a:buFont typeface="M PLUS 1"/>
              <a:buNone/>
            </a:pPr>
            <a:r>
              <a:rPr b="0" i="1" lang="en-US" sz="1000" u="none" cap="none" strike="noStrike">
                <a:solidFill>
                  <a:srgbClr val="4A90E2"/>
                </a:solidFill>
                <a:latin typeface="M PLUS 1"/>
                <a:ea typeface="M PLUS 1"/>
                <a:cs typeface="M PLUS 1"/>
                <a:sym typeface="M PLUS 1"/>
              </a:rPr>
              <a:t>担当：全社横断チーム</a:t>
            </a:r>
            <a:endParaRPr b="0" i="0" sz="1000" u="none" cap="none" strike="noStrike">
              <a:solidFill>
                <a:schemeClr val="dk1"/>
              </a:solidFill>
              <a:latin typeface="Calibri"/>
              <a:ea typeface="Calibri"/>
              <a:cs typeface="Calibri"/>
              <a:sym typeface="Calibri"/>
            </a:endParaRPr>
          </a:p>
        </p:txBody>
      </p:sp>
      <p:sp>
        <p:nvSpPr>
          <p:cNvPr id="563" name="Google Shape;563;p12"/>
          <p:cNvSpPr/>
          <p:nvPr/>
        </p:nvSpPr>
        <p:spPr>
          <a:xfrm>
            <a:off x="5046574" y="6045098"/>
            <a:ext cx="638251" cy="247802"/>
          </a:xfrm>
          <a:prstGeom prst="roundRect">
            <a:avLst>
              <a:gd fmla="val 170310" name="adj"/>
            </a:avLst>
          </a:prstGeom>
          <a:solidFill>
            <a:srgbClr val="4A90E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2"/>
          <p:cNvSpPr txBox="1"/>
          <p:nvPr/>
        </p:nvSpPr>
        <p:spPr>
          <a:xfrm>
            <a:off x="5122469" y="6083503"/>
            <a:ext cx="571500" cy="162763"/>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00"/>
              <a:buFont typeface="Noto Sans JP"/>
              <a:buNone/>
            </a:pPr>
            <a:r>
              <a:rPr b="1" i="0" lang="en-US" sz="900" u="none" cap="none" strike="noStrike">
                <a:solidFill>
                  <a:srgbClr val="FFFFFF"/>
                </a:solidFill>
                <a:latin typeface="Noto Sans JP"/>
                <a:ea typeface="Noto Sans JP"/>
                <a:cs typeface="Noto Sans JP"/>
                <a:sym typeface="Noto Sans JP"/>
              </a:rPr>
              <a:t>3〜6ヶ月</a:t>
            </a:r>
            <a:endParaRPr b="0" i="0" sz="900" u="none" cap="none" strike="noStrike">
              <a:solidFill>
                <a:schemeClr val="dk1"/>
              </a:solidFill>
              <a:latin typeface="Calibri"/>
              <a:ea typeface="Calibri"/>
              <a:cs typeface="Calibri"/>
              <a:sym typeface="Calibri"/>
            </a:endParaRPr>
          </a:p>
        </p:txBody>
      </p:sp>
      <p:sp>
        <p:nvSpPr>
          <p:cNvPr id="565" name="Google Shape;565;p12"/>
          <p:cNvSpPr txBox="1"/>
          <p:nvPr/>
        </p:nvSpPr>
        <p:spPr>
          <a:xfrm>
            <a:off x="8042148" y="381305"/>
            <a:ext cx="2000707" cy="3337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AI導入のメリット</a:t>
            </a:r>
            <a:endParaRPr b="0" i="0" sz="1800" u="none" cap="none" strike="noStrike">
              <a:solidFill>
                <a:schemeClr val="dk1"/>
              </a:solidFill>
              <a:latin typeface="Calibri"/>
              <a:ea typeface="Calibri"/>
              <a:cs typeface="Calibri"/>
              <a:sym typeface="Calibri"/>
            </a:endParaRPr>
          </a:p>
        </p:txBody>
      </p:sp>
      <p:sp>
        <p:nvSpPr>
          <p:cNvPr id="566" name="Google Shape;566;p12"/>
          <p:cNvSpPr/>
          <p:nvPr/>
        </p:nvSpPr>
        <p:spPr>
          <a:xfrm>
            <a:off x="6096305" y="875995"/>
            <a:ext cx="5715000" cy="2343607"/>
          </a:xfrm>
          <a:prstGeom prst="roundRect">
            <a:avLst>
              <a:gd fmla="val 634" name="adj"/>
            </a:avLst>
          </a:prstGeom>
          <a:solidFill>
            <a:srgbClr val="E3F2FD">
              <a:alpha val="80000"/>
            </a:srgbClr>
          </a:solidFill>
          <a:ln cap="flat" cmpd="sng" w="12700">
            <a:solidFill>
              <a:srgbClr val="4A90E2">
                <a:alpha val="2980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67" name="Google Shape;567;p12"/>
          <p:cNvPicPr preferRelativeResize="0"/>
          <p:nvPr/>
        </p:nvPicPr>
        <p:blipFill rotWithShape="1">
          <a:blip r:embed="rId3">
            <a:alphaModFix/>
          </a:blip>
          <a:srcRect b="0" l="0" r="0" t="0"/>
          <a:stretch/>
        </p:blipFill>
        <p:spPr>
          <a:xfrm>
            <a:off x="6258154" y="1104595"/>
            <a:ext cx="286207" cy="286207"/>
          </a:xfrm>
          <a:prstGeom prst="rect">
            <a:avLst/>
          </a:prstGeom>
          <a:noFill/>
          <a:ln>
            <a:noFill/>
          </a:ln>
        </p:spPr>
      </p:pic>
      <p:sp>
        <p:nvSpPr>
          <p:cNvPr id="568" name="Google Shape;568;p12"/>
          <p:cNvSpPr txBox="1"/>
          <p:nvPr/>
        </p:nvSpPr>
        <p:spPr>
          <a:xfrm>
            <a:off x="6696151" y="1037844"/>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業務効率の向上</a:t>
            </a:r>
            <a:endParaRPr b="0" i="0" sz="1200" u="none" cap="none" strike="noStrike">
              <a:solidFill>
                <a:schemeClr val="dk1"/>
              </a:solidFill>
              <a:latin typeface="Calibri"/>
              <a:ea typeface="Calibri"/>
              <a:cs typeface="Calibri"/>
              <a:sym typeface="Calibri"/>
            </a:endParaRPr>
          </a:p>
        </p:txBody>
      </p:sp>
      <p:sp>
        <p:nvSpPr>
          <p:cNvPr id="569" name="Google Shape;569;p12"/>
          <p:cNvSpPr txBox="1"/>
          <p:nvPr/>
        </p:nvSpPr>
        <p:spPr>
          <a:xfrm>
            <a:off x="6696151" y="1248156"/>
            <a:ext cx="303855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定型作業の自動化により作業時間30%削減</a:t>
            </a:r>
            <a:endParaRPr b="0" i="0" sz="1200" u="none" cap="none" strike="noStrike">
              <a:solidFill>
                <a:schemeClr val="dk1"/>
              </a:solidFill>
              <a:latin typeface="Calibri"/>
              <a:ea typeface="Calibri"/>
              <a:cs typeface="Calibri"/>
              <a:sym typeface="Calibri"/>
            </a:endParaRPr>
          </a:p>
        </p:txBody>
      </p:sp>
      <p:pic>
        <p:nvPicPr>
          <p:cNvPr descr="preencoded.png" id="570" name="Google Shape;570;p12"/>
          <p:cNvPicPr preferRelativeResize="0"/>
          <p:nvPr/>
        </p:nvPicPr>
        <p:blipFill rotWithShape="1">
          <a:blip r:embed="rId4">
            <a:alphaModFix/>
          </a:blip>
          <a:srcRect b="0" l="0" r="0" t="0"/>
          <a:stretch/>
        </p:blipFill>
        <p:spPr>
          <a:xfrm>
            <a:off x="6258154" y="1638605"/>
            <a:ext cx="286207" cy="286207"/>
          </a:xfrm>
          <a:prstGeom prst="rect">
            <a:avLst/>
          </a:prstGeom>
          <a:noFill/>
          <a:ln>
            <a:noFill/>
          </a:ln>
        </p:spPr>
      </p:pic>
      <p:sp>
        <p:nvSpPr>
          <p:cNvPr id="571" name="Google Shape;571;p12"/>
          <p:cNvSpPr txBox="1"/>
          <p:nvPr/>
        </p:nvSpPr>
        <p:spPr>
          <a:xfrm>
            <a:off x="6696151" y="1571854"/>
            <a:ext cx="8860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品質の安定</a:t>
            </a:r>
            <a:endParaRPr b="0" i="0" sz="1200" u="none" cap="none" strike="noStrike">
              <a:solidFill>
                <a:schemeClr val="dk1"/>
              </a:solidFill>
              <a:latin typeface="Calibri"/>
              <a:ea typeface="Calibri"/>
              <a:cs typeface="Calibri"/>
              <a:sym typeface="Calibri"/>
            </a:endParaRPr>
          </a:p>
        </p:txBody>
      </p:sp>
      <p:sp>
        <p:nvSpPr>
          <p:cNvPr id="572" name="Google Shape;572;p12"/>
          <p:cNvSpPr txBox="1"/>
          <p:nvPr/>
        </p:nvSpPr>
        <p:spPr>
          <a:xfrm>
            <a:off x="6696151" y="1781251"/>
            <a:ext cx="3191256"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ミス発生率を80%削減し、一定の品質を確保</a:t>
            </a:r>
            <a:endParaRPr b="0" i="0" sz="1200" u="none" cap="none" strike="noStrike">
              <a:solidFill>
                <a:schemeClr val="dk1"/>
              </a:solidFill>
              <a:latin typeface="Calibri"/>
              <a:ea typeface="Calibri"/>
              <a:cs typeface="Calibri"/>
              <a:sym typeface="Calibri"/>
            </a:endParaRPr>
          </a:p>
        </p:txBody>
      </p:sp>
      <p:pic>
        <p:nvPicPr>
          <p:cNvPr descr="preencoded.png" id="573" name="Google Shape;573;p12"/>
          <p:cNvPicPr preferRelativeResize="0"/>
          <p:nvPr/>
        </p:nvPicPr>
        <p:blipFill rotWithShape="1">
          <a:blip r:embed="rId5">
            <a:alphaModFix/>
          </a:blip>
          <a:srcRect b="0" l="-607" r="-607" t="0"/>
          <a:stretch/>
        </p:blipFill>
        <p:spPr>
          <a:xfrm>
            <a:off x="6258154" y="2171700"/>
            <a:ext cx="362102" cy="286207"/>
          </a:xfrm>
          <a:prstGeom prst="rect">
            <a:avLst/>
          </a:prstGeom>
          <a:noFill/>
          <a:ln>
            <a:noFill/>
          </a:ln>
        </p:spPr>
      </p:pic>
      <p:sp>
        <p:nvSpPr>
          <p:cNvPr id="574" name="Google Shape;574;p12"/>
          <p:cNvSpPr txBox="1"/>
          <p:nvPr/>
        </p:nvSpPr>
        <p:spPr>
          <a:xfrm>
            <a:off x="6772046" y="2104949"/>
            <a:ext cx="11914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人材の有効活用</a:t>
            </a:r>
            <a:endParaRPr b="0" i="0" sz="1200" u="none" cap="none" strike="noStrike">
              <a:solidFill>
                <a:schemeClr val="dk1"/>
              </a:solidFill>
              <a:latin typeface="Calibri"/>
              <a:ea typeface="Calibri"/>
              <a:cs typeface="Calibri"/>
              <a:sym typeface="Calibri"/>
            </a:endParaRPr>
          </a:p>
        </p:txBody>
      </p:sp>
      <p:sp>
        <p:nvSpPr>
          <p:cNvPr id="575" name="Google Shape;575;p12"/>
          <p:cNvSpPr txBox="1"/>
          <p:nvPr/>
        </p:nvSpPr>
        <p:spPr>
          <a:xfrm>
            <a:off x="6772046" y="2314346"/>
            <a:ext cx="27148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創造的業務へのリソース再配分を実現</a:t>
            </a:r>
            <a:endParaRPr b="0" i="0" sz="1200" u="none" cap="none" strike="noStrike">
              <a:solidFill>
                <a:schemeClr val="dk1"/>
              </a:solidFill>
              <a:latin typeface="Calibri"/>
              <a:ea typeface="Calibri"/>
              <a:cs typeface="Calibri"/>
              <a:sym typeface="Calibri"/>
            </a:endParaRPr>
          </a:p>
        </p:txBody>
      </p:sp>
      <p:pic>
        <p:nvPicPr>
          <p:cNvPr descr="preencoded.png" id="576" name="Google Shape;576;p12"/>
          <p:cNvPicPr preferRelativeResize="0"/>
          <p:nvPr/>
        </p:nvPicPr>
        <p:blipFill rotWithShape="1">
          <a:blip r:embed="rId6">
            <a:alphaModFix/>
          </a:blip>
          <a:srcRect b="0" l="-1117" r="-1118" t="0"/>
          <a:stretch/>
        </p:blipFill>
        <p:spPr>
          <a:xfrm>
            <a:off x="6258154" y="2704795"/>
            <a:ext cx="219456" cy="286207"/>
          </a:xfrm>
          <a:prstGeom prst="rect">
            <a:avLst/>
          </a:prstGeom>
          <a:noFill/>
          <a:ln>
            <a:noFill/>
          </a:ln>
        </p:spPr>
      </p:pic>
      <p:sp>
        <p:nvSpPr>
          <p:cNvPr id="577" name="Google Shape;577;p12"/>
          <p:cNvSpPr txBox="1"/>
          <p:nvPr/>
        </p:nvSpPr>
        <p:spPr>
          <a:xfrm>
            <a:off x="6629400" y="2638044"/>
            <a:ext cx="1038758"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1" i="0" lang="en-US" sz="1200" u="none" cap="none" strike="noStrike">
                <a:solidFill>
                  <a:srgbClr val="003366"/>
                </a:solidFill>
                <a:latin typeface="M PLUS 1"/>
                <a:ea typeface="M PLUS 1"/>
                <a:cs typeface="M PLUS 1"/>
                <a:sym typeface="M PLUS 1"/>
              </a:rPr>
              <a:t>提案力の強化</a:t>
            </a:r>
            <a:endParaRPr b="0" i="0" sz="1200" u="none" cap="none" strike="noStrike">
              <a:solidFill>
                <a:schemeClr val="dk1"/>
              </a:solidFill>
              <a:latin typeface="Calibri"/>
              <a:ea typeface="Calibri"/>
              <a:cs typeface="Calibri"/>
              <a:sym typeface="Calibri"/>
            </a:endParaRPr>
          </a:p>
        </p:txBody>
      </p:sp>
      <p:sp>
        <p:nvSpPr>
          <p:cNvPr id="578" name="Google Shape;578;p12"/>
          <p:cNvSpPr txBox="1"/>
          <p:nvPr/>
        </p:nvSpPr>
        <p:spPr>
          <a:xfrm>
            <a:off x="6629400" y="2848356"/>
            <a:ext cx="3020263"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お客様への付加価値提供に集中できる環境</a:t>
            </a:r>
            <a:endParaRPr b="0" i="0" sz="1200" u="none" cap="none" strike="noStrike">
              <a:solidFill>
                <a:schemeClr val="dk1"/>
              </a:solidFill>
              <a:latin typeface="Calibri"/>
              <a:ea typeface="Calibri"/>
              <a:cs typeface="Calibri"/>
              <a:sym typeface="Calibri"/>
            </a:endParaRPr>
          </a:p>
        </p:txBody>
      </p:sp>
      <p:sp>
        <p:nvSpPr>
          <p:cNvPr id="579" name="Google Shape;579;p12"/>
          <p:cNvSpPr txBox="1"/>
          <p:nvPr/>
        </p:nvSpPr>
        <p:spPr>
          <a:xfrm>
            <a:off x="6096305" y="3600907"/>
            <a:ext cx="1543507" cy="3337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52CC"/>
              </a:buClr>
              <a:buSzPts val="1800"/>
              <a:buFont typeface="Noto Sans JP"/>
              <a:buNone/>
            </a:pPr>
            <a:r>
              <a:rPr b="1" i="0" lang="en-US" sz="1800" u="none" cap="none" strike="noStrike">
                <a:solidFill>
                  <a:srgbClr val="0052CC"/>
                </a:solidFill>
                <a:latin typeface="Noto Sans JP"/>
                <a:ea typeface="Noto Sans JP"/>
                <a:cs typeface="Noto Sans JP"/>
                <a:sym typeface="Noto Sans JP"/>
              </a:rPr>
              <a:t>次のステップ</a:t>
            </a:r>
            <a:endParaRPr b="0" i="0" sz="1800" u="none" cap="none" strike="noStrike">
              <a:solidFill>
                <a:schemeClr val="dk1"/>
              </a:solidFill>
              <a:latin typeface="Calibri"/>
              <a:ea typeface="Calibri"/>
              <a:cs typeface="Calibri"/>
              <a:sym typeface="Calibri"/>
            </a:endParaRPr>
          </a:p>
        </p:txBody>
      </p:sp>
      <p:sp>
        <p:nvSpPr>
          <p:cNvPr id="580" name="Google Shape;580;p12"/>
          <p:cNvSpPr/>
          <p:nvPr/>
        </p:nvSpPr>
        <p:spPr>
          <a:xfrm>
            <a:off x="6096300" y="4095600"/>
            <a:ext cx="5715000" cy="2150700"/>
          </a:xfrm>
          <a:prstGeom prst="rect">
            <a:avLst/>
          </a:prstGeom>
          <a:solidFill>
            <a:srgbClr val="E3F2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2"/>
          <p:cNvSpPr txBox="1"/>
          <p:nvPr/>
        </p:nvSpPr>
        <p:spPr>
          <a:xfrm>
            <a:off x="6553505" y="4324198"/>
            <a:ext cx="28575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現状業務の棚卸し（AI適用領域の特定）</a:t>
            </a:r>
            <a:endParaRPr b="0" i="0" sz="1200" u="none" cap="none" strike="noStrike">
              <a:solidFill>
                <a:schemeClr val="dk1"/>
              </a:solidFill>
              <a:latin typeface="Calibri"/>
              <a:ea typeface="Calibri"/>
              <a:cs typeface="Calibri"/>
              <a:sym typeface="Calibri"/>
            </a:endParaRPr>
          </a:p>
        </p:txBody>
      </p:sp>
      <p:sp>
        <p:nvSpPr>
          <p:cNvPr id="582" name="Google Shape;582;p12"/>
          <p:cNvSpPr txBox="1"/>
          <p:nvPr/>
        </p:nvSpPr>
        <p:spPr>
          <a:xfrm>
            <a:off x="6553505" y="4667098"/>
            <a:ext cx="31153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導入目標・KPIの設定（期待効果の明確化）</a:t>
            </a:r>
            <a:endParaRPr b="0" i="0" sz="1200" u="none" cap="none" strike="noStrike">
              <a:solidFill>
                <a:schemeClr val="dk1"/>
              </a:solidFill>
              <a:latin typeface="Calibri"/>
              <a:ea typeface="Calibri"/>
              <a:cs typeface="Calibri"/>
              <a:sym typeface="Calibri"/>
            </a:endParaRPr>
          </a:p>
        </p:txBody>
      </p:sp>
      <p:sp>
        <p:nvSpPr>
          <p:cNvPr id="583" name="Google Shape;583;p12"/>
          <p:cNvSpPr txBox="1"/>
          <p:nvPr/>
        </p:nvSpPr>
        <p:spPr>
          <a:xfrm>
            <a:off x="6553505" y="5009998"/>
            <a:ext cx="3001061"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小規模PoC実施（特定業務での効果検証）</a:t>
            </a:r>
            <a:endParaRPr b="0" i="0" sz="1200" u="none" cap="none" strike="noStrike">
              <a:solidFill>
                <a:schemeClr val="dk1"/>
              </a:solidFill>
              <a:latin typeface="Calibri"/>
              <a:ea typeface="Calibri"/>
              <a:cs typeface="Calibri"/>
              <a:sym typeface="Calibri"/>
            </a:endParaRPr>
          </a:p>
        </p:txBody>
      </p:sp>
      <p:sp>
        <p:nvSpPr>
          <p:cNvPr id="584" name="Google Shape;584;p12"/>
          <p:cNvSpPr txBox="1"/>
          <p:nvPr/>
        </p:nvSpPr>
        <p:spPr>
          <a:xfrm>
            <a:off x="6553505" y="5352898"/>
            <a:ext cx="3629254"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段階的な展開計画策定（全社展開のロードマップ）</a:t>
            </a:r>
            <a:endParaRPr b="0" i="0" sz="1200" u="none" cap="none" strike="noStrike">
              <a:solidFill>
                <a:schemeClr val="dk1"/>
              </a:solidFill>
              <a:latin typeface="Calibri"/>
              <a:ea typeface="Calibri"/>
              <a:cs typeface="Calibri"/>
              <a:sym typeface="Calibri"/>
            </a:endParaRPr>
          </a:p>
        </p:txBody>
      </p:sp>
      <p:sp>
        <p:nvSpPr>
          <p:cNvPr id="585" name="Google Shape;585;p12"/>
          <p:cNvSpPr/>
          <p:nvPr/>
        </p:nvSpPr>
        <p:spPr>
          <a:xfrm>
            <a:off x="7367768" y="5628127"/>
            <a:ext cx="3172200" cy="457200"/>
          </a:xfrm>
          <a:prstGeom prst="roundRect">
            <a:avLst>
              <a:gd fmla="val 16667" name="adj"/>
            </a:avLst>
          </a:prstGeom>
          <a:solidFill>
            <a:srgbClr val="005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2"/>
          <p:cNvSpPr txBox="1"/>
          <p:nvPr/>
        </p:nvSpPr>
        <p:spPr>
          <a:xfrm>
            <a:off x="7672273" y="5742427"/>
            <a:ext cx="25632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Noto Sans JP"/>
              <a:buNone/>
            </a:pPr>
            <a:r>
              <a:rPr b="1" i="0" lang="en-US" sz="1200" u="none" cap="none" strike="noStrike">
                <a:solidFill>
                  <a:srgbClr val="FFFFFF"/>
                </a:solidFill>
                <a:latin typeface="Noto Sans JP"/>
                <a:ea typeface="Noto Sans JP"/>
                <a:cs typeface="Noto Sans JP"/>
                <a:sym typeface="Noto Sans JP"/>
              </a:rPr>
              <a:t>新しい働き方への第一歩を踏み出す</a:t>
            </a:r>
            <a:endParaRPr b="0" i="0" sz="1200" u="none" cap="none" strike="noStrike">
              <a:solidFill>
                <a:schemeClr val="dk1"/>
              </a:solidFill>
              <a:latin typeface="Calibri"/>
              <a:ea typeface="Calibri"/>
              <a:cs typeface="Calibri"/>
              <a:sym typeface="Calibri"/>
            </a:endParaRPr>
          </a:p>
        </p:txBody>
      </p:sp>
      <p:sp>
        <p:nvSpPr>
          <p:cNvPr id="587" name="Google Shape;587;p12"/>
          <p:cNvSpPr txBox="1"/>
          <p:nvPr/>
        </p:nvSpPr>
        <p:spPr>
          <a:xfrm>
            <a:off x="2859329" y="6372454"/>
            <a:ext cx="6620256" cy="2770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3366"/>
              </a:buClr>
              <a:buSzPts val="1500"/>
              <a:buFont typeface="M PLUS 1"/>
              <a:buNone/>
            </a:pPr>
            <a:r>
              <a:rPr b="1" i="0" lang="en-US" sz="1500" u="none" cap="none" strike="noStrike">
                <a:solidFill>
                  <a:srgbClr val="003366"/>
                </a:solidFill>
                <a:latin typeface="M PLUS 1"/>
                <a:ea typeface="M PLUS 1"/>
                <a:cs typeface="M PLUS 1"/>
                <a:sym typeface="M PLUS 1"/>
              </a:rPr>
              <a:t>"AIが働き、人が輝く。それが私たちが目指す次世代の仕事のかたちです。"</a:t>
            </a:r>
            <a:endParaRPr b="0" i="0" sz="1500" u="none" cap="none" strike="noStrike">
              <a:solidFill>
                <a:schemeClr val="dk1"/>
              </a:solidFill>
              <a:latin typeface="Calibri"/>
              <a:ea typeface="Calibri"/>
              <a:cs typeface="Calibri"/>
              <a:sym typeface="Calibri"/>
            </a:endParaRPr>
          </a:p>
        </p:txBody>
      </p:sp>
      <p:sp>
        <p:nvSpPr>
          <p:cNvPr id="588" name="Google Shape;588;p12"/>
          <p:cNvSpPr txBox="1"/>
          <p:nvPr/>
        </p:nvSpPr>
        <p:spPr>
          <a:xfrm>
            <a:off x="11618366" y="6648602"/>
            <a:ext cx="314554"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3366"/>
              </a:buClr>
              <a:buSzPts val="1200"/>
              <a:buFont typeface="M PLUS 1"/>
              <a:buNone/>
            </a:pPr>
            <a:r>
              <a:rPr b="0" i="0" lang="en-US" sz="1200" u="none" cap="none" strike="noStrike">
                <a:solidFill>
                  <a:srgbClr val="003366"/>
                </a:solidFill>
                <a:latin typeface="M PLUS 1"/>
                <a:ea typeface="M PLUS 1"/>
                <a:cs typeface="M PLUS 1"/>
                <a:sym typeface="M PLUS 1"/>
              </a:rPr>
              <a:t>12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2025-10-22T06:48:51Z</dcterms:created>
  <dc:creator>Visual Extract to PPTX Converter</dc:creator>
</cp:coreProperties>
</file>