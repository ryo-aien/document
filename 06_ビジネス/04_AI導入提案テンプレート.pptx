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image" Target="../media/image-4-18.png"/><Relationship Id="rId19" Type="http://schemas.openxmlformats.org/officeDocument/2006/relationships/image" Target="../media/image-4-19.png"/><Relationship Id="rId20" Type="http://schemas.openxmlformats.org/officeDocument/2006/relationships/slideLayout" Target="../slideLayouts/slideLayout1.xml"/><Relationship Id="rId2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ADD8E6">
              <a:alpha val="30000"/>
            </a:srgbClr>
          </a:solidFill>
          <a:ln/>
        </p:spPr>
      </p:sp>
      <p:sp>
        <p:nvSpPr>
          <p:cNvPr id="4" name="Shape 2"/>
          <p:cNvSpPr/>
          <p:nvPr/>
        </p:nvSpPr>
        <p:spPr>
          <a:xfrm>
            <a:off x="952805" y="5429707"/>
            <a:ext cx="1904695" cy="1904695"/>
          </a:xfrm>
          <a:prstGeom prst="rect">
            <a:avLst/>
          </a:prstGeom>
          <a:solidFill>
            <a:srgbClr val="ADD8E6">
              <a:alpha val="30000"/>
            </a:srgbClr>
          </a:solidFill>
          <a:ln/>
        </p:spPr>
      </p:sp>
      <p:sp>
        <p:nvSpPr>
          <p:cNvPr id="5" name="Shape 3"/>
          <p:cNvSpPr/>
          <p:nvPr/>
        </p:nvSpPr>
        <p:spPr>
          <a:xfrm>
            <a:off x="-476402" y="1429207"/>
            <a:ext cx="1429207" cy="1429207"/>
          </a:xfrm>
          <a:prstGeom prst="rect">
            <a:avLst/>
          </a:prstGeom>
          <a:solidFill>
            <a:srgbClr val="ADD8E6">
              <a:alpha val="30000"/>
            </a:srgbClr>
          </a:solidFill>
          <a:ln/>
        </p:spPr>
      </p:sp>
      <p:sp>
        <p:nvSpPr>
          <p:cNvPr id="6" name="Text 4"/>
          <p:cNvSpPr txBox="1"/>
          <p:nvPr/>
        </p:nvSpPr>
        <p:spPr>
          <a:xfrm>
            <a:off x="1537106" y="1676095"/>
            <a:ext cx="9468612" cy="667512"/>
          </a:xfrm>
          <a:prstGeom prst="rect">
            <a:avLst/>
          </a:prstGeom>
          <a:noFill/>
          <a:ln/>
        </p:spPr>
        <p:txBody>
          <a:bodyPr wrap="square" lIns="0" tIns="0" rIns="0" bIns="0" rtlCol="0" anchor="ctr"/>
          <a:lstStyle/>
          <a:p>
            <a:pPr algn="ctr" indent="0" marL="0">
              <a:buNone/>
            </a:pPr>
            <a:r>
              <a:rPr lang="en-US" sz="3600" b="1" dirty="0">
                <a:solidFill>
                  <a:srgbClr val="0047AB"/>
                </a:solidFill>
                <a:latin typeface="Noto Sans JP" pitchFamily="34" charset="0"/>
                <a:ea typeface="Noto Sans JP" pitchFamily="34" charset="-122"/>
                <a:cs typeface="Noto Sans JP" pitchFamily="34" charset="-120"/>
              </a:rPr>
              <a:t>AI導入による業務効率化と品質向上のご提案</a:t>
            </a:r>
            <a:endParaRPr lang="en-US" sz="3600" dirty="0"/>
          </a:p>
        </p:txBody>
      </p:sp>
      <p:sp>
        <p:nvSpPr>
          <p:cNvPr id="7" name="Shape 5"/>
          <p:cNvSpPr/>
          <p:nvPr/>
        </p:nvSpPr>
        <p:spPr>
          <a:xfrm>
            <a:off x="5619902" y="2461565"/>
            <a:ext cx="952805" cy="38405"/>
          </a:xfrm>
          <a:prstGeom prst="rect">
            <a:avLst/>
          </a:prstGeom>
          <a:solidFill>
            <a:srgbClr val="ADD8E6"/>
          </a:solidFill>
          <a:ln/>
        </p:spPr>
      </p:sp>
      <p:sp>
        <p:nvSpPr>
          <p:cNvPr id="8" name="Text 6"/>
          <p:cNvSpPr txBox="1"/>
          <p:nvPr/>
        </p:nvSpPr>
        <p:spPr>
          <a:xfrm>
            <a:off x="3037637" y="2718511"/>
            <a:ext cx="6324905" cy="381305"/>
          </a:xfrm>
          <a:prstGeom prst="rect">
            <a:avLst/>
          </a:prstGeom>
          <a:noFill/>
          <a:ln/>
        </p:spPr>
        <p:txBody>
          <a:bodyPr wrap="square" lIns="0" tIns="0" rIns="0" bIns="0" rtlCol="0" anchor="ctr"/>
          <a:lstStyle/>
          <a:p>
            <a:pPr algn="ctr" indent="0" marL="0">
              <a:buNone/>
            </a:pPr>
            <a:r>
              <a:rPr lang="en-US" sz="2100" b="1" dirty="0">
                <a:solidFill>
                  <a:srgbClr val="00008B"/>
                </a:solidFill>
                <a:latin typeface="Noto Sans JP" pitchFamily="34" charset="0"/>
                <a:ea typeface="Noto Sans JP" pitchFamily="34" charset="-122"/>
                <a:cs typeface="Noto Sans JP" pitchFamily="34" charset="-120"/>
              </a:rPr>
              <a:t>人の力とAIの力で、お客様満足と生産性を両立する</a:t>
            </a:r>
            <a:endParaRPr lang="en-US" sz="2100" dirty="0"/>
          </a:p>
        </p:txBody>
      </p:sp>
      <p:sp>
        <p:nvSpPr>
          <p:cNvPr id="9" name="Text 7"/>
          <p:cNvSpPr txBox="1"/>
          <p:nvPr/>
        </p:nvSpPr>
        <p:spPr>
          <a:xfrm>
            <a:off x="4419295" y="3720694"/>
            <a:ext cx="3491179" cy="247802"/>
          </a:xfrm>
          <a:prstGeom prst="rect">
            <a:avLst/>
          </a:prstGeom>
          <a:noFill/>
          <a:ln/>
        </p:spPr>
        <p:txBody>
          <a:bodyPr wrap="square" lIns="0" tIns="0" rIns="0" bIns="0" rtlCol="0" anchor="ctr"/>
          <a:lstStyle/>
          <a:p>
            <a:pPr algn="ctr" indent="0" marL="0">
              <a:buNone/>
            </a:pPr>
            <a:r>
              <a:rPr lang="en-US" sz="1300" dirty="0">
                <a:solidFill>
                  <a:srgbClr val="555555"/>
                </a:solidFill>
                <a:latin typeface="Noto Sans JP" pitchFamily="34" charset="0"/>
                <a:ea typeface="Noto Sans JP" pitchFamily="34" charset="-122"/>
                <a:cs typeface="Noto Sans JP" pitchFamily="34" charset="-120"/>
              </a:rPr>
              <a:t>• 定型業務の効率化と高度な品質管理の実現</a:t>
            </a:r>
            <a:endParaRPr lang="en-US" sz="1300" dirty="0"/>
          </a:p>
        </p:txBody>
      </p:sp>
      <p:sp>
        <p:nvSpPr>
          <p:cNvPr id="10" name="Text 8"/>
          <p:cNvSpPr txBox="1"/>
          <p:nvPr/>
        </p:nvSpPr>
        <p:spPr>
          <a:xfrm>
            <a:off x="4504334" y="4146804"/>
            <a:ext cx="3320186" cy="247802"/>
          </a:xfrm>
          <a:prstGeom prst="rect">
            <a:avLst/>
          </a:prstGeom>
          <a:noFill/>
          <a:ln/>
        </p:spPr>
        <p:txBody>
          <a:bodyPr wrap="square" lIns="0" tIns="0" rIns="0" bIns="0" rtlCol="0" anchor="ctr"/>
          <a:lstStyle/>
          <a:p>
            <a:pPr algn="ctr" indent="0" marL="0">
              <a:buNone/>
            </a:pPr>
            <a:r>
              <a:rPr lang="en-US" sz="1300" dirty="0">
                <a:solidFill>
                  <a:srgbClr val="555555"/>
                </a:solidFill>
                <a:latin typeface="Noto Sans JP" pitchFamily="34" charset="0"/>
                <a:ea typeface="Noto Sans JP" pitchFamily="34" charset="-122"/>
                <a:cs typeface="Noto Sans JP" pitchFamily="34" charset="-120"/>
              </a:rPr>
              <a:t>• 担当者の負荷軽減と創造的業務への集中</a:t>
            </a:r>
            <a:endParaRPr lang="en-US" sz="1300" dirty="0"/>
          </a:p>
        </p:txBody>
      </p:sp>
      <p:sp>
        <p:nvSpPr>
          <p:cNvPr id="11" name="Text 9"/>
          <p:cNvSpPr txBox="1"/>
          <p:nvPr/>
        </p:nvSpPr>
        <p:spPr>
          <a:xfrm>
            <a:off x="4247388" y="4573829"/>
            <a:ext cx="3834079" cy="247802"/>
          </a:xfrm>
          <a:prstGeom prst="rect">
            <a:avLst/>
          </a:prstGeom>
          <a:noFill/>
          <a:ln/>
        </p:spPr>
        <p:txBody>
          <a:bodyPr wrap="square" lIns="0" tIns="0" rIns="0" bIns="0" rtlCol="0" anchor="ctr"/>
          <a:lstStyle/>
          <a:p>
            <a:pPr algn="ctr" indent="0" marL="0">
              <a:buNone/>
            </a:pPr>
            <a:r>
              <a:rPr lang="en-US" sz="1300" dirty="0">
                <a:solidFill>
                  <a:srgbClr val="555555"/>
                </a:solidFill>
                <a:latin typeface="Noto Sans JP" pitchFamily="34" charset="0"/>
                <a:ea typeface="Noto Sans JP" pitchFamily="34" charset="-122"/>
                <a:cs typeface="Noto Sans JP" pitchFamily="34" charset="-120"/>
              </a:rPr>
              <a:t>• お客様対応品質の向上と業務コスト削減の両立</a:t>
            </a:r>
            <a:endParaRPr lang="en-US" sz="1300" dirty="0"/>
          </a:p>
        </p:txBody>
      </p:sp>
      <p:sp>
        <p:nvSpPr>
          <p:cNvPr id="12" name="Text 10"/>
          <p:cNvSpPr txBox="1"/>
          <p:nvPr/>
        </p:nvSpPr>
        <p:spPr>
          <a:xfrm>
            <a:off x="761695" y="6248095"/>
            <a:ext cx="1257300" cy="228600"/>
          </a:xfrm>
          <a:prstGeom prst="rect">
            <a:avLst/>
          </a:prstGeom>
          <a:noFill/>
          <a:ln/>
        </p:spPr>
        <p:txBody>
          <a:bodyPr wrap="square" lIns="0" tIns="0" rIns="0" bIns="0" rtlCol="0" anchor="ctr"/>
          <a:lstStyle/>
          <a:p>
            <a:pPr algn="l" indent="0" marL="0">
              <a:buNone/>
            </a:pPr>
            <a:r>
              <a:rPr lang="en-US" sz="1200" dirty="0">
                <a:solidFill>
                  <a:srgbClr val="555555"/>
                </a:solidFill>
                <a:latin typeface="Noto Sans JP" pitchFamily="34" charset="0"/>
                <a:ea typeface="Noto Sans JP" pitchFamily="34" charset="-122"/>
                <a:cs typeface="Noto Sans JP" pitchFamily="34" charset="-120"/>
              </a:rPr>
              <a:t>2025年10月20日</a:t>
            </a:r>
            <a:endParaRPr lang="en-US" sz="1200" dirty="0"/>
          </a:p>
        </p:txBody>
      </p:sp>
      <p:sp>
        <p:nvSpPr>
          <p:cNvPr id="13" name="Text 11"/>
          <p:cNvSpPr txBox="1"/>
          <p:nvPr/>
        </p:nvSpPr>
        <p:spPr>
          <a:xfrm>
            <a:off x="8561527" y="6248095"/>
            <a:ext cx="2991002" cy="228600"/>
          </a:xfrm>
          <a:prstGeom prst="rect">
            <a:avLst/>
          </a:prstGeom>
          <a:noFill/>
          <a:ln/>
        </p:spPr>
        <p:txBody>
          <a:bodyPr wrap="square" lIns="0" tIns="0" rIns="0" bIns="0" rtlCol="0" anchor="ctr"/>
          <a:lstStyle/>
          <a:p>
            <a:pPr algn="r" indent="0" marL="0">
              <a:buNone/>
            </a:pPr>
            <a:r>
              <a:rPr lang="en-US" sz="1200" dirty="0">
                <a:solidFill>
                  <a:srgbClr val="555555"/>
                </a:solidFill>
                <a:latin typeface="Noto Sans JP" pitchFamily="34" charset="0"/>
                <a:ea typeface="Noto Sans JP" pitchFamily="34" charset="-122"/>
                <a:cs typeface="Noto Sans JP" pitchFamily="34" charset="-120"/>
              </a:rPr>
              <a:t>株式会社〇〇〇〇 / ソリューション事業部</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4A90E2">
              <a:alpha val="10000"/>
            </a:srgbClr>
          </a:solidFill>
          <a:ln/>
        </p:spPr>
      </p:sp>
      <p:sp>
        <p:nvSpPr>
          <p:cNvPr id="4" name="Shape 2"/>
          <p:cNvSpPr/>
          <p:nvPr/>
        </p:nvSpPr>
        <p:spPr>
          <a:xfrm>
            <a:off x="952805" y="5429707"/>
            <a:ext cx="1904695" cy="1904695"/>
          </a:xfrm>
          <a:prstGeom prst="rect">
            <a:avLst/>
          </a:prstGeom>
          <a:solidFill>
            <a:srgbClr val="4A90E2">
              <a:alpha val="10000"/>
            </a:srgbClr>
          </a:solidFill>
          <a:ln/>
        </p:spPr>
      </p:sp>
      <p:sp>
        <p:nvSpPr>
          <p:cNvPr id="5" name="Text 3"/>
          <p:cNvSpPr txBox="1"/>
          <p:nvPr/>
        </p:nvSpPr>
        <p:spPr>
          <a:xfrm>
            <a:off x="381305" y="603504"/>
            <a:ext cx="3676802" cy="495605"/>
          </a:xfrm>
          <a:prstGeom prst="rect">
            <a:avLst/>
          </a:prstGeom>
          <a:noFill/>
          <a:ln/>
        </p:spPr>
        <p:txBody>
          <a:bodyPr wrap="square" lIns="0" tIns="0" rIns="0" bIns="0" rtlCol="0" anchor="ctr"/>
          <a:lstStyle/>
          <a:p>
            <a:pPr algn="l" indent="0" marL="0">
              <a:buNone/>
            </a:pPr>
            <a:r>
              <a:rPr lang="en-US" sz="2700" b="1" dirty="0">
                <a:solidFill>
                  <a:srgbClr val="0052CC"/>
                </a:solidFill>
                <a:latin typeface="Noto Sans JP" pitchFamily="34" charset="0"/>
                <a:ea typeface="Noto Sans JP" pitchFamily="34" charset="-122"/>
                <a:cs typeface="Noto Sans JP" pitchFamily="34" charset="-120"/>
              </a:rPr>
              <a:t>現場で見えている課題</a:t>
            </a:r>
            <a:endParaRPr lang="en-US" sz="2700" dirty="0"/>
          </a:p>
        </p:txBody>
      </p:sp>
      <p:sp>
        <p:nvSpPr>
          <p:cNvPr id="6" name="Shape 4"/>
          <p:cNvSpPr/>
          <p:nvPr/>
        </p:nvSpPr>
        <p:spPr>
          <a:xfrm>
            <a:off x="381305" y="1176833"/>
            <a:ext cx="571500" cy="38405"/>
          </a:xfrm>
          <a:prstGeom prst="rect">
            <a:avLst/>
          </a:prstGeom>
          <a:solidFill>
            <a:srgbClr val="4A90E2"/>
          </a:solidFill>
          <a:ln/>
        </p:spPr>
      </p:sp>
      <p:sp>
        <p:nvSpPr>
          <p:cNvPr id="7" name="Text 5"/>
          <p:cNvSpPr txBox="1"/>
          <p:nvPr/>
        </p:nvSpPr>
        <p:spPr>
          <a:xfrm>
            <a:off x="381305" y="1443838"/>
            <a:ext cx="5486400"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ビジネス環境の変化： デジタル化の加速に伴い、業務量・複雑さが増加する一方で、人的リソースは限られています。</a:t>
            </a:r>
            <a:endParaRPr lang="en-US" sz="1200" dirty="0"/>
          </a:p>
        </p:txBody>
      </p:sp>
      <p:sp>
        <p:nvSpPr>
          <p:cNvPr id="8" name="Shape 6"/>
          <p:cNvSpPr/>
          <p:nvPr/>
        </p:nvSpPr>
        <p:spPr>
          <a:xfrm>
            <a:off x="381305" y="2053742"/>
            <a:ext cx="5410505" cy="609905"/>
          </a:xfrm>
          <a:prstGeom prst="rect">
            <a:avLst/>
          </a:prstGeom>
          <a:solidFill>
            <a:srgbClr val="E3F2FD">
              <a:alpha val="50000"/>
            </a:srgbClr>
          </a:solidFill>
          <a:ln/>
        </p:spPr>
      </p:sp>
      <p:sp>
        <p:nvSpPr>
          <p:cNvPr id="9" name="Shape 7"/>
          <p:cNvSpPr/>
          <p:nvPr/>
        </p:nvSpPr>
        <p:spPr>
          <a:xfrm>
            <a:off x="381305" y="2053742"/>
            <a:ext cx="28346" cy="609905"/>
          </a:xfrm>
          <a:prstGeom prst="rect">
            <a:avLst/>
          </a:prstGeom>
          <a:solidFill>
            <a:srgbClr val="4A90E2"/>
          </a:solidFill>
          <a:ln/>
        </p:spPr>
      </p:sp>
      <p:sp>
        <p:nvSpPr>
          <p:cNvPr id="10" name="Text 8"/>
          <p:cNvSpPr txBox="1"/>
          <p:nvPr/>
        </p:nvSpPr>
        <p:spPr>
          <a:xfrm>
            <a:off x="523951" y="2129638"/>
            <a:ext cx="5162702"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作業量の増加： 担当者の業務負荷が限界に近づいており、残業や品質低下のリスクが高まっています</a:t>
            </a:r>
            <a:endParaRPr lang="en-US" sz="1200" dirty="0"/>
          </a:p>
        </p:txBody>
      </p:sp>
      <p:sp>
        <p:nvSpPr>
          <p:cNvPr id="11" name="Shape 9"/>
          <p:cNvSpPr/>
          <p:nvPr/>
        </p:nvSpPr>
        <p:spPr>
          <a:xfrm>
            <a:off x="381305" y="2815438"/>
            <a:ext cx="5410505" cy="609905"/>
          </a:xfrm>
          <a:prstGeom prst="rect">
            <a:avLst/>
          </a:prstGeom>
          <a:solidFill>
            <a:srgbClr val="E3F2FD">
              <a:alpha val="50000"/>
            </a:srgbClr>
          </a:solidFill>
          <a:ln/>
        </p:spPr>
      </p:sp>
      <p:sp>
        <p:nvSpPr>
          <p:cNvPr id="12" name="Shape 10"/>
          <p:cNvSpPr/>
          <p:nvPr/>
        </p:nvSpPr>
        <p:spPr>
          <a:xfrm>
            <a:off x="381305" y="2815438"/>
            <a:ext cx="28346" cy="609905"/>
          </a:xfrm>
          <a:prstGeom prst="rect">
            <a:avLst/>
          </a:prstGeom>
          <a:solidFill>
            <a:srgbClr val="4A90E2"/>
          </a:solidFill>
          <a:ln/>
        </p:spPr>
      </p:sp>
      <p:sp>
        <p:nvSpPr>
          <p:cNvPr id="13" name="Text 11"/>
          <p:cNvSpPr txBox="1"/>
          <p:nvPr/>
        </p:nvSpPr>
        <p:spPr>
          <a:xfrm>
            <a:off x="523951" y="2891333"/>
            <a:ext cx="5181905"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納期遅延・品質のバラつき： 繁忙期には対応遅延が発生し、担当者による品質差も顕著になっています</a:t>
            </a:r>
            <a:endParaRPr lang="en-US" sz="1200" dirty="0"/>
          </a:p>
        </p:txBody>
      </p:sp>
      <p:sp>
        <p:nvSpPr>
          <p:cNvPr id="14" name="Shape 12"/>
          <p:cNvSpPr/>
          <p:nvPr/>
        </p:nvSpPr>
        <p:spPr>
          <a:xfrm>
            <a:off x="381305" y="3577133"/>
            <a:ext cx="5410505" cy="609905"/>
          </a:xfrm>
          <a:prstGeom prst="rect">
            <a:avLst/>
          </a:prstGeom>
          <a:solidFill>
            <a:srgbClr val="E3F2FD">
              <a:alpha val="50000"/>
            </a:srgbClr>
          </a:solidFill>
          <a:ln/>
        </p:spPr>
      </p:sp>
      <p:sp>
        <p:nvSpPr>
          <p:cNvPr id="15" name="Shape 13"/>
          <p:cNvSpPr/>
          <p:nvPr/>
        </p:nvSpPr>
        <p:spPr>
          <a:xfrm>
            <a:off x="381305" y="3577133"/>
            <a:ext cx="28346" cy="609905"/>
          </a:xfrm>
          <a:prstGeom prst="rect">
            <a:avLst/>
          </a:prstGeom>
          <a:solidFill>
            <a:srgbClr val="4A90E2"/>
          </a:solidFill>
          <a:ln/>
        </p:spPr>
      </p:sp>
      <p:sp>
        <p:nvSpPr>
          <p:cNvPr id="16" name="Text 14"/>
          <p:cNvSpPr txBox="1"/>
          <p:nvPr/>
        </p:nvSpPr>
        <p:spPr>
          <a:xfrm>
            <a:off x="523951" y="3653942"/>
            <a:ext cx="5181905"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人員依存・引き継ぎリスク： 特定担当者への依存度が高く、引継ぎやノウハウ継承に課題があります</a:t>
            </a:r>
            <a:endParaRPr lang="en-US" sz="1200" dirty="0"/>
          </a:p>
        </p:txBody>
      </p:sp>
      <p:sp>
        <p:nvSpPr>
          <p:cNvPr id="17" name="Shape 15"/>
          <p:cNvSpPr/>
          <p:nvPr/>
        </p:nvSpPr>
        <p:spPr>
          <a:xfrm>
            <a:off x="381305" y="4339742"/>
            <a:ext cx="5410505" cy="609905"/>
          </a:xfrm>
          <a:prstGeom prst="rect">
            <a:avLst/>
          </a:prstGeom>
          <a:solidFill>
            <a:srgbClr val="E3F2FD">
              <a:alpha val="50000"/>
            </a:srgbClr>
          </a:solidFill>
          <a:ln/>
        </p:spPr>
      </p:sp>
      <p:sp>
        <p:nvSpPr>
          <p:cNvPr id="18" name="Shape 16"/>
          <p:cNvSpPr/>
          <p:nvPr/>
        </p:nvSpPr>
        <p:spPr>
          <a:xfrm>
            <a:off x="381305" y="4339742"/>
            <a:ext cx="28346" cy="609905"/>
          </a:xfrm>
          <a:prstGeom prst="rect">
            <a:avLst/>
          </a:prstGeom>
          <a:solidFill>
            <a:srgbClr val="4A90E2"/>
          </a:solidFill>
          <a:ln/>
        </p:spPr>
      </p:sp>
      <p:sp>
        <p:nvSpPr>
          <p:cNvPr id="19" name="Text 17"/>
          <p:cNvSpPr txBox="1"/>
          <p:nvPr/>
        </p:nvSpPr>
        <p:spPr>
          <a:xfrm>
            <a:off x="523951" y="4415638"/>
            <a:ext cx="5020056"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再作業・ミスによるコスト増： ヒューマンエラーによる修正作業が発生し、余分なコストが発生しています</a:t>
            </a:r>
            <a:endParaRPr lang="en-US" sz="1200" dirty="0"/>
          </a:p>
        </p:txBody>
      </p:sp>
      <p:sp>
        <p:nvSpPr>
          <p:cNvPr id="20" name="Text 18"/>
          <p:cNvSpPr txBox="1"/>
          <p:nvPr/>
        </p:nvSpPr>
        <p:spPr>
          <a:xfrm>
            <a:off x="8153705" y="381305"/>
            <a:ext cx="1772107" cy="333756"/>
          </a:xfrm>
          <a:prstGeom prst="rect">
            <a:avLst/>
          </a:prstGeom>
          <a:noFill/>
          <a:ln/>
        </p:spPr>
        <p:txBody>
          <a:bodyPr wrap="square" lIns="0" tIns="0" rIns="0" bIns="0" rtlCol="0" anchor="ctr"/>
          <a:lstStyle/>
          <a:p>
            <a:pPr algn="ctr" indent="0" marL="0">
              <a:buNone/>
            </a:pPr>
            <a:r>
              <a:rPr lang="en-US" sz="1800" b="1" dirty="0">
                <a:solidFill>
                  <a:srgbClr val="4A90E2"/>
                </a:solidFill>
                <a:latin typeface="Noto Sans JP" pitchFamily="34" charset="0"/>
                <a:ea typeface="Noto Sans JP" pitchFamily="34" charset="-122"/>
                <a:cs typeface="Noto Sans JP" pitchFamily="34" charset="-120"/>
              </a:rPr>
              <a:t>人手処理の限界</a:t>
            </a:r>
            <a:endParaRPr lang="en-US" sz="1800" dirty="0"/>
          </a:p>
        </p:txBody>
      </p:sp>
      <p:pic>
        <p:nvPicPr>
          <p:cNvPr id="21" name="Image 0" descr="preencoded.png">    </p:cNvPr>
          <p:cNvPicPr>
            <a:picLocks noChangeAspect="1"/>
          </p:cNvPicPr>
          <p:nvPr/>
        </p:nvPicPr>
        <p:blipFill>
          <a:blip r:embed="rId1"/>
          <a:srcRect l="-5" r="-5" t="0" b="0"/>
          <a:stretch/>
        </p:blipFill>
        <p:spPr>
          <a:xfrm>
            <a:off x="6096305" y="875995"/>
            <a:ext cx="5715000" cy="3047695"/>
          </a:xfrm>
          <a:prstGeom prst="rect">
            <a:avLst/>
          </a:prstGeom>
        </p:spPr>
      </p:pic>
      <p:sp>
        <p:nvSpPr>
          <p:cNvPr id="22" name="Shape 19"/>
          <p:cNvSpPr/>
          <p:nvPr/>
        </p:nvSpPr>
        <p:spPr>
          <a:xfrm>
            <a:off x="6096305" y="4076395"/>
            <a:ext cx="5715000" cy="1143000"/>
          </a:xfrm>
          <a:prstGeom prst="roundRect">
            <a:avLst>
              <a:gd name="adj" fmla="val 2667"/>
            </a:avLst>
          </a:prstGeom>
          <a:solidFill>
            <a:srgbClr val="E3F2FD"/>
          </a:solidFill>
          <a:ln/>
        </p:spPr>
      </p:sp>
      <p:sp>
        <p:nvSpPr>
          <p:cNvPr id="23" name="Text 20"/>
          <p:cNvSpPr txBox="1"/>
          <p:nvPr/>
        </p:nvSpPr>
        <p:spPr>
          <a:xfrm>
            <a:off x="8572500" y="4229100"/>
            <a:ext cx="886054" cy="228600"/>
          </a:xfrm>
          <a:prstGeom prst="rect">
            <a:avLst/>
          </a:prstGeom>
          <a:noFill/>
          <a:ln/>
        </p:spPr>
        <p:txBody>
          <a:bodyPr wrap="square" lIns="0" tIns="0" rIns="0" bIns="0" rtlCol="0" anchor="ctr"/>
          <a:lstStyle/>
          <a:p>
            <a:pPr algn="ctr" indent="0" marL="0">
              <a:buNone/>
            </a:pPr>
            <a:r>
              <a:rPr lang="en-US" sz="1200" b="1" dirty="0">
                <a:solidFill>
                  <a:srgbClr val="0052CC"/>
                </a:solidFill>
                <a:latin typeface="Noto Sans JP" pitchFamily="34" charset="0"/>
                <a:ea typeface="Noto Sans JP" pitchFamily="34" charset="-122"/>
                <a:cs typeface="Noto Sans JP" pitchFamily="34" charset="-120"/>
              </a:rPr>
              <a:t>課題の影響</a:t>
            </a:r>
            <a:endParaRPr lang="en-US" sz="1200" dirty="0"/>
          </a:p>
        </p:txBody>
      </p:sp>
      <p:sp>
        <p:nvSpPr>
          <p:cNvPr id="24" name="Text 21"/>
          <p:cNvSpPr txBox="1"/>
          <p:nvPr/>
        </p:nvSpPr>
        <p:spPr>
          <a:xfrm>
            <a:off x="6476695" y="4496105"/>
            <a:ext cx="3700577" cy="191110"/>
          </a:xfrm>
          <a:prstGeom prst="rect">
            <a:avLst/>
          </a:prstGeom>
          <a:noFill/>
          <a:ln/>
        </p:spPr>
        <p:txBody>
          <a:bodyPr wrap="square" lIns="0" tIns="0" rIns="0" bIns="0" rtlCol="0" anchor="ctr"/>
          <a:lstStyle/>
          <a:p>
            <a:pPr algn="l" indent="0" marL="0">
              <a:buNone/>
            </a:pPr>
            <a:r>
              <a:rPr lang="en-US" sz="1000" dirty="0">
                <a:solidFill>
                  <a:srgbClr val="0052CC"/>
                </a:solidFill>
                <a:latin typeface="Noto Sans JP" pitchFamily="34" charset="0"/>
                <a:ea typeface="Noto Sans JP" pitchFamily="34" charset="-122"/>
                <a:cs typeface="Noto Sans JP" pitchFamily="34" charset="-120"/>
              </a:rPr>
              <a:t>対応可能な業務量には上限があり、人員追加も即効性がない</a:t>
            </a:r>
            <a:endParaRPr lang="en-US" sz="1000" dirty="0"/>
          </a:p>
        </p:txBody>
      </p:sp>
      <p:sp>
        <p:nvSpPr>
          <p:cNvPr id="25" name="Text 22"/>
          <p:cNvSpPr txBox="1"/>
          <p:nvPr/>
        </p:nvSpPr>
        <p:spPr>
          <a:xfrm>
            <a:off x="6476695" y="4686300"/>
            <a:ext cx="4234586" cy="191110"/>
          </a:xfrm>
          <a:prstGeom prst="rect">
            <a:avLst/>
          </a:prstGeom>
          <a:noFill/>
          <a:ln/>
        </p:spPr>
        <p:txBody>
          <a:bodyPr wrap="square" lIns="0" tIns="0" rIns="0" bIns="0" rtlCol="0" anchor="ctr"/>
          <a:lstStyle/>
          <a:p>
            <a:pPr algn="l" indent="0" marL="0">
              <a:buNone/>
            </a:pPr>
            <a:r>
              <a:rPr lang="en-US" sz="1000" dirty="0">
                <a:solidFill>
                  <a:srgbClr val="0052CC"/>
                </a:solidFill>
                <a:latin typeface="Noto Sans JP" pitchFamily="34" charset="0"/>
                <a:ea typeface="Noto Sans JP" pitchFamily="34" charset="-122"/>
                <a:cs typeface="Noto Sans JP" pitchFamily="34" charset="-120"/>
              </a:rPr>
              <a:t>業務量増加に伴い、品質低下と納期遅延のリスクが指数関数的に上昇</a:t>
            </a:r>
            <a:endParaRPr lang="en-US" sz="1000" dirty="0"/>
          </a:p>
        </p:txBody>
      </p:sp>
      <p:sp>
        <p:nvSpPr>
          <p:cNvPr id="26" name="Text 23"/>
          <p:cNvSpPr txBox="1"/>
          <p:nvPr/>
        </p:nvSpPr>
        <p:spPr>
          <a:xfrm>
            <a:off x="6476695" y="4876495"/>
            <a:ext cx="3967582" cy="191110"/>
          </a:xfrm>
          <a:prstGeom prst="rect">
            <a:avLst/>
          </a:prstGeom>
          <a:noFill/>
          <a:ln/>
        </p:spPr>
        <p:txBody>
          <a:bodyPr wrap="square" lIns="0" tIns="0" rIns="0" bIns="0" rtlCol="0" anchor="ctr"/>
          <a:lstStyle/>
          <a:p>
            <a:pPr algn="l" indent="0" marL="0">
              <a:buNone/>
            </a:pPr>
            <a:r>
              <a:rPr lang="en-US" sz="1000" dirty="0">
                <a:solidFill>
                  <a:srgbClr val="0052CC"/>
                </a:solidFill>
                <a:latin typeface="Noto Sans JP" pitchFamily="34" charset="0"/>
                <a:ea typeface="Noto Sans JP" pitchFamily="34" charset="-122"/>
                <a:cs typeface="Noto Sans JP" pitchFamily="34" charset="-120"/>
              </a:rPr>
              <a:t>従来の人海戦術による解決には限界があり、構造的な改革が必要</a:t>
            </a:r>
            <a:endParaRPr lang="en-US" sz="1000" dirty="0"/>
          </a:p>
        </p:txBody>
      </p:sp>
      <p:sp>
        <p:nvSpPr>
          <p:cNvPr id="27" name="Text 24"/>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052CC"/>
                </a:solidFill>
                <a:latin typeface="Noto Sans JP" pitchFamily="34" charset="0"/>
                <a:ea typeface="Noto Sans JP" pitchFamily="34" charset="-122"/>
                <a:cs typeface="Noto Sans JP"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3E92CC">
              <a:alpha val="10000"/>
            </a:srgbClr>
          </a:solidFill>
          <a:ln/>
        </p:spPr>
      </p:sp>
      <p:sp>
        <p:nvSpPr>
          <p:cNvPr id="4" name="Shape 2"/>
          <p:cNvSpPr/>
          <p:nvPr/>
        </p:nvSpPr>
        <p:spPr>
          <a:xfrm>
            <a:off x="952805" y="5429707"/>
            <a:ext cx="1904695" cy="1904695"/>
          </a:xfrm>
          <a:prstGeom prst="rect">
            <a:avLst/>
          </a:prstGeom>
          <a:solidFill>
            <a:srgbClr val="3E92CC">
              <a:alpha val="10000"/>
            </a:srgbClr>
          </a:solidFill>
          <a:ln/>
        </p:spPr>
      </p:sp>
      <p:sp>
        <p:nvSpPr>
          <p:cNvPr id="5" name="Text 3"/>
          <p:cNvSpPr txBox="1"/>
          <p:nvPr/>
        </p:nvSpPr>
        <p:spPr>
          <a:xfrm>
            <a:off x="381305" y="1185062"/>
            <a:ext cx="5420563" cy="495605"/>
          </a:xfrm>
          <a:prstGeom prst="rect">
            <a:avLst/>
          </a:prstGeom>
          <a:noFill/>
          <a:ln/>
        </p:spPr>
        <p:txBody>
          <a:bodyPr wrap="square" lIns="0" tIns="0" rIns="0" bIns="0" rtlCol="0" anchor="ctr"/>
          <a:lstStyle/>
          <a:p>
            <a:pPr algn="l" indent="0" marL="0">
              <a:buNone/>
            </a:pPr>
            <a:r>
              <a:rPr lang="en-US" sz="2700" b="1" dirty="0">
                <a:solidFill>
                  <a:srgbClr val="0A2463"/>
                </a:solidFill>
                <a:latin typeface="Klee One" pitchFamily="34" charset="0"/>
                <a:ea typeface="Klee One" pitchFamily="34" charset="-122"/>
                <a:cs typeface="Klee One" pitchFamily="34" charset="-120"/>
              </a:rPr>
              <a:t>定型作業はAIへ、人は価値創出へ</a:t>
            </a:r>
            <a:endParaRPr lang="en-US" sz="2700" dirty="0"/>
          </a:p>
        </p:txBody>
      </p:sp>
      <p:sp>
        <p:nvSpPr>
          <p:cNvPr id="6" name="Shape 4"/>
          <p:cNvSpPr/>
          <p:nvPr/>
        </p:nvSpPr>
        <p:spPr>
          <a:xfrm>
            <a:off x="381305" y="1758391"/>
            <a:ext cx="571500" cy="38405"/>
          </a:xfrm>
          <a:prstGeom prst="rect">
            <a:avLst/>
          </a:prstGeom>
          <a:solidFill>
            <a:srgbClr val="3E92CC"/>
          </a:solidFill>
          <a:ln/>
        </p:spPr>
      </p:sp>
      <p:sp>
        <p:nvSpPr>
          <p:cNvPr id="7" name="Text 5"/>
          <p:cNvSpPr txBox="1"/>
          <p:nvPr/>
        </p:nvSpPr>
        <p:spPr>
          <a:xfrm>
            <a:off x="381305" y="2025396"/>
            <a:ext cx="5438851" cy="4572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新しい協働モデル：AIと人間のそれぞれの強みを活かした新しい業務スタイルを実現します</a:t>
            </a:r>
            <a:endParaRPr lang="en-US" sz="1200" dirty="0"/>
          </a:p>
        </p:txBody>
      </p:sp>
      <p:sp>
        <p:nvSpPr>
          <p:cNvPr id="8" name="Shape 6"/>
          <p:cNvSpPr/>
          <p:nvPr/>
        </p:nvSpPr>
        <p:spPr>
          <a:xfrm>
            <a:off x="381305" y="2634386"/>
            <a:ext cx="5410505" cy="381305"/>
          </a:xfrm>
          <a:prstGeom prst="rect">
            <a:avLst/>
          </a:prstGeom>
          <a:solidFill>
            <a:srgbClr val="3E92CC">
              <a:alpha val="10000"/>
            </a:srgbClr>
          </a:solidFill>
          <a:ln/>
        </p:spPr>
      </p:sp>
      <p:sp>
        <p:nvSpPr>
          <p:cNvPr id="9" name="Shape 7"/>
          <p:cNvSpPr/>
          <p:nvPr/>
        </p:nvSpPr>
        <p:spPr>
          <a:xfrm>
            <a:off x="381305" y="2634386"/>
            <a:ext cx="28346" cy="381305"/>
          </a:xfrm>
          <a:prstGeom prst="rect">
            <a:avLst/>
          </a:prstGeom>
          <a:solidFill>
            <a:srgbClr val="3E92CC"/>
          </a:solidFill>
          <a:ln/>
        </p:spPr>
      </p:sp>
      <p:sp>
        <p:nvSpPr>
          <p:cNvPr id="10" name="Text 8"/>
          <p:cNvSpPr txBox="1"/>
          <p:nvPr/>
        </p:nvSpPr>
        <p:spPr>
          <a:xfrm>
            <a:off x="523951" y="2711196"/>
            <a:ext cx="3934663"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AIの役割： 人の代わりではなく"支える存在"として機能</a:t>
            </a:r>
            <a:endParaRPr lang="en-US" sz="1200" dirty="0"/>
          </a:p>
        </p:txBody>
      </p:sp>
      <p:sp>
        <p:nvSpPr>
          <p:cNvPr id="11" name="Shape 9"/>
          <p:cNvSpPr/>
          <p:nvPr/>
        </p:nvSpPr>
        <p:spPr>
          <a:xfrm>
            <a:off x="381305" y="3168396"/>
            <a:ext cx="5410505" cy="381305"/>
          </a:xfrm>
          <a:prstGeom prst="rect">
            <a:avLst/>
          </a:prstGeom>
          <a:solidFill>
            <a:srgbClr val="3E92CC">
              <a:alpha val="10000"/>
            </a:srgbClr>
          </a:solidFill>
          <a:ln/>
        </p:spPr>
      </p:sp>
      <p:sp>
        <p:nvSpPr>
          <p:cNvPr id="12" name="Shape 10"/>
          <p:cNvSpPr/>
          <p:nvPr/>
        </p:nvSpPr>
        <p:spPr>
          <a:xfrm>
            <a:off x="381305" y="3168396"/>
            <a:ext cx="28346" cy="381305"/>
          </a:xfrm>
          <a:prstGeom prst="rect">
            <a:avLst/>
          </a:prstGeom>
          <a:solidFill>
            <a:srgbClr val="3E92CC"/>
          </a:solidFill>
          <a:ln/>
        </p:spPr>
      </p:sp>
      <p:sp>
        <p:nvSpPr>
          <p:cNvPr id="13" name="Text 11"/>
          <p:cNvSpPr txBox="1"/>
          <p:nvPr/>
        </p:nvSpPr>
        <p:spPr>
          <a:xfrm>
            <a:off x="523951" y="3244291"/>
            <a:ext cx="3952951"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作業分担： 定型作業はAIが担当、判断と提案は人が実施</a:t>
            </a:r>
            <a:endParaRPr lang="en-US" sz="1200" dirty="0"/>
          </a:p>
        </p:txBody>
      </p:sp>
      <p:sp>
        <p:nvSpPr>
          <p:cNvPr id="14" name="Shape 12"/>
          <p:cNvSpPr/>
          <p:nvPr/>
        </p:nvSpPr>
        <p:spPr>
          <a:xfrm>
            <a:off x="381305" y="3701491"/>
            <a:ext cx="5410505" cy="381305"/>
          </a:xfrm>
          <a:prstGeom prst="rect">
            <a:avLst/>
          </a:prstGeom>
          <a:solidFill>
            <a:srgbClr val="3E92CC">
              <a:alpha val="10000"/>
            </a:srgbClr>
          </a:solidFill>
          <a:ln/>
        </p:spPr>
      </p:sp>
      <p:sp>
        <p:nvSpPr>
          <p:cNvPr id="15" name="Shape 13"/>
          <p:cNvSpPr/>
          <p:nvPr/>
        </p:nvSpPr>
        <p:spPr>
          <a:xfrm>
            <a:off x="381305" y="3701491"/>
            <a:ext cx="28346" cy="381305"/>
          </a:xfrm>
          <a:prstGeom prst="rect">
            <a:avLst/>
          </a:prstGeom>
          <a:solidFill>
            <a:srgbClr val="3E92CC"/>
          </a:solidFill>
          <a:ln/>
        </p:spPr>
      </p:sp>
      <p:sp>
        <p:nvSpPr>
          <p:cNvPr id="16" name="Text 14"/>
          <p:cNvSpPr txBox="1"/>
          <p:nvPr/>
        </p:nvSpPr>
        <p:spPr>
          <a:xfrm>
            <a:off x="523951" y="3777386"/>
            <a:ext cx="4258361"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創造性の向上： 人がより創造的な仕事に集中できる環境構築</a:t>
            </a:r>
            <a:endParaRPr lang="en-US" sz="1200" dirty="0"/>
          </a:p>
        </p:txBody>
      </p:sp>
      <p:sp>
        <p:nvSpPr>
          <p:cNvPr id="17" name="Shape 15"/>
          <p:cNvSpPr/>
          <p:nvPr/>
        </p:nvSpPr>
        <p:spPr>
          <a:xfrm>
            <a:off x="381305" y="4234586"/>
            <a:ext cx="5410505" cy="857707"/>
          </a:xfrm>
          <a:prstGeom prst="rect">
            <a:avLst/>
          </a:prstGeom>
          <a:solidFill>
            <a:srgbClr val="3E92CC">
              <a:alpha val="10000"/>
            </a:srgbClr>
          </a:solidFill>
          <a:ln/>
        </p:spPr>
      </p:sp>
      <p:sp>
        <p:nvSpPr>
          <p:cNvPr id="18" name="Shape 16"/>
          <p:cNvSpPr/>
          <p:nvPr/>
        </p:nvSpPr>
        <p:spPr>
          <a:xfrm>
            <a:off x="381305" y="4234586"/>
            <a:ext cx="47549" cy="857707"/>
          </a:xfrm>
          <a:prstGeom prst="rect">
            <a:avLst/>
          </a:prstGeom>
          <a:solidFill>
            <a:srgbClr val="3E92CC"/>
          </a:solidFill>
          <a:ln/>
        </p:spPr>
      </p:sp>
      <p:sp>
        <p:nvSpPr>
          <p:cNvPr id="19" name="Text 17"/>
          <p:cNvSpPr txBox="1"/>
          <p:nvPr/>
        </p:nvSpPr>
        <p:spPr>
          <a:xfrm>
            <a:off x="571500" y="4377233"/>
            <a:ext cx="3762756" cy="277063"/>
          </a:xfrm>
          <a:prstGeom prst="rect">
            <a:avLst/>
          </a:prstGeom>
          <a:noFill/>
          <a:ln/>
        </p:spPr>
        <p:txBody>
          <a:bodyPr wrap="square" lIns="0" tIns="0" rIns="0" bIns="0" rtlCol="0" anchor="ctr"/>
          <a:lstStyle/>
          <a:p>
            <a:pPr algn="l" indent="0" marL="0">
              <a:buNone/>
            </a:pPr>
            <a:r>
              <a:rPr lang="en-US" sz="1500" b="1" dirty="0">
                <a:solidFill>
                  <a:srgbClr val="3E92CC"/>
                </a:solidFill>
                <a:latin typeface="Klee One" pitchFamily="34" charset="0"/>
                <a:ea typeface="Klee One" pitchFamily="34" charset="-122"/>
                <a:cs typeface="Klee One" pitchFamily="34" charset="-120"/>
              </a:rPr>
              <a:t>「AI導入は、人が冷たくなるのではなく、</a:t>
            </a:r>
            <a:endParaRPr lang="en-US" sz="1500" dirty="0"/>
          </a:p>
        </p:txBody>
      </p:sp>
      <p:sp>
        <p:nvSpPr>
          <p:cNvPr id="20" name="Text 18"/>
          <p:cNvSpPr txBox="1"/>
          <p:nvPr/>
        </p:nvSpPr>
        <p:spPr>
          <a:xfrm>
            <a:off x="571500" y="4663440"/>
            <a:ext cx="3963010" cy="277063"/>
          </a:xfrm>
          <a:prstGeom prst="rect">
            <a:avLst/>
          </a:prstGeom>
          <a:noFill/>
          <a:ln/>
        </p:spPr>
        <p:txBody>
          <a:bodyPr wrap="square" lIns="0" tIns="0" rIns="0" bIns="0" rtlCol="0" anchor="ctr"/>
          <a:lstStyle/>
          <a:p>
            <a:pPr algn="l" indent="0" marL="0">
              <a:buNone/>
            </a:pPr>
            <a:r>
              <a:rPr lang="en-US" sz="1500" b="1" dirty="0">
                <a:solidFill>
                  <a:srgbClr val="3E92CC"/>
                </a:solidFill>
                <a:latin typeface="Klee One" pitchFamily="34" charset="0"/>
                <a:ea typeface="Klee One" pitchFamily="34" charset="-122"/>
                <a:cs typeface="Klee One" pitchFamily="34" charset="-120"/>
              </a:rPr>
              <a:t>人がより人らしく働ける環境をつくります」</a:t>
            </a:r>
            <a:endParaRPr lang="en-US" sz="1500" dirty="0"/>
          </a:p>
        </p:txBody>
      </p:sp>
      <p:sp>
        <p:nvSpPr>
          <p:cNvPr id="21" name="Text 19"/>
          <p:cNvSpPr txBox="1"/>
          <p:nvPr/>
        </p:nvSpPr>
        <p:spPr>
          <a:xfrm>
            <a:off x="7818120" y="761695"/>
            <a:ext cx="2448763" cy="333756"/>
          </a:xfrm>
          <a:prstGeom prst="rect">
            <a:avLst/>
          </a:prstGeom>
          <a:noFill/>
          <a:ln/>
        </p:spPr>
        <p:txBody>
          <a:bodyPr wrap="square" lIns="0" tIns="0" rIns="0" bIns="0" rtlCol="0" anchor="ctr"/>
          <a:lstStyle/>
          <a:p>
            <a:pPr algn="ctr" indent="0" marL="0">
              <a:buNone/>
            </a:pPr>
            <a:r>
              <a:rPr lang="en-US" sz="1800" b="1" dirty="0">
                <a:solidFill>
                  <a:srgbClr val="3E92CC"/>
                </a:solidFill>
                <a:latin typeface="Klee One" pitchFamily="34" charset="0"/>
                <a:ea typeface="Klee One" pitchFamily="34" charset="-122"/>
                <a:cs typeface="Klee One" pitchFamily="34" charset="-120"/>
              </a:rPr>
              <a:t>人間とAIの協働モデル</a:t>
            </a:r>
            <a:endParaRPr lang="en-US" sz="1800" dirty="0"/>
          </a:p>
        </p:txBody>
      </p:sp>
      <p:sp>
        <p:nvSpPr>
          <p:cNvPr id="22" name="Shape 20"/>
          <p:cNvSpPr/>
          <p:nvPr/>
        </p:nvSpPr>
        <p:spPr>
          <a:xfrm>
            <a:off x="6096305" y="1257300"/>
            <a:ext cx="2743200" cy="1143000"/>
          </a:xfrm>
          <a:prstGeom prst="rect">
            <a:avLst/>
          </a:prstGeom>
          <a:solidFill>
            <a:srgbClr val="FFFFFF"/>
          </a:solidFill>
          <a:ln w="12700">
            <a:solidFill>
              <a:srgbClr val="3E92CC"/>
            </a:solidFill>
            <a:prstDash val="solid"/>
          </a:ln>
        </p:spPr>
      </p:sp>
      <p:pic>
        <p:nvPicPr>
          <p:cNvPr id="23" name="Image 0" descr="preencoded.png">    </p:cNvPr>
          <p:cNvPicPr>
            <a:picLocks noChangeAspect="1"/>
          </p:cNvPicPr>
          <p:nvPr/>
        </p:nvPicPr>
        <p:blipFill>
          <a:blip r:embed="rId1"/>
          <a:srcRect l="-80" r="-80" t="0" b="0"/>
          <a:stretch/>
        </p:blipFill>
        <p:spPr>
          <a:xfrm>
            <a:off x="7324344" y="1356970"/>
            <a:ext cx="286207" cy="228600"/>
          </a:xfrm>
          <a:prstGeom prst="rect">
            <a:avLst/>
          </a:prstGeom>
        </p:spPr>
      </p:pic>
      <p:sp>
        <p:nvSpPr>
          <p:cNvPr id="24" name="Text 21"/>
          <p:cNvSpPr txBox="1"/>
          <p:nvPr/>
        </p:nvSpPr>
        <p:spPr>
          <a:xfrm>
            <a:off x="6954012" y="1662379"/>
            <a:ext cx="1157630"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Klee One" pitchFamily="34" charset="0"/>
                <a:ea typeface="Klee One" pitchFamily="34" charset="-122"/>
                <a:cs typeface="Klee One" pitchFamily="34" charset="-120"/>
              </a:rPr>
              <a:t>AIの担当領域</a:t>
            </a:r>
            <a:endParaRPr lang="en-US" sz="1300" dirty="0"/>
          </a:p>
        </p:txBody>
      </p:sp>
      <p:sp>
        <p:nvSpPr>
          <p:cNvPr id="25" name="Text 22"/>
          <p:cNvSpPr txBox="1"/>
          <p:nvPr/>
        </p:nvSpPr>
        <p:spPr>
          <a:xfrm>
            <a:off x="7134149" y="1919326"/>
            <a:ext cx="767182"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データ処理</a:t>
            </a:r>
            <a:endParaRPr lang="en-US" sz="1000" dirty="0"/>
          </a:p>
        </p:txBody>
      </p:sp>
      <p:sp>
        <p:nvSpPr>
          <p:cNvPr id="26" name="Text 23"/>
          <p:cNvSpPr txBox="1"/>
          <p:nvPr/>
        </p:nvSpPr>
        <p:spPr>
          <a:xfrm>
            <a:off x="6933895" y="2109521"/>
            <a:ext cx="1167689"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定型作業の自動化</a:t>
            </a:r>
            <a:endParaRPr lang="en-US" sz="1000" dirty="0"/>
          </a:p>
        </p:txBody>
      </p:sp>
      <p:sp>
        <p:nvSpPr>
          <p:cNvPr id="27" name="Shape 24"/>
          <p:cNvSpPr/>
          <p:nvPr/>
        </p:nvSpPr>
        <p:spPr>
          <a:xfrm>
            <a:off x="9068105" y="1257300"/>
            <a:ext cx="2743200" cy="1143000"/>
          </a:xfrm>
          <a:prstGeom prst="rect">
            <a:avLst/>
          </a:prstGeom>
          <a:solidFill>
            <a:srgbClr val="FFFFFF"/>
          </a:solidFill>
          <a:ln w="12700">
            <a:solidFill>
              <a:srgbClr val="3E92CC"/>
            </a:solidFill>
            <a:prstDash val="solid"/>
          </a:ln>
        </p:spPr>
      </p:sp>
      <p:pic>
        <p:nvPicPr>
          <p:cNvPr id="28" name="Image 1" descr="preencoded.png">    </p:cNvPr>
          <p:cNvPicPr>
            <a:picLocks noChangeAspect="1"/>
          </p:cNvPicPr>
          <p:nvPr/>
        </p:nvPicPr>
        <p:blipFill>
          <a:blip r:embed="rId2"/>
          <a:srcRect l="-133" r="-133" t="0" b="0"/>
          <a:stretch/>
        </p:blipFill>
        <p:spPr>
          <a:xfrm>
            <a:off x="10353751" y="1356970"/>
            <a:ext cx="171907" cy="228600"/>
          </a:xfrm>
          <a:prstGeom prst="rect">
            <a:avLst/>
          </a:prstGeom>
        </p:spPr>
      </p:pic>
      <p:sp>
        <p:nvSpPr>
          <p:cNvPr id="29" name="Text 25"/>
          <p:cNvSpPr txBox="1"/>
          <p:nvPr/>
        </p:nvSpPr>
        <p:spPr>
          <a:xfrm>
            <a:off x="9838944" y="1662379"/>
            <a:ext cx="1329538"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Klee One" pitchFamily="34" charset="0"/>
                <a:ea typeface="Klee One" pitchFamily="34" charset="-122"/>
                <a:cs typeface="Klee One" pitchFamily="34" charset="-120"/>
              </a:rPr>
              <a:t>人間の担当領域</a:t>
            </a:r>
            <a:endParaRPr lang="en-US" sz="1300" dirty="0"/>
          </a:p>
        </p:txBody>
      </p:sp>
      <p:sp>
        <p:nvSpPr>
          <p:cNvPr id="30" name="Text 26"/>
          <p:cNvSpPr txBox="1"/>
          <p:nvPr/>
        </p:nvSpPr>
        <p:spPr>
          <a:xfrm>
            <a:off x="10239451" y="1919326"/>
            <a:ext cx="500177"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創造性</a:t>
            </a:r>
            <a:endParaRPr lang="en-US" sz="1000" dirty="0"/>
          </a:p>
        </p:txBody>
      </p:sp>
      <p:sp>
        <p:nvSpPr>
          <p:cNvPr id="31" name="Text 27"/>
          <p:cNvSpPr txBox="1"/>
          <p:nvPr/>
        </p:nvSpPr>
        <p:spPr>
          <a:xfrm>
            <a:off x="9972446" y="2109521"/>
            <a:ext cx="1034186"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判断と意思決定</a:t>
            </a:r>
            <a:endParaRPr lang="en-US" sz="1000" dirty="0"/>
          </a:p>
        </p:txBody>
      </p:sp>
      <p:sp>
        <p:nvSpPr>
          <p:cNvPr id="32" name="Shape 28"/>
          <p:cNvSpPr/>
          <p:nvPr/>
        </p:nvSpPr>
        <p:spPr>
          <a:xfrm>
            <a:off x="6096305" y="2476195"/>
            <a:ext cx="2743200" cy="1143000"/>
          </a:xfrm>
          <a:prstGeom prst="rect">
            <a:avLst/>
          </a:prstGeom>
          <a:solidFill>
            <a:srgbClr val="FFFFFF"/>
          </a:solidFill>
          <a:ln w="12700">
            <a:solidFill>
              <a:srgbClr val="3E92CC"/>
            </a:solidFill>
            <a:prstDash val="solid"/>
          </a:ln>
        </p:spPr>
      </p:sp>
      <p:pic>
        <p:nvPicPr>
          <p:cNvPr id="33" name="Image 2" descr="preencoded.png">    </p:cNvPr>
          <p:cNvPicPr>
            <a:picLocks noChangeAspect="1"/>
          </p:cNvPicPr>
          <p:nvPr/>
        </p:nvPicPr>
        <p:blipFill>
          <a:blip r:embed="rId3"/>
          <a:srcRect l="-80" r="-80" t="0" b="0"/>
          <a:stretch/>
        </p:blipFill>
        <p:spPr>
          <a:xfrm>
            <a:off x="7324344" y="2576779"/>
            <a:ext cx="286207" cy="228600"/>
          </a:xfrm>
          <a:prstGeom prst="rect">
            <a:avLst/>
          </a:prstGeom>
        </p:spPr>
      </p:pic>
      <p:sp>
        <p:nvSpPr>
          <p:cNvPr id="34" name="Text 29"/>
          <p:cNvSpPr txBox="1"/>
          <p:nvPr/>
        </p:nvSpPr>
        <p:spPr>
          <a:xfrm>
            <a:off x="7125005" y="2881274"/>
            <a:ext cx="814730"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Klee One" pitchFamily="34" charset="0"/>
                <a:ea typeface="Klee One" pitchFamily="34" charset="-122"/>
                <a:cs typeface="Klee One" pitchFamily="34" charset="-120"/>
              </a:rPr>
              <a:t>AIの特性</a:t>
            </a:r>
            <a:endParaRPr lang="en-US" sz="1300" dirty="0"/>
          </a:p>
        </p:txBody>
      </p:sp>
      <p:sp>
        <p:nvSpPr>
          <p:cNvPr id="35" name="Text 30"/>
          <p:cNvSpPr txBox="1"/>
          <p:nvPr/>
        </p:nvSpPr>
        <p:spPr>
          <a:xfrm>
            <a:off x="7126834" y="3138221"/>
            <a:ext cx="786384"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24時間稼働</a:t>
            </a:r>
            <a:endParaRPr lang="en-US" sz="1000" dirty="0"/>
          </a:p>
        </p:txBody>
      </p:sp>
      <p:sp>
        <p:nvSpPr>
          <p:cNvPr id="36" name="Text 31"/>
          <p:cNvSpPr txBox="1"/>
          <p:nvPr/>
        </p:nvSpPr>
        <p:spPr>
          <a:xfrm>
            <a:off x="6801307" y="3329330"/>
            <a:ext cx="1433779"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ミスの少なさ・一貫性</a:t>
            </a:r>
            <a:endParaRPr lang="en-US" sz="1000" dirty="0"/>
          </a:p>
        </p:txBody>
      </p:sp>
      <p:sp>
        <p:nvSpPr>
          <p:cNvPr id="37" name="Shape 32"/>
          <p:cNvSpPr/>
          <p:nvPr/>
        </p:nvSpPr>
        <p:spPr>
          <a:xfrm>
            <a:off x="9068105" y="2476195"/>
            <a:ext cx="2743200" cy="1143000"/>
          </a:xfrm>
          <a:prstGeom prst="rect">
            <a:avLst/>
          </a:prstGeom>
          <a:solidFill>
            <a:srgbClr val="FFFFFF"/>
          </a:solidFill>
          <a:ln w="12700">
            <a:solidFill>
              <a:srgbClr val="3E92CC"/>
            </a:solidFill>
            <a:prstDash val="solid"/>
          </a:ln>
        </p:spPr>
      </p:sp>
      <p:pic>
        <p:nvPicPr>
          <p:cNvPr id="38" name="Image 3" descr="preencoded.png">    </p:cNvPr>
          <p:cNvPicPr>
            <a:picLocks noChangeAspect="1"/>
          </p:cNvPicPr>
          <p:nvPr/>
        </p:nvPicPr>
        <p:blipFill>
          <a:blip r:embed="rId4"/>
          <a:srcRect l="-57" r="-57" t="0" b="0"/>
          <a:stretch/>
        </p:blipFill>
        <p:spPr>
          <a:xfrm>
            <a:off x="10339121" y="2576779"/>
            <a:ext cx="200254" cy="228600"/>
          </a:xfrm>
          <a:prstGeom prst="rect">
            <a:avLst/>
          </a:prstGeom>
        </p:spPr>
      </p:pic>
      <p:sp>
        <p:nvSpPr>
          <p:cNvPr id="39" name="Text 33"/>
          <p:cNvSpPr txBox="1"/>
          <p:nvPr/>
        </p:nvSpPr>
        <p:spPr>
          <a:xfrm>
            <a:off x="10010851" y="2881274"/>
            <a:ext cx="986638"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Klee One" pitchFamily="34" charset="0"/>
                <a:ea typeface="Klee One" pitchFamily="34" charset="-122"/>
                <a:cs typeface="Klee One" pitchFamily="34" charset="-120"/>
              </a:rPr>
              <a:t>人間の特性</a:t>
            </a:r>
            <a:endParaRPr lang="en-US" sz="1300" dirty="0"/>
          </a:p>
        </p:txBody>
      </p:sp>
      <p:sp>
        <p:nvSpPr>
          <p:cNvPr id="40" name="Text 34"/>
          <p:cNvSpPr txBox="1"/>
          <p:nvPr/>
        </p:nvSpPr>
        <p:spPr>
          <a:xfrm>
            <a:off x="10239451" y="3138221"/>
            <a:ext cx="500177"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共感力</a:t>
            </a:r>
            <a:endParaRPr lang="en-US" sz="1000" dirty="0"/>
          </a:p>
        </p:txBody>
      </p:sp>
      <p:sp>
        <p:nvSpPr>
          <p:cNvPr id="41" name="Text 35"/>
          <p:cNvSpPr txBox="1"/>
          <p:nvPr/>
        </p:nvSpPr>
        <p:spPr>
          <a:xfrm>
            <a:off x="9706356" y="3329330"/>
            <a:ext cx="1567282" cy="191110"/>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状況に応じた柔軟な対応</a:t>
            </a:r>
            <a:endParaRPr lang="en-US" sz="1000" dirty="0"/>
          </a:p>
        </p:txBody>
      </p:sp>
      <p:sp>
        <p:nvSpPr>
          <p:cNvPr id="42" name="Text 36"/>
          <p:cNvSpPr txBox="1"/>
          <p:nvPr/>
        </p:nvSpPr>
        <p:spPr>
          <a:xfrm>
            <a:off x="6096305" y="3847795"/>
            <a:ext cx="2229307" cy="333756"/>
          </a:xfrm>
          <a:prstGeom prst="rect">
            <a:avLst/>
          </a:prstGeom>
          <a:noFill/>
          <a:ln/>
        </p:spPr>
        <p:txBody>
          <a:bodyPr wrap="square" lIns="0" tIns="0" rIns="0" bIns="0" rtlCol="0" anchor="ctr"/>
          <a:lstStyle/>
          <a:p>
            <a:pPr algn="l" indent="0" marL="0">
              <a:buNone/>
            </a:pPr>
            <a:r>
              <a:rPr lang="en-US" sz="1800" b="1" dirty="0">
                <a:solidFill>
                  <a:srgbClr val="3E92CC"/>
                </a:solidFill>
                <a:latin typeface="Klee One" pitchFamily="34" charset="0"/>
                <a:ea typeface="Klee One" pitchFamily="34" charset="-122"/>
                <a:cs typeface="Klee One" pitchFamily="34" charset="-120"/>
              </a:rPr>
              <a:t>協働によるメリット</a:t>
            </a:r>
            <a:endParaRPr lang="en-US" sz="1800" dirty="0"/>
          </a:p>
        </p:txBody>
      </p:sp>
      <p:sp>
        <p:nvSpPr>
          <p:cNvPr id="43" name="Shape 37"/>
          <p:cNvSpPr/>
          <p:nvPr/>
        </p:nvSpPr>
        <p:spPr>
          <a:xfrm>
            <a:off x="6096305" y="4343400"/>
            <a:ext cx="5715000" cy="381305"/>
          </a:xfrm>
          <a:prstGeom prst="rect">
            <a:avLst/>
          </a:prstGeom>
          <a:solidFill>
            <a:srgbClr val="3E92CC">
              <a:alpha val="10000"/>
            </a:srgbClr>
          </a:solidFill>
          <a:ln/>
        </p:spPr>
      </p:sp>
      <p:sp>
        <p:nvSpPr>
          <p:cNvPr id="44" name="Shape 38"/>
          <p:cNvSpPr/>
          <p:nvPr/>
        </p:nvSpPr>
        <p:spPr>
          <a:xfrm>
            <a:off x="6096305" y="4343400"/>
            <a:ext cx="28346" cy="381305"/>
          </a:xfrm>
          <a:prstGeom prst="rect">
            <a:avLst/>
          </a:prstGeom>
          <a:solidFill>
            <a:srgbClr val="3E92CC"/>
          </a:solidFill>
          <a:ln/>
        </p:spPr>
      </p:sp>
      <p:sp>
        <p:nvSpPr>
          <p:cNvPr id="45" name="Text 39"/>
          <p:cNvSpPr txBox="1"/>
          <p:nvPr/>
        </p:nvSpPr>
        <p:spPr>
          <a:xfrm>
            <a:off x="6238951" y="4419295"/>
            <a:ext cx="4277563"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業務効率： 作業時間を30%削減し、顧客対応スピードを向上</a:t>
            </a:r>
            <a:endParaRPr lang="en-US" sz="1200" dirty="0"/>
          </a:p>
        </p:txBody>
      </p:sp>
      <p:sp>
        <p:nvSpPr>
          <p:cNvPr id="46" name="Shape 40"/>
          <p:cNvSpPr/>
          <p:nvPr/>
        </p:nvSpPr>
        <p:spPr>
          <a:xfrm>
            <a:off x="6096305" y="4800600"/>
            <a:ext cx="5715000" cy="381305"/>
          </a:xfrm>
          <a:prstGeom prst="rect">
            <a:avLst/>
          </a:prstGeom>
          <a:solidFill>
            <a:srgbClr val="3E92CC">
              <a:alpha val="10000"/>
            </a:srgbClr>
          </a:solidFill>
          <a:ln/>
        </p:spPr>
      </p:sp>
      <p:sp>
        <p:nvSpPr>
          <p:cNvPr id="47" name="Shape 41"/>
          <p:cNvSpPr/>
          <p:nvPr/>
        </p:nvSpPr>
        <p:spPr>
          <a:xfrm>
            <a:off x="6096305" y="4800600"/>
            <a:ext cx="28346" cy="381305"/>
          </a:xfrm>
          <a:prstGeom prst="rect">
            <a:avLst/>
          </a:prstGeom>
          <a:solidFill>
            <a:srgbClr val="3E92CC"/>
          </a:solidFill>
          <a:ln/>
        </p:spPr>
      </p:sp>
      <p:sp>
        <p:nvSpPr>
          <p:cNvPr id="48" name="Text 42"/>
          <p:cNvSpPr txBox="1"/>
          <p:nvPr/>
        </p:nvSpPr>
        <p:spPr>
          <a:xfrm>
            <a:off x="6238951" y="4876495"/>
            <a:ext cx="4582058"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品質向上： ミス率を80%削減し、一定品質のサービス提供を実現</a:t>
            </a:r>
            <a:endParaRPr lang="en-US" sz="1200" dirty="0"/>
          </a:p>
        </p:txBody>
      </p:sp>
      <p:sp>
        <p:nvSpPr>
          <p:cNvPr id="49" name="Shape 43"/>
          <p:cNvSpPr/>
          <p:nvPr/>
        </p:nvSpPr>
        <p:spPr>
          <a:xfrm>
            <a:off x="6096305" y="5257800"/>
            <a:ext cx="5715000" cy="381305"/>
          </a:xfrm>
          <a:prstGeom prst="rect">
            <a:avLst/>
          </a:prstGeom>
          <a:solidFill>
            <a:srgbClr val="3E92CC">
              <a:alpha val="10000"/>
            </a:srgbClr>
          </a:solidFill>
          <a:ln/>
        </p:spPr>
      </p:sp>
      <p:sp>
        <p:nvSpPr>
          <p:cNvPr id="50" name="Shape 44"/>
          <p:cNvSpPr/>
          <p:nvPr/>
        </p:nvSpPr>
        <p:spPr>
          <a:xfrm>
            <a:off x="6096305" y="5257800"/>
            <a:ext cx="28346" cy="381305"/>
          </a:xfrm>
          <a:prstGeom prst="rect">
            <a:avLst/>
          </a:prstGeom>
          <a:solidFill>
            <a:srgbClr val="3E92CC"/>
          </a:solidFill>
          <a:ln/>
        </p:spPr>
      </p:sp>
      <p:sp>
        <p:nvSpPr>
          <p:cNvPr id="51" name="Text 45"/>
          <p:cNvSpPr txBox="1"/>
          <p:nvPr/>
        </p:nvSpPr>
        <p:spPr>
          <a:xfrm>
            <a:off x="6238951" y="5333695"/>
            <a:ext cx="4258361"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価値創出： 人が創造的業務に集中でき、新たな提案力を強化</a:t>
            </a:r>
            <a:endParaRPr lang="en-US" sz="1200" dirty="0"/>
          </a:p>
        </p:txBody>
      </p:sp>
      <p:sp>
        <p:nvSpPr>
          <p:cNvPr id="52" name="Text 46"/>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A2463"/>
                </a:solidFill>
                <a:latin typeface="Noto Sans JP" pitchFamily="34" charset="0"/>
                <a:ea typeface="Noto Sans JP" pitchFamily="34" charset="-122"/>
                <a:cs typeface="Noto Sans JP"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4A90E2">
              <a:alpha val="10000"/>
            </a:srgbClr>
          </a:solidFill>
          <a:ln/>
        </p:spPr>
      </p:sp>
      <p:sp>
        <p:nvSpPr>
          <p:cNvPr id="4" name="Shape 2"/>
          <p:cNvSpPr/>
          <p:nvPr/>
        </p:nvSpPr>
        <p:spPr>
          <a:xfrm>
            <a:off x="952805" y="5429707"/>
            <a:ext cx="1904695" cy="1904695"/>
          </a:xfrm>
          <a:prstGeom prst="rect">
            <a:avLst/>
          </a:prstGeom>
          <a:solidFill>
            <a:srgbClr val="4A90E2">
              <a:alpha val="10000"/>
            </a:srgbClr>
          </a:solidFill>
          <a:ln/>
        </p:spPr>
      </p:sp>
      <p:sp>
        <p:nvSpPr>
          <p:cNvPr id="5" name="Text 3"/>
          <p:cNvSpPr txBox="1"/>
          <p:nvPr/>
        </p:nvSpPr>
        <p:spPr>
          <a:xfrm>
            <a:off x="381305" y="333756"/>
            <a:ext cx="5106010" cy="495605"/>
          </a:xfrm>
          <a:prstGeom prst="rect">
            <a:avLst/>
          </a:prstGeom>
          <a:noFill/>
          <a:ln/>
        </p:spPr>
        <p:txBody>
          <a:bodyPr wrap="square" lIns="0" tIns="0" rIns="0" bIns="0" rtlCol="0" anchor="ctr"/>
          <a:lstStyle/>
          <a:p>
            <a:pPr algn="l" indent="0" marL="0">
              <a:buNone/>
            </a:pPr>
            <a:r>
              <a:rPr lang="en-US" sz="2700" b="1" dirty="0">
                <a:solidFill>
                  <a:srgbClr val="0052CC"/>
                </a:solidFill>
                <a:latin typeface="Noto Sans JP" pitchFamily="34" charset="0"/>
                <a:ea typeface="Noto Sans JP" pitchFamily="34" charset="-122"/>
                <a:cs typeface="Noto Sans JP" pitchFamily="34" charset="-120"/>
              </a:rPr>
              <a:t>BEFORE / AFTER 業務イメージ</a:t>
            </a:r>
            <a:endParaRPr lang="en-US" sz="2700" dirty="0"/>
          </a:p>
        </p:txBody>
      </p:sp>
      <p:sp>
        <p:nvSpPr>
          <p:cNvPr id="6" name="Shape 4"/>
          <p:cNvSpPr/>
          <p:nvPr/>
        </p:nvSpPr>
        <p:spPr>
          <a:xfrm>
            <a:off x="381305" y="907085"/>
            <a:ext cx="571500" cy="38405"/>
          </a:xfrm>
          <a:prstGeom prst="rect">
            <a:avLst/>
          </a:prstGeom>
          <a:solidFill>
            <a:srgbClr val="4A90E2"/>
          </a:solidFill>
          <a:ln/>
        </p:spPr>
      </p:sp>
      <p:sp>
        <p:nvSpPr>
          <p:cNvPr id="7" name="Text 5"/>
          <p:cNvSpPr txBox="1"/>
          <p:nvPr/>
        </p:nvSpPr>
        <p:spPr>
          <a:xfrm>
            <a:off x="381305" y="1173175"/>
            <a:ext cx="5429707" cy="4572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現状の業務課題をAI導入によって解決し、業務効率と品質の両方を向上させることができます。</a:t>
            </a:r>
            <a:endParaRPr lang="en-US" sz="1200" dirty="0"/>
          </a:p>
        </p:txBody>
      </p:sp>
      <p:sp>
        <p:nvSpPr>
          <p:cNvPr id="8" name="Shape 6"/>
          <p:cNvSpPr/>
          <p:nvPr/>
        </p:nvSpPr>
        <p:spPr>
          <a:xfrm>
            <a:off x="381305" y="1821485"/>
            <a:ext cx="5410505" cy="1600200"/>
          </a:xfrm>
          <a:prstGeom prst="rect">
            <a:avLst/>
          </a:prstGeom>
          <a:solidFill>
            <a:srgbClr val="E3F2FD">
              <a:alpha val="50000"/>
            </a:srgbClr>
          </a:solidFill>
          <a:ln/>
        </p:spPr>
      </p:sp>
      <p:sp>
        <p:nvSpPr>
          <p:cNvPr id="9" name="Shape 7"/>
          <p:cNvSpPr/>
          <p:nvPr/>
        </p:nvSpPr>
        <p:spPr>
          <a:xfrm>
            <a:off x="381305" y="1821485"/>
            <a:ext cx="28346" cy="1600200"/>
          </a:xfrm>
          <a:prstGeom prst="rect">
            <a:avLst/>
          </a:prstGeom>
          <a:solidFill>
            <a:srgbClr val="4A90E2"/>
          </a:solidFill>
          <a:ln/>
        </p:spPr>
      </p:sp>
      <p:sp>
        <p:nvSpPr>
          <p:cNvPr id="10" name="Text 8"/>
          <p:cNvSpPr txBox="1"/>
          <p:nvPr/>
        </p:nvSpPr>
        <p:spPr>
          <a:xfrm>
            <a:off x="523951" y="1897380"/>
            <a:ext cx="2105863"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【Before】手作業中心の業務</a:t>
            </a:r>
            <a:endParaRPr lang="en-US" sz="1200" dirty="0"/>
          </a:p>
        </p:txBody>
      </p:sp>
      <p:sp>
        <p:nvSpPr>
          <p:cNvPr id="11" name="Text 9"/>
          <p:cNvSpPr txBox="1"/>
          <p:nvPr/>
        </p:nvSpPr>
        <p:spPr>
          <a:xfrm>
            <a:off x="752551" y="2201875"/>
            <a:ext cx="3324758"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担当者の作業負荷が大きく、時間と労力を消費</a:t>
            </a:r>
            <a:endParaRPr lang="en-US" sz="1200" dirty="0"/>
          </a:p>
        </p:txBody>
      </p:sp>
      <p:sp>
        <p:nvSpPr>
          <p:cNvPr id="12" name="Text 10"/>
          <p:cNvSpPr txBox="1"/>
          <p:nvPr/>
        </p:nvSpPr>
        <p:spPr>
          <a:xfrm>
            <a:off x="752551" y="2507285"/>
            <a:ext cx="2410358"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人的ミスの発生リスクが常に存在</a:t>
            </a:r>
            <a:endParaRPr lang="en-US" sz="1200" dirty="0"/>
          </a:p>
        </p:txBody>
      </p:sp>
      <p:sp>
        <p:nvSpPr>
          <p:cNvPr id="13" name="Text 11"/>
          <p:cNvSpPr txBox="1"/>
          <p:nvPr/>
        </p:nvSpPr>
        <p:spPr>
          <a:xfrm>
            <a:off x="752551" y="2811780"/>
            <a:ext cx="2705710"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納期遅延が発生しやすい不安定な状態</a:t>
            </a:r>
            <a:endParaRPr lang="en-US" sz="1200" dirty="0"/>
          </a:p>
        </p:txBody>
      </p:sp>
      <p:sp>
        <p:nvSpPr>
          <p:cNvPr id="14" name="Text 12"/>
          <p:cNvSpPr txBox="1"/>
          <p:nvPr/>
        </p:nvSpPr>
        <p:spPr>
          <a:xfrm>
            <a:off x="752551" y="3116275"/>
            <a:ext cx="3305556"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担当者の経験・スキルによって品質にバラつき</a:t>
            </a:r>
            <a:endParaRPr lang="en-US" sz="1200" dirty="0"/>
          </a:p>
        </p:txBody>
      </p:sp>
      <p:sp>
        <p:nvSpPr>
          <p:cNvPr id="15" name="Shape 13"/>
          <p:cNvSpPr/>
          <p:nvPr/>
        </p:nvSpPr>
        <p:spPr>
          <a:xfrm>
            <a:off x="381305" y="3573475"/>
            <a:ext cx="5410505" cy="1600200"/>
          </a:xfrm>
          <a:prstGeom prst="rect">
            <a:avLst/>
          </a:prstGeom>
          <a:solidFill>
            <a:srgbClr val="E3F2FD">
              <a:alpha val="50000"/>
            </a:srgbClr>
          </a:solidFill>
          <a:ln/>
        </p:spPr>
      </p:sp>
      <p:sp>
        <p:nvSpPr>
          <p:cNvPr id="16" name="Shape 14"/>
          <p:cNvSpPr/>
          <p:nvPr/>
        </p:nvSpPr>
        <p:spPr>
          <a:xfrm>
            <a:off x="381305" y="3573475"/>
            <a:ext cx="28346" cy="1600200"/>
          </a:xfrm>
          <a:prstGeom prst="rect">
            <a:avLst/>
          </a:prstGeom>
          <a:solidFill>
            <a:srgbClr val="4A90E2"/>
          </a:solidFill>
          <a:ln/>
        </p:spPr>
      </p:sp>
      <p:sp>
        <p:nvSpPr>
          <p:cNvPr id="17" name="Text 15"/>
          <p:cNvSpPr txBox="1"/>
          <p:nvPr/>
        </p:nvSpPr>
        <p:spPr>
          <a:xfrm>
            <a:off x="523951" y="3650285"/>
            <a:ext cx="2267712"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【After】AI支援による業務改革</a:t>
            </a:r>
            <a:endParaRPr lang="en-US" sz="1200" dirty="0"/>
          </a:p>
        </p:txBody>
      </p:sp>
      <p:sp>
        <p:nvSpPr>
          <p:cNvPr id="18" name="Text 16"/>
          <p:cNvSpPr txBox="1"/>
          <p:nvPr/>
        </p:nvSpPr>
        <p:spPr>
          <a:xfrm>
            <a:off x="752551" y="3954780"/>
            <a:ext cx="2238451"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AIが定型的処理を自動的に実行</a:t>
            </a:r>
            <a:endParaRPr lang="en-US" sz="1200" dirty="0"/>
          </a:p>
        </p:txBody>
      </p:sp>
      <p:sp>
        <p:nvSpPr>
          <p:cNvPr id="19" name="Text 17"/>
          <p:cNvSpPr txBox="1"/>
          <p:nvPr/>
        </p:nvSpPr>
        <p:spPr>
          <a:xfrm>
            <a:off x="752551" y="4259275"/>
            <a:ext cx="3172054"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担当者は本質的な判断と提案業務に集中可能</a:t>
            </a:r>
            <a:endParaRPr lang="en-US" sz="1200" dirty="0"/>
          </a:p>
        </p:txBody>
      </p:sp>
      <p:sp>
        <p:nvSpPr>
          <p:cNvPr id="20" name="Text 18"/>
          <p:cNvSpPr txBox="1"/>
          <p:nvPr/>
        </p:nvSpPr>
        <p:spPr>
          <a:xfrm>
            <a:off x="752551" y="4564685"/>
            <a:ext cx="2257654"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処理速度・品質・コストが安定</a:t>
            </a:r>
            <a:endParaRPr lang="en-US" sz="1200" dirty="0"/>
          </a:p>
        </p:txBody>
      </p:sp>
      <p:sp>
        <p:nvSpPr>
          <p:cNvPr id="21" name="Text 19"/>
          <p:cNvSpPr txBox="1"/>
          <p:nvPr/>
        </p:nvSpPr>
        <p:spPr>
          <a:xfrm>
            <a:off x="752551" y="4869180"/>
            <a:ext cx="2419502"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24時間稼働で業務の連続性を確保</a:t>
            </a:r>
            <a:endParaRPr lang="en-US" sz="1200" dirty="0"/>
          </a:p>
        </p:txBody>
      </p:sp>
      <p:sp>
        <p:nvSpPr>
          <p:cNvPr id="22" name="Text 20"/>
          <p:cNvSpPr txBox="1"/>
          <p:nvPr/>
        </p:nvSpPr>
        <p:spPr>
          <a:xfrm>
            <a:off x="381305" y="5326380"/>
            <a:ext cx="5296205"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結果：お客様への価値提供が向上し、社内リソースの有効活用も実現します</a:t>
            </a:r>
            <a:endParaRPr lang="en-US" sz="1200" dirty="0"/>
          </a:p>
        </p:txBody>
      </p:sp>
      <p:sp>
        <p:nvSpPr>
          <p:cNvPr id="23" name="Shape 21"/>
          <p:cNvSpPr/>
          <p:nvPr/>
        </p:nvSpPr>
        <p:spPr>
          <a:xfrm>
            <a:off x="6096305" y="682142"/>
            <a:ext cx="5715000" cy="1800454"/>
          </a:xfrm>
          <a:prstGeom prst="roundRect">
            <a:avLst>
              <a:gd name="adj" fmla="val 2150"/>
            </a:avLst>
          </a:prstGeom>
          <a:solidFill>
            <a:srgbClr val="E3F2FD">
              <a:alpha val="80000"/>
            </a:srgbClr>
          </a:solidFill>
          <a:ln w="12700">
            <a:solidFill>
              <a:srgbClr val="4A90E2">
                <a:alpha val="30000"/>
              </a:srgbClr>
            </a:solidFill>
            <a:prstDash val="solid"/>
          </a:ln>
        </p:spPr>
      </p:sp>
      <p:pic>
        <p:nvPicPr>
          <p:cNvPr id="24" name="Image 0" descr="preencoded.png">    </p:cNvPr>
          <p:cNvPicPr>
            <a:picLocks noChangeAspect="1"/>
          </p:cNvPicPr>
          <p:nvPr/>
        </p:nvPicPr>
        <p:blipFill>
          <a:blip r:embed="rId1"/>
          <a:srcRect l="0" r="0" t="0" b="0"/>
          <a:stretch/>
        </p:blipFill>
        <p:spPr>
          <a:xfrm>
            <a:off x="6258154" y="843991"/>
            <a:ext cx="267005" cy="267005"/>
          </a:xfrm>
          <a:prstGeom prst="rect">
            <a:avLst/>
          </a:prstGeom>
        </p:spPr>
      </p:pic>
      <p:sp>
        <p:nvSpPr>
          <p:cNvPr id="25" name="Text 22"/>
          <p:cNvSpPr txBox="1"/>
          <p:nvPr/>
        </p:nvSpPr>
        <p:spPr>
          <a:xfrm>
            <a:off x="6601054" y="857707"/>
            <a:ext cx="2857500" cy="277063"/>
          </a:xfrm>
          <a:prstGeom prst="rect">
            <a:avLst/>
          </a:prstGeom>
          <a:noFill/>
          <a:ln/>
        </p:spPr>
        <p:txBody>
          <a:bodyPr wrap="square" lIns="0" tIns="0" rIns="0" bIns="0" rtlCol="0" anchor="ctr"/>
          <a:lstStyle/>
          <a:p>
            <a:pPr algn="l" indent="0" marL="0">
              <a:buNone/>
            </a:pPr>
            <a:r>
              <a:rPr lang="en-US" sz="1500" b="1" dirty="0">
                <a:solidFill>
                  <a:srgbClr val="0052CC"/>
                </a:solidFill>
                <a:latin typeface="Noto Sans JP" pitchFamily="34" charset="0"/>
                <a:ea typeface="Noto Sans JP" pitchFamily="34" charset="-122"/>
                <a:cs typeface="Noto Sans JP" pitchFamily="34" charset="-120"/>
              </a:rPr>
              <a:t>Before：手作業による業務処理</a:t>
            </a:r>
            <a:endParaRPr lang="en-US" sz="1500" dirty="0"/>
          </a:p>
        </p:txBody>
      </p:sp>
      <p:pic>
        <p:nvPicPr>
          <p:cNvPr id="26" name="Image 1" descr="preencoded.png">    </p:cNvPr>
          <p:cNvPicPr>
            <a:picLocks noChangeAspect="1"/>
          </p:cNvPicPr>
          <p:nvPr/>
        </p:nvPicPr>
        <p:blipFill>
          <a:blip r:embed="rId2"/>
          <a:srcRect l="-50" r="-50" t="0" b="0"/>
          <a:stretch/>
        </p:blipFill>
        <p:spPr>
          <a:xfrm>
            <a:off x="6682435" y="1239012"/>
            <a:ext cx="228600" cy="304495"/>
          </a:xfrm>
          <a:prstGeom prst="rect">
            <a:avLst/>
          </a:prstGeom>
        </p:spPr>
      </p:pic>
      <p:sp>
        <p:nvSpPr>
          <p:cNvPr id="27" name="Text 23"/>
          <p:cNvSpPr txBox="1"/>
          <p:nvPr/>
        </p:nvSpPr>
        <p:spPr>
          <a:xfrm>
            <a:off x="6530645" y="1591970"/>
            <a:ext cx="633679"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業務依頼</a:t>
            </a:r>
            <a:endParaRPr lang="en-US" sz="1000" dirty="0"/>
          </a:p>
        </p:txBody>
      </p:sp>
      <p:pic>
        <p:nvPicPr>
          <p:cNvPr id="28" name="Image 2" descr="preencoded.png">    </p:cNvPr>
          <p:cNvPicPr>
            <a:picLocks noChangeAspect="1"/>
          </p:cNvPicPr>
          <p:nvPr/>
        </p:nvPicPr>
        <p:blipFill>
          <a:blip r:embed="rId3"/>
          <a:srcRect l="-57" r="-57" t="0" b="0"/>
          <a:stretch/>
        </p:blipFill>
        <p:spPr>
          <a:xfrm>
            <a:off x="7415784" y="1387145"/>
            <a:ext cx="200254" cy="228600"/>
          </a:xfrm>
          <a:prstGeom prst="rect">
            <a:avLst/>
          </a:prstGeom>
        </p:spPr>
      </p:pic>
      <p:pic>
        <p:nvPicPr>
          <p:cNvPr id="29" name="Image 3" descr="preencoded.png">    </p:cNvPr>
          <p:cNvPicPr>
            <a:picLocks noChangeAspect="1"/>
          </p:cNvPicPr>
          <p:nvPr/>
        </p:nvPicPr>
        <p:blipFill>
          <a:blip r:embed="rId4"/>
          <a:srcRect l="-90" r="-90" t="0" b="0"/>
          <a:stretch/>
        </p:blipFill>
        <p:spPr>
          <a:xfrm>
            <a:off x="8043977" y="1239012"/>
            <a:ext cx="381305" cy="304495"/>
          </a:xfrm>
          <a:prstGeom prst="rect">
            <a:avLst/>
          </a:prstGeom>
        </p:spPr>
      </p:pic>
      <p:sp>
        <p:nvSpPr>
          <p:cNvPr id="30" name="Text 24"/>
          <p:cNvSpPr txBox="1"/>
          <p:nvPr/>
        </p:nvSpPr>
        <p:spPr>
          <a:xfrm>
            <a:off x="7901330" y="1591970"/>
            <a:ext cx="767182"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手作業処理</a:t>
            </a:r>
            <a:endParaRPr lang="en-US" sz="1000" dirty="0"/>
          </a:p>
        </p:txBody>
      </p:sp>
      <p:pic>
        <p:nvPicPr>
          <p:cNvPr id="31" name="Image 4" descr="preencoded.png">    </p:cNvPr>
          <p:cNvPicPr>
            <a:picLocks noChangeAspect="1"/>
          </p:cNvPicPr>
          <p:nvPr/>
        </p:nvPicPr>
        <p:blipFill>
          <a:blip r:embed="rId5"/>
          <a:srcRect l="-57" r="-57" t="0" b="0"/>
          <a:stretch/>
        </p:blipFill>
        <p:spPr>
          <a:xfrm>
            <a:off x="8853221" y="1387145"/>
            <a:ext cx="200254" cy="228600"/>
          </a:xfrm>
          <a:prstGeom prst="rect">
            <a:avLst/>
          </a:prstGeom>
        </p:spPr>
      </p:pic>
      <p:pic>
        <p:nvPicPr>
          <p:cNvPr id="32" name="Image 5" descr="preencoded.png">    </p:cNvPr>
          <p:cNvPicPr>
            <a:picLocks noChangeAspect="1"/>
          </p:cNvPicPr>
          <p:nvPr/>
        </p:nvPicPr>
        <p:blipFill>
          <a:blip r:embed="rId6"/>
          <a:srcRect l="0" r="0" t="0" b="0"/>
          <a:stretch/>
        </p:blipFill>
        <p:spPr>
          <a:xfrm>
            <a:off x="9519818" y="1239012"/>
            <a:ext cx="304495" cy="304495"/>
          </a:xfrm>
          <a:prstGeom prst="rect">
            <a:avLst/>
          </a:prstGeom>
        </p:spPr>
      </p:pic>
      <p:sp>
        <p:nvSpPr>
          <p:cNvPr id="33" name="Text 25"/>
          <p:cNvSpPr txBox="1"/>
          <p:nvPr/>
        </p:nvSpPr>
        <p:spPr>
          <a:xfrm>
            <a:off x="9405518" y="1591970"/>
            <a:ext cx="633679"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人手確認</a:t>
            </a:r>
            <a:endParaRPr lang="en-US" sz="1000" dirty="0"/>
          </a:p>
        </p:txBody>
      </p:sp>
      <p:pic>
        <p:nvPicPr>
          <p:cNvPr id="34" name="Image 6" descr="preencoded.png">    </p:cNvPr>
          <p:cNvPicPr>
            <a:picLocks noChangeAspect="1"/>
          </p:cNvPicPr>
          <p:nvPr/>
        </p:nvPicPr>
        <p:blipFill>
          <a:blip r:embed="rId7"/>
          <a:srcRect l="-57" r="-57" t="0" b="0"/>
          <a:stretch/>
        </p:blipFill>
        <p:spPr>
          <a:xfrm>
            <a:off x="10291572" y="1387145"/>
            <a:ext cx="200254" cy="228600"/>
          </a:xfrm>
          <a:prstGeom prst="rect">
            <a:avLst/>
          </a:prstGeom>
        </p:spPr>
      </p:pic>
      <p:pic>
        <p:nvPicPr>
          <p:cNvPr id="35" name="Image 7" descr="preencoded.png">    </p:cNvPr>
          <p:cNvPicPr>
            <a:picLocks noChangeAspect="1"/>
          </p:cNvPicPr>
          <p:nvPr/>
        </p:nvPicPr>
        <p:blipFill>
          <a:blip r:embed="rId8"/>
          <a:srcRect l="0" r="0" t="0" b="0"/>
          <a:stretch/>
        </p:blipFill>
        <p:spPr>
          <a:xfrm>
            <a:off x="10957255" y="1239012"/>
            <a:ext cx="304495" cy="304495"/>
          </a:xfrm>
          <a:prstGeom prst="rect">
            <a:avLst/>
          </a:prstGeom>
        </p:spPr>
      </p:pic>
      <p:sp>
        <p:nvSpPr>
          <p:cNvPr id="36" name="Text 26"/>
          <p:cNvSpPr txBox="1"/>
          <p:nvPr/>
        </p:nvSpPr>
        <p:spPr>
          <a:xfrm>
            <a:off x="10976458" y="1591970"/>
            <a:ext cx="367589"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完了</a:t>
            </a:r>
            <a:endParaRPr lang="en-US" sz="1000" dirty="0"/>
          </a:p>
        </p:txBody>
      </p:sp>
      <p:sp>
        <p:nvSpPr>
          <p:cNvPr id="37" name="Shape 27"/>
          <p:cNvSpPr/>
          <p:nvPr/>
        </p:nvSpPr>
        <p:spPr>
          <a:xfrm>
            <a:off x="6258154" y="1896466"/>
            <a:ext cx="5391302" cy="418795"/>
          </a:xfrm>
          <a:prstGeom prst="roundRect">
            <a:avLst>
              <a:gd name="adj" fmla="val 29774"/>
            </a:avLst>
          </a:prstGeom>
          <a:solidFill>
            <a:srgbClr val="E3F2FD"/>
          </a:solidFill>
          <a:ln/>
        </p:spPr>
      </p:sp>
      <p:sp>
        <p:nvSpPr>
          <p:cNvPr id="38" name="Text 28"/>
          <p:cNvSpPr txBox="1"/>
          <p:nvPr/>
        </p:nvSpPr>
        <p:spPr>
          <a:xfrm>
            <a:off x="7306056" y="2010766"/>
            <a:ext cx="3396082"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所要時間：平均3日 / 品質：担当者依存 / ミス率：約8%</a:t>
            </a:r>
            <a:endParaRPr lang="en-US" sz="1000" dirty="0"/>
          </a:p>
        </p:txBody>
      </p:sp>
      <p:sp>
        <p:nvSpPr>
          <p:cNvPr id="39" name="Shape 29"/>
          <p:cNvSpPr/>
          <p:nvPr/>
        </p:nvSpPr>
        <p:spPr>
          <a:xfrm>
            <a:off x="6096305" y="2782519"/>
            <a:ext cx="5715000" cy="1800454"/>
          </a:xfrm>
          <a:prstGeom prst="roundRect">
            <a:avLst>
              <a:gd name="adj" fmla="val 2150"/>
            </a:avLst>
          </a:prstGeom>
          <a:solidFill>
            <a:srgbClr val="E3F2FD">
              <a:alpha val="80000"/>
            </a:srgbClr>
          </a:solidFill>
          <a:ln w="12700">
            <a:solidFill>
              <a:srgbClr val="4A90E2">
                <a:alpha val="30000"/>
              </a:srgbClr>
            </a:solidFill>
            <a:prstDash val="solid"/>
          </a:ln>
        </p:spPr>
      </p:sp>
      <p:pic>
        <p:nvPicPr>
          <p:cNvPr id="40" name="Image 8" descr="preencoded.png">    </p:cNvPr>
          <p:cNvPicPr>
            <a:picLocks noChangeAspect="1"/>
          </p:cNvPicPr>
          <p:nvPr/>
        </p:nvPicPr>
        <p:blipFill>
          <a:blip r:embed="rId9"/>
          <a:srcRect l="0" r="0" t="0" b="0"/>
          <a:stretch/>
        </p:blipFill>
        <p:spPr>
          <a:xfrm>
            <a:off x="6258154" y="2944368"/>
            <a:ext cx="333756" cy="267005"/>
          </a:xfrm>
          <a:prstGeom prst="rect">
            <a:avLst/>
          </a:prstGeom>
        </p:spPr>
      </p:pic>
      <p:sp>
        <p:nvSpPr>
          <p:cNvPr id="41" name="Text 30"/>
          <p:cNvSpPr txBox="1"/>
          <p:nvPr/>
        </p:nvSpPr>
        <p:spPr>
          <a:xfrm>
            <a:off x="6667805" y="2958084"/>
            <a:ext cx="2695651" cy="277063"/>
          </a:xfrm>
          <a:prstGeom prst="rect">
            <a:avLst/>
          </a:prstGeom>
          <a:noFill/>
          <a:ln/>
        </p:spPr>
        <p:txBody>
          <a:bodyPr wrap="square" lIns="0" tIns="0" rIns="0" bIns="0" rtlCol="0" anchor="ctr"/>
          <a:lstStyle/>
          <a:p>
            <a:pPr algn="l" indent="0" marL="0">
              <a:buNone/>
            </a:pPr>
            <a:r>
              <a:rPr lang="en-US" sz="1500" b="1" dirty="0">
                <a:solidFill>
                  <a:srgbClr val="0052CC"/>
                </a:solidFill>
                <a:latin typeface="Noto Sans JP" pitchFamily="34" charset="0"/>
                <a:ea typeface="Noto Sans JP" pitchFamily="34" charset="-122"/>
                <a:cs typeface="Noto Sans JP" pitchFamily="34" charset="-120"/>
              </a:rPr>
              <a:t>After：AI支援による業務処理</a:t>
            </a:r>
            <a:endParaRPr lang="en-US" sz="1500" dirty="0"/>
          </a:p>
        </p:txBody>
      </p:sp>
      <p:pic>
        <p:nvPicPr>
          <p:cNvPr id="42" name="Image 9" descr="preencoded.png">    </p:cNvPr>
          <p:cNvPicPr>
            <a:picLocks noChangeAspect="1"/>
          </p:cNvPicPr>
          <p:nvPr/>
        </p:nvPicPr>
        <p:blipFill>
          <a:blip r:embed="rId10"/>
          <a:srcRect l="-50" r="-50" t="0" b="0"/>
          <a:stretch/>
        </p:blipFill>
        <p:spPr>
          <a:xfrm>
            <a:off x="6682435" y="3339389"/>
            <a:ext cx="228600" cy="304495"/>
          </a:xfrm>
          <a:prstGeom prst="rect">
            <a:avLst/>
          </a:prstGeom>
        </p:spPr>
      </p:pic>
      <p:sp>
        <p:nvSpPr>
          <p:cNvPr id="43" name="Text 31"/>
          <p:cNvSpPr txBox="1"/>
          <p:nvPr/>
        </p:nvSpPr>
        <p:spPr>
          <a:xfrm>
            <a:off x="6530645" y="3691433"/>
            <a:ext cx="633679"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業務依頼</a:t>
            </a:r>
            <a:endParaRPr lang="en-US" sz="1000" dirty="0"/>
          </a:p>
        </p:txBody>
      </p:sp>
      <p:pic>
        <p:nvPicPr>
          <p:cNvPr id="44" name="Image 10" descr="preencoded.png">    </p:cNvPr>
          <p:cNvPicPr>
            <a:picLocks noChangeAspect="1"/>
          </p:cNvPicPr>
          <p:nvPr/>
        </p:nvPicPr>
        <p:blipFill>
          <a:blip r:embed="rId11"/>
          <a:srcRect l="-57" r="-57" t="0" b="0"/>
          <a:stretch/>
        </p:blipFill>
        <p:spPr>
          <a:xfrm>
            <a:off x="7415784" y="3486607"/>
            <a:ext cx="200254" cy="228600"/>
          </a:xfrm>
          <a:prstGeom prst="rect">
            <a:avLst/>
          </a:prstGeom>
        </p:spPr>
      </p:pic>
      <p:pic>
        <p:nvPicPr>
          <p:cNvPr id="45" name="Image 11" descr="preencoded.png">    </p:cNvPr>
          <p:cNvPicPr>
            <a:picLocks noChangeAspect="1"/>
          </p:cNvPicPr>
          <p:nvPr/>
        </p:nvPicPr>
        <p:blipFill>
          <a:blip r:embed="rId12"/>
          <a:srcRect l="-90" r="-90" t="0" b="0"/>
          <a:stretch/>
        </p:blipFill>
        <p:spPr>
          <a:xfrm>
            <a:off x="8043977" y="3339389"/>
            <a:ext cx="381305" cy="304495"/>
          </a:xfrm>
          <a:prstGeom prst="rect">
            <a:avLst/>
          </a:prstGeom>
        </p:spPr>
      </p:pic>
      <p:sp>
        <p:nvSpPr>
          <p:cNvPr id="46" name="Text 32"/>
          <p:cNvSpPr txBox="1"/>
          <p:nvPr/>
        </p:nvSpPr>
        <p:spPr>
          <a:xfrm>
            <a:off x="8041234" y="3691433"/>
            <a:ext cx="491033"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AI処理</a:t>
            </a:r>
            <a:endParaRPr lang="en-US" sz="1000" dirty="0"/>
          </a:p>
        </p:txBody>
      </p:sp>
      <p:pic>
        <p:nvPicPr>
          <p:cNvPr id="47" name="Image 12" descr="preencoded.png">    </p:cNvPr>
          <p:cNvPicPr>
            <a:picLocks noChangeAspect="1"/>
          </p:cNvPicPr>
          <p:nvPr/>
        </p:nvPicPr>
        <p:blipFill>
          <a:blip r:embed="rId13"/>
          <a:srcRect l="-57" r="-57" t="0" b="0"/>
          <a:stretch/>
        </p:blipFill>
        <p:spPr>
          <a:xfrm>
            <a:off x="8853221" y="3486607"/>
            <a:ext cx="200254" cy="228600"/>
          </a:xfrm>
          <a:prstGeom prst="rect">
            <a:avLst/>
          </a:prstGeom>
        </p:spPr>
      </p:pic>
      <p:pic>
        <p:nvPicPr>
          <p:cNvPr id="48" name="Image 13" descr="preencoded.png">    </p:cNvPr>
          <p:cNvPicPr>
            <a:picLocks noChangeAspect="1"/>
          </p:cNvPicPr>
          <p:nvPr/>
        </p:nvPicPr>
        <p:blipFill>
          <a:blip r:embed="rId14"/>
          <a:srcRect l="-90" r="-90" t="0" b="0"/>
          <a:stretch/>
        </p:blipFill>
        <p:spPr>
          <a:xfrm>
            <a:off x="9481414" y="3339389"/>
            <a:ext cx="381305" cy="304495"/>
          </a:xfrm>
          <a:prstGeom prst="rect">
            <a:avLst/>
          </a:prstGeom>
        </p:spPr>
      </p:pic>
      <p:sp>
        <p:nvSpPr>
          <p:cNvPr id="49" name="Text 33"/>
          <p:cNvSpPr txBox="1"/>
          <p:nvPr/>
        </p:nvSpPr>
        <p:spPr>
          <a:xfrm>
            <a:off x="9272016" y="3691433"/>
            <a:ext cx="900684"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人の最終確認</a:t>
            </a:r>
            <a:endParaRPr lang="en-US" sz="1000" dirty="0"/>
          </a:p>
        </p:txBody>
      </p:sp>
      <p:pic>
        <p:nvPicPr>
          <p:cNvPr id="50" name="Image 14" descr="preencoded.png">    </p:cNvPr>
          <p:cNvPicPr>
            <a:picLocks noChangeAspect="1"/>
          </p:cNvPicPr>
          <p:nvPr/>
        </p:nvPicPr>
        <p:blipFill>
          <a:blip r:embed="rId15"/>
          <a:srcRect l="-57" r="-57" t="0" b="0"/>
          <a:stretch/>
        </p:blipFill>
        <p:spPr>
          <a:xfrm>
            <a:off x="10291572" y="3486607"/>
            <a:ext cx="200254" cy="228600"/>
          </a:xfrm>
          <a:prstGeom prst="rect">
            <a:avLst/>
          </a:prstGeom>
        </p:spPr>
      </p:pic>
      <p:pic>
        <p:nvPicPr>
          <p:cNvPr id="51" name="Image 15" descr="preencoded.png">    </p:cNvPr>
          <p:cNvPicPr>
            <a:picLocks noChangeAspect="1"/>
          </p:cNvPicPr>
          <p:nvPr/>
        </p:nvPicPr>
        <p:blipFill>
          <a:blip r:embed="rId16"/>
          <a:srcRect l="0" r="0" t="0" b="0"/>
          <a:stretch/>
        </p:blipFill>
        <p:spPr>
          <a:xfrm>
            <a:off x="10957255" y="3339389"/>
            <a:ext cx="304495" cy="304495"/>
          </a:xfrm>
          <a:prstGeom prst="rect">
            <a:avLst/>
          </a:prstGeom>
        </p:spPr>
      </p:pic>
      <p:sp>
        <p:nvSpPr>
          <p:cNvPr id="52" name="Text 34"/>
          <p:cNvSpPr txBox="1"/>
          <p:nvPr/>
        </p:nvSpPr>
        <p:spPr>
          <a:xfrm>
            <a:off x="10976458" y="3691433"/>
            <a:ext cx="367589"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完了</a:t>
            </a:r>
            <a:endParaRPr lang="en-US" sz="1000" dirty="0"/>
          </a:p>
        </p:txBody>
      </p:sp>
      <p:sp>
        <p:nvSpPr>
          <p:cNvPr id="53" name="Shape 35"/>
          <p:cNvSpPr/>
          <p:nvPr/>
        </p:nvSpPr>
        <p:spPr>
          <a:xfrm>
            <a:off x="6258154" y="3996842"/>
            <a:ext cx="5391302" cy="418795"/>
          </a:xfrm>
          <a:prstGeom prst="roundRect">
            <a:avLst>
              <a:gd name="adj" fmla="val 29774"/>
            </a:avLst>
          </a:prstGeom>
          <a:solidFill>
            <a:srgbClr val="E3F2FD"/>
          </a:solidFill>
          <a:ln/>
        </p:spPr>
      </p:sp>
      <p:sp>
        <p:nvSpPr>
          <p:cNvPr id="54" name="Text 36"/>
          <p:cNvSpPr txBox="1"/>
          <p:nvPr/>
        </p:nvSpPr>
        <p:spPr>
          <a:xfrm>
            <a:off x="7183526" y="4111142"/>
            <a:ext cx="3643884"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所要時間：平均5時間 / 品質：一貫性あり / ミス率：約1.5%</a:t>
            </a:r>
            <a:endParaRPr lang="en-US" sz="1000" dirty="0"/>
          </a:p>
        </p:txBody>
      </p:sp>
      <p:sp>
        <p:nvSpPr>
          <p:cNvPr id="55" name="Shape 37"/>
          <p:cNvSpPr/>
          <p:nvPr/>
        </p:nvSpPr>
        <p:spPr>
          <a:xfrm>
            <a:off x="6096305" y="4882896"/>
            <a:ext cx="5715000" cy="1190549"/>
          </a:xfrm>
          <a:prstGeom prst="roundRect">
            <a:avLst>
              <a:gd name="adj" fmla="val 3687"/>
            </a:avLst>
          </a:prstGeom>
          <a:solidFill>
            <a:srgbClr val="E3F2FD"/>
          </a:solidFill>
          <a:ln/>
        </p:spPr>
      </p:sp>
      <p:sp>
        <p:nvSpPr>
          <p:cNvPr id="56" name="Text 38"/>
          <p:cNvSpPr txBox="1"/>
          <p:nvPr/>
        </p:nvSpPr>
        <p:spPr>
          <a:xfrm>
            <a:off x="8574329" y="5034686"/>
            <a:ext cx="876910" cy="228600"/>
          </a:xfrm>
          <a:prstGeom prst="rect">
            <a:avLst/>
          </a:prstGeom>
          <a:noFill/>
          <a:ln/>
        </p:spPr>
        <p:txBody>
          <a:bodyPr wrap="square" lIns="0" tIns="0" rIns="0" bIns="0" rtlCol="0" anchor="ctr"/>
          <a:lstStyle/>
          <a:p>
            <a:pPr algn="ctr" indent="0" marL="0">
              <a:buNone/>
            </a:pPr>
            <a:r>
              <a:rPr lang="en-US" sz="1200" b="1" dirty="0">
                <a:solidFill>
                  <a:srgbClr val="0052CC"/>
                </a:solidFill>
                <a:latin typeface="Noto Sans JP" pitchFamily="34" charset="0"/>
                <a:ea typeface="Noto Sans JP" pitchFamily="34" charset="-122"/>
                <a:cs typeface="Noto Sans JP" pitchFamily="34" charset="-120"/>
              </a:rPr>
              <a:t>AI導入効果</a:t>
            </a:r>
            <a:endParaRPr lang="en-US" sz="1200" dirty="0"/>
          </a:p>
        </p:txBody>
      </p:sp>
      <p:pic>
        <p:nvPicPr>
          <p:cNvPr id="57" name="Image 16" descr="preencoded.png">    </p:cNvPr>
          <p:cNvPicPr>
            <a:picLocks noChangeAspect="1"/>
          </p:cNvPicPr>
          <p:nvPr/>
        </p:nvPicPr>
        <p:blipFill>
          <a:blip r:embed="rId17"/>
          <a:srcRect l="-107" r="-107" t="0" b="0"/>
          <a:stretch/>
        </p:blipFill>
        <p:spPr>
          <a:xfrm>
            <a:off x="7017106" y="5377586"/>
            <a:ext cx="267005" cy="304495"/>
          </a:xfrm>
          <a:prstGeom prst="rect">
            <a:avLst/>
          </a:prstGeom>
        </p:spPr>
      </p:pic>
      <p:sp>
        <p:nvSpPr>
          <p:cNvPr id="58" name="Text 39"/>
          <p:cNvSpPr txBox="1"/>
          <p:nvPr/>
        </p:nvSpPr>
        <p:spPr>
          <a:xfrm>
            <a:off x="6614770" y="5730545"/>
            <a:ext cx="1176833"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処理時間85%削減</a:t>
            </a:r>
            <a:endParaRPr lang="en-US" sz="1000" dirty="0"/>
          </a:p>
        </p:txBody>
      </p:sp>
      <p:pic>
        <p:nvPicPr>
          <p:cNvPr id="59" name="Image 17" descr="preencoded.png">    </p:cNvPr>
          <p:cNvPicPr>
            <a:picLocks noChangeAspect="1"/>
          </p:cNvPicPr>
          <p:nvPr/>
        </p:nvPicPr>
        <p:blipFill>
          <a:blip r:embed="rId18"/>
          <a:srcRect l="0" r="0" t="0" b="0"/>
          <a:stretch/>
        </p:blipFill>
        <p:spPr>
          <a:xfrm>
            <a:off x="8801100" y="5377586"/>
            <a:ext cx="304495" cy="304495"/>
          </a:xfrm>
          <a:prstGeom prst="rect">
            <a:avLst/>
          </a:prstGeom>
        </p:spPr>
      </p:pic>
      <p:sp>
        <p:nvSpPr>
          <p:cNvPr id="60" name="Text 40"/>
          <p:cNvSpPr txBox="1"/>
          <p:nvPr/>
        </p:nvSpPr>
        <p:spPr>
          <a:xfrm>
            <a:off x="8620049" y="5730545"/>
            <a:ext cx="767182"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品質均一化</a:t>
            </a:r>
            <a:endParaRPr lang="en-US" sz="1000" dirty="0"/>
          </a:p>
        </p:txBody>
      </p:sp>
      <p:pic>
        <p:nvPicPr>
          <p:cNvPr id="61" name="Image 18" descr="preencoded.png">    </p:cNvPr>
          <p:cNvPicPr>
            <a:picLocks noChangeAspect="1"/>
          </p:cNvPicPr>
          <p:nvPr/>
        </p:nvPicPr>
        <p:blipFill>
          <a:blip r:embed="rId19"/>
          <a:srcRect l="-107" r="-107" t="0" b="0"/>
          <a:stretch/>
        </p:blipFill>
        <p:spPr>
          <a:xfrm>
            <a:off x="10623499" y="5377586"/>
            <a:ext cx="267005" cy="304495"/>
          </a:xfrm>
          <a:prstGeom prst="rect">
            <a:avLst/>
          </a:prstGeom>
        </p:spPr>
      </p:pic>
      <p:sp>
        <p:nvSpPr>
          <p:cNvPr id="62" name="Text 41"/>
          <p:cNvSpPr txBox="1"/>
          <p:nvPr/>
        </p:nvSpPr>
        <p:spPr>
          <a:xfrm>
            <a:off x="10156241" y="5730545"/>
            <a:ext cx="1300277" cy="191110"/>
          </a:xfrm>
          <a:prstGeom prst="rect">
            <a:avLst/>
          </a:prstGeom>
          <a:noFill/>
          <a:ln/>
        </p:spPr>
        <p:txBody>
          <a:bodyPr wrap="square" lIns="0" tIns="0" rIns="0" bIns="0" rtlCol="0" anchor="ctr"/>
          <a:lstStyle/>
          <a:p>
            <a:pPr algn="ctr" indent="0" marL="0">
              <a:buNone/>
            </a:pPr>
            <a:r>
              <a:rPr lang="en-US" sz="1000" dirty="0">
                <a:solidFill>
                  <a:srgbClr val="0052CC"/>
                </a:solidFill>
                <a:latin typeface="Noto Sans JP" pitchFamily="34" charset="0"/>
                <a:ea typeface="Noto Sans JP" pitchFamily="34" charset="-122"/>
                <a:cs typeface="Noto Sans JP" pitchFamily="34" charset="-120"/>
              </a:rPr>
              <a:t>人材活用価値創造へ</a:t>
            </a:r>
            <a:endParaRPr lang="en-US" sz="1000" dirty="0"/>
          </a:p>
        </p:txBody>
      </p:sp>
      <p:sp>
        <p:nvSpPr>
          <p:cNvPr id="63" name="Text 42"/>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052CC"/>
                </a:solidFill>
                <a:latin typeface="Noto Sans JP" pitchFamily="34" charset="0"/>
                <a:ea typeface="Noto Sans JP" pitchFamily="34" charset="-122"/>
                <a:cs typeface="Noto Sans JP"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70866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3E92CC">
              <a:alpha val="10000"/>
            </a:srgbClr>
          </a:solidFill>
          <a:ln/>
        </p:spPr>
      </p:sp>
      <p:sp>
        <p:nvSpPr>
          <p:cNvPr id="4" name="Shape 2"/>
          <p:cNvSpPr/>
          <p:nvPr/>
        </p:nvSpPr>
        <p:spPr>
          <a:xfrm>
            <a:off x="952805" y="5658307"/>
            <a:ext cx="1904695" cy="1904695"/>
          </a:xfrm>
          <a:prstGeom prst="rect">
            <a:avLst/>
          </a:prstGeom>
          <a:solidFill>
            <a:srgbClr val="3E92CC">
              <a:alpha val="10000"/>
            </a:srgbClr>
          </a:solidFill>
          <a:ln/>
        </p:spPr>
      </p:sp>
      <p:sp>
        <p:nvSpPr>
          <p:cNvPr id="5" name="Text 3"/>
          <p:cNvSpPr txBox="1"/>
          <p:nvPr/>
        </p:nvSpPr>
        <p:spPr>
          <a:xfrm>
            <a:off x="381305" y="1194206"/>
            <a:ext cx="5229454" cy="495605"/>
          </a:xfrm>
          <a:prstGeom prst="rect">
            <a:avLst/>
          </a:prstGeom>
          <a:noFill/>
          <a:ln/>
        </p:spPr>
        <p:txBody>
          <a:bodyPr wrap="square" lIns="0" tIns="0" rIns="0" bIns="0" rtlCol="0" anchor="ctr"/>
          <a:lstStyle/>
          <a:p>
            <a:pPr algn="l" indent="0" marL="0">
              <a:buNone/>
            </a:pPr>
            <a:r>
              <a:rPr lang="en-US" sz="2700" b="1" dirty="0">
                <a:solidFill>
                  <a:srgbClr val="0A2463"/>
                </a:solidFill>
                <a:latin typeface="Noto Sans JP" pitchFamily="34" charset="0"/>
                <a:ea typeface="Noto Sans JP" pitchFamily="34" charset="-122"/>
                <a:cs typeface="Noto Sans JP" pitchFamily="34" charset="-120"/>
              </a:rPr>
              <a:t>人間 vs AI（作業視点での比較）</a:t>
            </a:r>
            <a:endParaRPr lang="en-US" sz="2700" dirty="0"/>
          </a:p>
        </p:txBody>
      </p:sp>
      <p:sp>
        <p:nvSpPr>
          <p:cNvPr id="6" name="Shape 4"/>
          <p:cNvSpPr/>
          <p:nvPr/>
        </p:nvSpPr>
        <p:spPr>
          <a:xfrm>
            <a:off x="381305" y="1767535"/>
            <a:ext cx="571500" cy="38405"/>
          </a:xfrm>
          <a:prstGeom prst="rect">
            <a:avLst/>
          </a:prstGeom>
          <a:solidFill>
            <a:srgbClr val="3E92CC"/>
          </a:solidFill>
          <a:ln/>
        </p:spPr>
      </p:sp>
      <p:sp>
        <p:nvSpPr>
          <p:cNvPr id="7" name="Text 5"/>
          <p:cNvSpPr txBox="1"/>
          <p:nvPr/>
        </p:nvSpPr>
        <p:spPr>
          <a:xfrm>
            <a:off x="381305" y="2034540"/>
            <a:ext cx="5477256" cy="4572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比較の観点： 業務における人間とAIの特性を実際のデータで検証し、それぞれの強みを最適に活用する配置を目指します</a:t>
            </a:r>
            <a:endParaRPr lang="en-US" sz="1200" dirty="0"/>
          </a:p>
        </p:txBody>
      </p:sp>
      <p:sp>
        <p:nvSpPr>
          <p:cNvPr id="8" name="Text 6"/>
          <p:cNvSpPr txBox="1"/>
          <p:nvPr/>
        </p:nvSpPr>
        <p:spPr>
          <a:xfrm>
            <a:off x="381305" y="2644445"/>
            <a:ext cx="1943100"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主な差異（実績ベース）：</a:t>
            </a:r>
            <a:endParaRPr lang="en-US" sz="1200" dirty="0"/>
          </a:p>
        </p:txBody>
      </p:sp>
      <p:sp>
        <p:nvSpPr>
          <p:cNvPr id="9" name="Text 7"/>
          <p:cNvSpPr txBox="1"/>
          <p:nvPr/>
        </p:nvSpPr>
        <p:spPr>
          <a:xfrm>
            <a:off x="609905" y="3024835"/>
            <a:ext cx="3743554"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AIは24時間365日稼働可能、人間は1日約8時間の労働</a:t>
            </a:r>
            <a:endParaRPr lang="en-US" sz="1200" dirty="0"/>
          </a:p>
        </p:txBody>
      </p:sp>
      <p:sp>
        <p:nvSpPr>
          <p:cNvPr id="10" name="Text 8"/>
          <p:cNvSpPr txBox="1"/>
          <p:nvPr/>
        </p:nvSpPr>
        <p:spPr>
          <a:xfrm>
            <a:off x="609905" y="3330245"/>
            <a:ext cx="4601261"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AIのエラー率は3%以下で維持可能、人間は平均15%のエラー発生</a:t>
            </a:r>
            <a:endParaRPr lang="en-US" sz="1200" dirty="0"/>
          </a:p>
        </p:txBody>
      </p:sp>
      <p:sp>
        <p:nvSpPr>
          <p:cNvPr id="11" name="Text 9"/>
          <p:cNvSpPr txBox="1"/>
          <p:nvPr/>
        </p:nvSpPr>
        <p:spPr>
          <a:xfrm>
            <a:off x="609905" y="3634740"/>
            <a:ext cx="3248863"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定型業務の処理速度は人間の約5倍のスピード</a:t>
            </a:r>
            <a:endParaRPr lang="en-US" sz="1200" dirty="0"/>
          </a:p>
        </p:txBody>
      </p:sp>
      <p:sp>
        <p:nvSpPr>
          <p:cNvPr id="12" name="Text 10"/>
          <p:cNvSpPr txBox="1"/>
          <p:nvPr/>
        </p:nvSpPr>
        <p:spPr>
          <a:xfrm>
            <a:off x="609905" y="3939235"/>
            <a:ext cx="3477463"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初期投資後のランニングコストは固定費化が可能</a:t>
            </a:r>
            <a:endParaRPr lang="en-US" sz="1200" dirty="0"/>
          </a:p>
        </p:txBody>
      </p:sp>
      <p:sp>
        <p:nvSpPr>
          <p:cNvPr id="13" name="Text 11"/>
          <p:cNvSpPr txBox="1"/>
          <p:nvPr/>
        </p:nvSpPr>
        <p:spPr>
          <a:xfrm>
            <a:off x="381305" y="4320540"/>
            <a:ext cx="1334110"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導入による成果：</a:t>
            </a:r>
            <a:endParaRPr lang="en-US" sz="1200" dirty="0"/>
          </a:p>
        </p:txBody>
      </p:sp>
      <p:sp>
        <p:nvSpPr>
          <p:cNvPr id="14" name="Text 12"/>
          <p:cNvSpPr txBox="1"/>
          <p:nvPr/>
        </p:nvSpPr>
        <p:spPr>
          <a:xfrm>
            <a:off x="609905" y="4701845"/>
            <a:ext cx="3486607"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企業事例では月間最大22万時間の工数削減を実現</a:t>
            </a:r>
            <a:endParaRPr lang="en-US" sz="1200" dirty="0"/>
          </a:p>
        </p:txBody>
      </p:sp>
      <p:sp>
        <p:nvSpPr>
          <p:cNvPr id="15" name="Text 13"/>
          <p:cNvSpPr txBox="1"/>
          <p:nvPr/>
        </p:nvSpPr>
        <p:spPr>
          <a:xfrm>
            <a:off x="609905" y="5006340"/>
            <a:ext cx="4077310"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定型業務の自動化で年間1,400〜4,200時間の作業時間削減</a:t>
            </a:r>
            <a:endParaRPr lang="en-US" sz="1200" dirty="0"/>
          </a:p>
        </p:txBody>
      </p:sp>
      <p:sp>
        <p:nvSpPr>
          <p:cNvPr id="16" name="Text 14"/>
          <p:cNvSpPr txBox="1"/>
          <p:nvPr/>
        </p:nvSpPr>
        <p:spPr>
          <a:xfrm>
            <a:off x="609905" y="5310835"/>
            <a:ext cx="2867558"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エラー削減による再作業の80%以上削減</a:t>
            </a:r>
            <a:endParaRPr lang="en-US" sz="1200" dirty="0"/>
          </a:p>
        </p:txBody>
      </p:sp>
      <p:sp>
        <p:nvSpPr>
          <p:cNvPr id="17" name="Text 15"/>
          <p:cNvSpPr txBox="1"/>
          <p:nvPr/>
        </p:nvSpPr>
        <p:spPr>
          <a:xfrm>
            <a:off x="609905" y="5616245"/>
            <a:ext cx="3467405"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質の高い業務への人材シフトによる付加価値向上</a:t>
            </a:r>
            <a:endParaRPr lang="en-US" sz="1200" dirty="0"/>
          </a:p>
        </p:txBody>
      </p:sp>
      <p:sp>
        <p:nvSpPr>
          <p:cNvPr id="18" name="Text 16"/>
          <p:cNvSpPr txBox="1"/>
          <p:nvPr/>
        </p:nvSpPr>
        <p:spPr>
          <a:xfrm>
            <a:off x="7353605" y="381305"/>
            <a:ext cx="3372307" cy="333756"/>
          </a:xfrm>
          <a:prstGeom prst="rect">
            <a:avLst/>
          </a:prstGeom>
          <a:noFill/>
          <a:ln/>
        </p:spPr>
        <p:txBody>
          <a:bodyPr wrap="square" lIns="0" tIns="0" rIns="0" bIns="0" rtlCol="0" anchor="ctr"/>
          <a:lstStyle/>
          <a:p>
            <a:pPr algn="ctr" indent="0" marL="0">
              <a:buNone/>
            </a:pPr>
            <a:r>
              <a:rPr lang="en-US" sz="1800" b="1" dirty="0">
                <a:solidFill>
                  <a:srgbClr val="3E92CC"/>
                </a:solidFill>
                <a:latin typeface="Noto Sans JP" pitchFamily="34" charset="0"/>
                <a:ea typeface="Noto Sans JP" pitchFamily="34" charset="-122"/>
                <a:cs typeface="Noto Sans JP" pitchFamily="34" charset="-120"/>
              </a:rPr>
              <a:t>作業特性比較表（実績データ）</a:t>
            </a:r>
            <a:endParaRPr lang="en-US" sz="1800" dirty="0"/>
          </a:p>
        </p:txBody>
      </p:sp>
      <p:sp>
        <p:nvSpPr>
          <p:cNvPr id="19" name="Shape 17"/>
          <p:cNvSpPr/>
          <p:nvPr/>
        </p:nvSpPr>
        <p:spPr>
          <a:xfrm>
            <a:off x="6100877" y="881482"/>
            <a:ext cx="1143000" cy="466344"/>
          </a:xfrm>
          <a:prstGeom prst="rect">
            <a:avLst/>
          </a:prstGeom>
          <a:solidFill>
            <a:srgbClr val="3E92CC">
              <a:alpha val="20000"/>
            </a:srgbClr>
          </a:solidFill>
          <a:ln w="12700">
            <a:solidFill>
              <a:srgbClr val="3E92CC"/>
            </a:solidFill>
            <a:prstDash val="solid"/>
          </a:ln>
        </p:spPr>
      </p:sp>
      <p:sp>
        <p:nvSpPr>
          <p:cNvPr id="20" name="Text 18"/>
          <p:cNvSpPr txBox="1"/>
          <p:nvPr/>
        </p:nvSpPr>
        <p:spPr>
          <a:xfrm>
            <a:off x="6518758" y="1000354"/>
            <a:ext cx="428854"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観点</a:t>
            </a:r>
            <a:endParaRPr lang="en-US" sz="1200" dirty="0"/>
          </a:p>
        </p:txBody>
      </p:sp>
      <p:sp>
        <p:nvSpPr>
          <p:cNvPr id="21" name="Shape 19"/>
          <p:cNvSpPr/>
          <p:nvPr/>
        </p:nvSpPr>
        <p:spPr>
          <a:xfrm>
            <a:off x="7242048" y="881482"/>
            <a:ext cx="2286000" cy="466344"/>
          </a:xfrm>
          <a:prstGeom prst="rect">
            <a:avLst/>
          </a:prstGeom>
          <a:solidFill>
            <a:srgbClr val="3E92CC">
              <a:alpha val="20000"/>
            </a:srgbClr>
          </a:solidFill>
          <a:ln w="12700">
            <a:solidFill>
              <a:srgbClr val="3E92CC"/>
            </a:solidFill>
            <a:prstDash val="solid"/>
          </a:ln>
        </p:spPr>
      </p:sp>
      <p:sp>
        <p:nvSpPr>
          <p:cNvPr id="22" name="Text 20"/>
          <p:cNvSpPr txBox="1"/>
          <p:nvPr/>
        </p:nvSpPr>
        <p:spPr>
          <a:xfrm>
            <a:off x="7696505" y="1000354"/>
            <a:ext cx="1495958"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人間が作業した場合</a:t>
            </a:r>
            <a:endParaRPr lang="en-US" sz="1200" dirty="0"/>
          </a:p>
        </p:txBody>
      </p:sp>
      <p:sp>
        <p:nvSpPr>
          <p:cNvPr id="23" name="Shape 21"/>
          <p:cNvSpPr/>
          <p:nvPr/>
        </p:nvSpPr>
        <p:spPr>
          <a:xfrm>
            <a:off x="9524390" y="881482"/>
            <a:ext cx="2286000" cy="466344"/>
          </a:xfrm>
          <a:prstGeom prst="rect">
            <a:avLst/>
          </a:prstGeom>
          <a:solidFill>
            <a:srgbClr val="3E92CC">
              <a:alpha val="20000"/>
            </a:srgbClr>
          </a:solidFill>
          <a:ln w="12700">
            <a:solidFill>
              <a:srgbClr val="3E92CC"/>
            </a:solidFill>
            <a:prstDash val="solid"/>
          </a:ln>
        </p:spPr>
      </p:sp>
      <p:sp>
        <p:nvSpPr>
          <p:cNvPr id="24" name="Text 22"/>
          <p:cNvSpPr txBox="1"/>
          <p:nvPr/>
        </p:nvSpPr>
        <p:spPr>
          <a:xfrm>
            <a:off x="10057486" y="1000354"/>
            <a:ext cx="1334110"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AIが作業した場合</a:t>
            </a:r>
            <a:endParaRPr lang="en-US" sz="1200" dirty="0"/>
          </a:p>
        </p:txBody>
      </p:sp>
      <p:sp>
        <p:nvSpPr>
          <p:cNvPr id="25" name="Shape 23"/>
          <p:cNvSpPr/>
          <p:nvPr/>
        </p:nvSpPr>
        <p:spPr>
          <a:xfrm>
            <a:off x="6100877" y="1347826"/>
            <a:ext cx="1143000" cy="923544"/>
          </a:xfrm>
          <a:prstGeom prst="rect">
            <a:avLst/>
          </a:prstGeom>
          <a:noFill/>
          <a:ln w="12700">
            <a:solidFill>
              <a:srgbClr val="3E92CC"/>
            </a:solidFill>
            <a:prstDash val="solid"/>
          </a:ln>
        </p:spPr>
      </p:sp>
      <p:sp>
        <p:nvSpPr>
          <p:cNvPr id="26" name="Text 24"/>
          <p:cNvSpPr txBox="1"/>
          <p:nvPr/>
        </p:nvSpPr>
        <p:spPr>
          <a:xfrm>
            <a:off x="6219749" y="1695298"/>
            <a:ext cx="734263" cy="228600"/>
          </a:xfrm>
          <a:prstGeom prst="rect">
            <a:avLst/>
          </a:prstGeom>
          <a:noFill/>
          <a:ln/>
        </p:spPr>
        <p:txBody>
          <a:bodyPr wrap="square" lIns="0" tIns="0" rIns="0" bIns="0" rtlCol="0" anchor="ctr"/>
          <a:lstStyle/>
          <a:p>
            <a:pPr algn="l" indent="0" marL="0">
              <a:buNone/>
            </a:pPr>
            <a:r>
              <a:rPr lang="en-US" sz="1200" b="1" dirty="0">
                <a:solidFill>
                  <a:srgbClr val="1E5091"/>
                </a:solidFill>
                <a:latin typeface="Noto Sans JP" pitchFamily="34" charset="0"/>
                <a:ea typeface="Noto Sans JP" pitchFamily="34" charset="-122"/>
                <a:cs typeface="Noto Sans JP" pitchFamily="34" charset="-120"/>
              </a:rPr>
              <a:t>スピード</a:t>
            </a:r>
            <a:endParaRPr lang="en-US" sz="1200" dirty="0"/>
          </a:p>
        </p:txBody>
      </p:sp>
      <p:sp>
        <p:nvSpPr>
          <p:cNvPr id="27" name="Shape 25"/>
          <p:cNvSpPr/>
          <p:nvPr/>
        </p:nvSpPr>
        <p:spPr>
          <a:xfrm>
            <a:off x="7242048" y="1347826"/>
            <a:ext cx="2286000" cy="923544"/>
          </a:xfrm>
          <a:prstGeom prst="rect">
            <a:avLst/>
          </a:prstGeom>
          <a:noFill/>
          <a:ln w="12700">
            <a:solidFill>
              <a:srgbClr val="3E92CC"/>
            </a:solidFill>
            <a:prstDash val="solid"/>
          </a:ln>
        </p:spPr>
      </p:sp>
      <p:sp>
        <p:nvSpPr>
          <p:cNvPr id="28" name="Text 26"/>
          <p:cNvSpPr txBox="1"/>
          <p:nvPr/>
        </p:nvSpPr>
        <p:spPr>
          <a:xfrm>
            <a:off x="7360920" y="1466698"/>
            <a:ext cx="2067458"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労働時間上限：8時間/日 休憩・疲労で実働は約6.5時間/日 繁忙期は対応遅延が発生</a:t>
            </a:r>
            <a:endParaRPr lang="en-US" sz="1200" dirty="0"/>
          </a:p>
        </p:txBody>
      </p:sp>
      <p:sp>
        <p:nvSpPr>
          <p:cNvPr id="29" name="Shape 27"/>
          <p:cNvSpPr/>
          <p:nvPr/>
        </p:nvSpPr>
        <p:spPr>
          <a:xfrm>
            <a:off x="9524390" y="1347826"/>
            <a:ext cx="2286000" cy="923544"/>
          </a:xfrm>
          <a:prstGeom prst="rect">
            <a:avLst/>
          </a:prstGeom>
          <a:noFill/>
          <a:ln w="12700">
            <a:solidFill>
              <a:srgbClr val="3E92CC"/>
            </a:solidFill>
            <a:prstDash val="solid"/>
          </a:ln>
        </p:spPr>
      </p:sp>
      <p:sp>
        <p:nvSpPr>
          <p:cNvPr id="30" name="Text 28"/>
          <p:cNvSpPr txBox="1"/>
          <p:nvPr/>
        </p:nvSpPr>
        <p:spPr>
          <a:xfrm>
            <a:off x="9643262" y="1466698"/>
            <a:ext cx="2095805"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24時間365日の連続稼働 処理速度：人間の約5倍 繁忙期も一定速度を維持</a:t>
            </a:r>
            <a:endParaRPr lang="en-US" sz="1200" dirty="0"/>
          </a:p>
        </p:txBody>
      </p:sp>
      <p:sp>
        <p:nvSpPr>
          <p:cNvPr id="31" name="Shape 29"/>
          <p:cNvSpPr/>
          <p:nvPr/>
        </p:nvSpPr>
        <p:spPr>
          <a:xfrm>
            <a:off x="6100877" y="2271370"/>
            <a:ext cx="1143000" cy="923544"/>
          </a:xfrm>
          <a:prstGeom prst="rect">
            <a:avLst/>
          </a:prstGeom>
          <a:noFill/>
          <a:ln w="12700">
            <a:solidFill>
              <a:srgbClr val="3E92CC"/>
            </a:solidFill>
            <a:prstDash val="solid"/>
          </a:ln>
        </p:spPr>
      </p:sp>
      <p:sp>
        <p:nvSpPr>
          <p:cNvPr id="32" name="Text 30"/>
          <p:cNvSpPr txBox="1"/>
          <p:nvPr/>
        </p:nvSpPr>
        <p:spPr>
          <a:xfrm>
            <a:off x="6219749" y="2619756"/>
            <a:ext cx="581558" cy="228600"/>
          </a:xfrm>
          <a:prstGeom prst="rect">
            <a:avLst/>
          </a:prstGeom>
          <a:noFill/>
          <a:ln/>
        </p:spPr>
        <p:txBody>
          <a:bodyPr wrap="square" lIns="0" tIns="0" rIns="0" bIns="0" rtlCol="0" anchor="ctr"/>
          <a:lstStyle/>
          <a:p>
            <a:pPr algn="l" indent="0" marL="0">
              <a:buNone/>
            </a:pPr>
            <a:r>
              <a:rPr lang="en-US" sz="1200" b="1" dirty="0">
                <a:solidFill>
                  <a:srgbClr val="1E5091"/>
                </a:solidFill>
                <a:latin typeface="Noto Sans JP" pitchFamily="34" charset="0"/>
                <a:ea typeface="Noto Sans JP" pitchFamily="34" charset="-122"/>
                <a:cs typeface="Noto Sans JP" pitchFamily="34" charset="-120"/>
              </a:rPr>
              <a:t>正確性</a:t>
            </a:r>
            <a:endParaRPr lang="en-US" sz="1200" dirty="0"/>
          </a:p>
        </p:txBody>
      </p:sp>
      <p:sp>
        <p:nvSpPr>
          <p:cNvPr id="33" name="Shape 31"/>
          <p:cNvSpPr/>
          <p:nvPr/>
        </p:nvSpPr>
        <p:spPr>
          <a:xfrm>
            <a:off x="7242048" y="2271370"/>
            <a:ext cx="2286000" cy="923544"/>
          </a:xfrm>
          <a:prstGeom prst="rect">
            <a:avLst/>
          </a:prstGeom>
          <a:noFill/>
          <a:ln w="12700">
            <a:solidFill>
              <a:srgbClr val="3E92CC"/>
            </a:solidFill>
            <a:prstDash val="solid"/>
          </a:ln>
        </p:spPr>
      </p:sp>
      <p:sp>
        <p:nvSpPr>
          <p:cNvPr id="34" name="Text 32"/>
          <p:cNvSpPr txBox="1"/>
          <p:nvPr/>
        </p:nvSpPr>
        <p:spPr>
          <a:xfrm>
            <a:off x="7360920" y="2391156"/>
            <a:ext cx="2153412"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平均エラー率：12〜15% 長時間作業でエラー率最大20%に上昇 繁忙期はさらにミス増加</a:t>
            </a:r>
            <a:endParaRPr lang="en-US" sz="1200" dirty="0"/>
          </a:p>
        </p:txBody>
      </p:sp>
      <p:sp>
        <p:nvSpPr>
          <p:cNvPr id="35" name="Shape 33"/>
          <p:cNvSpPr/>
          <p:nvPr/>
        </p:nvSpPr>
        <p:spPr>
          <a:xfrm>
            <a:off x="9524390" y="2271370"/>
            <a:ext cx="2286000" cy="923544"/>
          </a:xfrm>
          <a:prstGeom prst="rect">
            <a:avLst/>
          </a:prstGeom>
          <a:noFill/>
          <a:ln w="12700">
            <a:solidFill>
              <a:srgbClr val="3E92CC"/>
            </a:solidFill>
            <a:prstDash val="solid"/>
          </a:ln>
        </p:spPr>
      </p:sp>
      <p:sp>
        <p:nvSpPr>
          <p:cNvPr id="36" name="Text 34"/>
          <p:cNvSpPr txBox="1"/>
          <p:nvPr/>
        </p:nvSpPr>
        <p:spPr>
          <a:xfrm>
            <a:off x="9643262" y="2391156"/>
            <a:ext cx="2134210"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エラー率：3%以下 時間経過による精度低下なし 同一処理での一貫性：97%以上</a:t>
            </a:r>
            <a:endParaRPr lang="en-US" sz="1200" dirty="0"/>
          </a:p>
        </p:txBody>
      </p:sp>
      <p:sp>
        <p:nvSpPr>
          <p:cNvPr id="37" name="Shape 35"/>
          <p:cNvSpPr/>
          <p:nvPr/>
        </p:nvSpPr>
        <p:spPr>
          <a:xfrm>
            <a:off x="6100877" y="3195828"/>
            <a:ext cx="1143000" cy="1152144"/>
          </a:xfrm>
          <a:prstGeom prst="rect">
            <a:avLst/>
          </a:prstGeom>
          <a:noFill/>
          <a:ln w="12700">
            <a:solidFill>
              <a:srgbClr val="3E92CC"/>
            </a:solidFill>
            <a:prstDash val="solid"/>
          </a:ln>
        </p:spPr>
      </p:sp>
      <p:sp>
        <p:nvSpPr>
          <p:cNvPr id="38" name="Text 36"/>
          <p:cNvSpPr txBox="1"/>
          <p:nvPr/>
        </p:nvSpPr>
        <p:spPr>
          <a:xfrm>
            <a:off x="6219749" y="3657600"/>
            <a:ext cx="581558" cy="228600"/>
          </a:xfrm>
          <a:prstGeom prst="rect">
            <a:avLst/>
          </a:prstGeom>
          <a:noFill/>
          <a:ln/>
        </p:spPr>
        <p:txBody>
          <a:bodyPr wrap="square" lIns="0" tIns="0" rIns="0" bIns="0" rtlCol="0" anchor="ctr"/>
          <a:lstStyle/>
          <a:p>
            <a:pPr algn="l" indent="0" marL="0">
              <a:buNone/>
            </a:pPr>
            <a:r>
              <a:rPr lang="en-US" sz="1200" b="1" dirty="0">
                <a:solidFill>
                  <a:srgbClr val="1E5091"/>
                </a:solidFill>
                <a:latin typeface="Noto Sans JP" pitchFamily="34" charset="0"/>
                <a:ea typeface="Noto Sans JP" pitchFamily="34" charset="-122"/>
                <a:cs typeface="Noto Sans JP" pitchFamily="34" charset="-120"/>
              </a:rPr>
              <a:t>コスト</a:t>
            </a:r>
            <a:endParaRPr lang="en-US" sz="1200" dirty="0"/>
          </a:p>
        </p:txBody>
      </p:sp>
      <p:sp>
        <p:nvSpPr>
          <p:cNvPr id="39" name="Shape 37"/>
          <p:cNvSpPr/>
          <p:nvPr/>
        </p:nvSpPr>
        <p:spPr>
          <a:xfrm>
            <a:off x="7242048" y="3195828"/>
            <a:ext cx="2286000" cy="1152144"/>
          </a:xfrm>
          <a:prstGeom prst="rect">
            <a:avLst/>
          </a:prstGeom>
          <a:noFill/>
          <a:ln w="12700">
            <a:solidFill>
              <a:srgbClr val="3E92CC"/>
            </a:solidFill>
            <a:prstDash val="solid"/>
          </a:ln>
        </p:spPr>
      </p:sp>
      <p:sp>
        <p:nvSpPr>
          <p:cNvPr id="40" name="Text 38"/>
          <p:cNvSpPr txBox="1"/>
          <p:nvPr/>
        </p:nvSpPr>
        <p:spPr>
          <a:xfrm>
            <a:off x="7360920" y="3314700"/>
            <a:ext cx="2124151" cy="9144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業務量増加で人件費比例増加 残業代：基本給の25〜50%増 教育・採用コストが継続的に発生</a:t>
            </a:r>
            <a:endParaRPr lang="en-US" sz="1200" dirty="0"/>
          </a:p>
        </p:txBody>
      </p:sp>
      <p:sp>
        <p:nvSpPr>
          <p:cNvPr id="41" name="Shape 39"/>
          <p:cNvSpPr/>
          <p:nvPr/>
        </p:nvSpPr>
        <p:spPr>
          <a:xfrm>
            <a:off x="9524390" y="3195828"/>
            <a:ext cx="2286000" cy="1152144"/>
          </a:xfrm>
          <a:prstGeom prst="rect">
            <a:avLst/>
          </a:prstGeom>
          <a:noFill/>
          <a:ln w="12700">
            <a:solidFill>
              <a:srgbClr val="3E92CC"/>
            </a:solidFill>
            <a:prstDash val="solid"/>
          </a:ln>
        </p:spPr>
      </p:sp>
      <p:sp>
        <p:nvSpPr>
          <p:cNvPr id="42" name="Text 40"/>
          <p:cNvSpPr txBox="1"/>
          <p:nvPr/>
        </p:nvSpPr>
        <p:spPr>
          <a:xfrm>
            <a:off x="9643262" y="3429000"/>
            <a:ext cx="2134210"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初期投資後は固定費に 処理量増加でも追加コスト最小限 ROI：平均1.5〜2.4倍</a:t>
            </a:r>
            <a:endParaRPr lang="en-US" sz="1200" dirty="0"/>
          </a:p>
        </p:txBody>
      </p:sp>
      <p:sp>
        <p:nvSpPr>
          <p:cNvPr id="43" name="Shape 41"/>
          <p:cNvSpPr/>
          <p:nvPr/>
        </p:nvSpPr>
        <p:spPr>
          <a:xfrm>
            <a:off x="6100877" y="4347972"/>
            <a:ext cx="1143000" cy="923544"/>
          </a:xfrm>
          <a:prstGeom prst="rect">
            <a:avLst/>
          </a:prstGeom>
          <a:noFill/>
          <a:ln w="12700">
            <a:solidFill>
              <a:srgbClr val="3E92CC"/>
            </a:solidFill>
            <a:prstDash val="solid"/>
          </a:ln>
        </p:spPr>
      </p:sp>
      <p:sp>
        <p:nvSpPr>
          <p:cNvPr id="44" name="Text 42"/>
          <p:cNvSpPr txBox="1"/>
          <p:nvPr/>
        </p:nvSpPr>
        <p:spPr>
          <a:xfrm>
            <a:off x="6219749" y="4695444"/>
            <a:ext cx="428854" cy="228600"/>
          </a:xfrm>
          <a:prstGeom prst="rect">
            <a:avLst/>
          </a:prstGeom>
          <a:noFill/>
          <a:ln/>
        </p:spPr>
        <p:txBody>
          <a:bodyPr wrap="square" lIns="0" tIns="0" rIns="0" bIns="0" rtlCol="0" anchor="ctr"/>
          <a:lstStyle/>
          <a:p>
            <a:pPr algn="l" indent="0" marL="0">
              <a:buNone/>
            </a:pPr>
            <a:r>
              <a:rPr lang="en-US" sz="1200" b="1" dirty="0">
                <a:solidFill>
                  <a:srgbClr val="1E5091"/>
                </a:solidFill>
                <a:latin typeface="Noto Sans JP" pitchFamily="34" charset="0"/>
                <a:ea typeface="Noto Sans JP" pitchFamily="34" charset="-122"/>
                <a:cs typeface="Noto Sans JP" pitchFamily="34" charset="-120"/>
              </a:rPr>
              <a:t>品質</a:t>
            </a:r>
            <a:endParaRPr lang="en-US" sz="1200" dirty="0"/>
          </a:p>
        </p:txBody>
      </p:sp>
      <p:sp>
        <p:nvSpPr>
          <p:cNvPr id="45" name="Shape 43"/>
          <p:cNvSpPr/>
          <p:nvPr/>
        </p:nvSpPr>
        <p:spPr>
          <a:xfrm>
            <a:off x="7242048" y="4347972"/>
            <a:ext cx="2286000" cy="923544"/>
          </a:xfrm>
          <a:prstGeom prst="rect">
            <a:avLst/>
          </a:prstGeom>
          <a:noFill/>
          <a:ln w="12700">
            <a:solidFill>
              <a:srgbClr val="3E92CC"/>
            </a:solidFill>
            <a:prstDash val="solid"/>
          </a:ln>
        </p:spPr>
      </p:sp>
      <p:sp>
        <p:nvSpPr>
          <p:cNvPr id="46" name="Text 44"/>
          <p:cNvSpPr txBox="1"/>
          <p:nvPr/>
        </p:nvSpPr>
        <p:spPr>
          <a:xfrm>
            <a:off x="7360920" y="4466844"/>
            <a:ext cx="2105863"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担当者の経験値に大きく依存 個人差：品質バラつき約20% 疲労・体調で変動</a:t>
            </a:r>
            <a:endParaRPr lang="en-US" sz="1200" dirty="0"/>
          </a:p>
        </p:txBody>
      </p:sp>
      <p:sp>
        <p:nvSpPr>
          <p:cNvPr id="47" name="Shape 45"/>
          <p:cNvSpPr/>
          <p:nvPr/>
        </p:nvSpPr>
        <p:spPr>
          <a:xfrm>
            <a:off x="9524390" y="4347972"/>
            <a:ext cx="2286000" cy="923544"/>
          </a:xfrm>
          <a:prstGeom prst="rect">
            <a:avLst/>
          </a:prstGeom>
          <a:noFill/>
          <a:ln w="12700">
            <a:solidFill>
              <a:srgbClr val="3E92CC"/>
            </a:solidFill>
            <a:prstDash val="solid"/>
          </a:ln>
        </p:spPr>
      </p:sp>
      <p:sp>
        <p:nvSpPr>
          <p:cNvPr id="48" name="Text 46"/>
          <p:cNvSpPr txBox="1"/>
          <p:nvPr/>
        </p:nvSpPr>
        <p:spPr>
          <a:xfrm>
            <a:off x="9643262" y="4466844"/>
            <a:ext cx="2134210" cy="6858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常に均一な品質を維持 処理基準の標準化が可能 定量的な品質管理が容易</a:t>
            </a:r>
            <a:endParaRPr lang="en-US" sz="1200" dirty="0"/>
          </a:p>
        </p:txBody>
      </p:sp>
      <p:sp>
        <p:nvSpPr>
          <p:cNvPr id="49" name="Shape 47"/>
          <p:cNvSpPr/>
          <p:nvPr/>
        </p:nvSpPr>
        <p:spPr>
          <a:xfrm>
            <a:off x="6096305" y="5810098"/>
            <a:ext cx="5715000" cy="895198"/>
          </a:xfrm>
          <a:prstGeom prst="rect">
            <a:avLst/>
          </a:prstGeom>
          <a:solidFill>
            <a:srgbClr val="3E92CC">
              <a:alpha val="10000"/>
            </a:srgbClr>
          </a:solidFill>
          <a:ln w="12700">
            <a:solidFill>
              <a:srgbClr val="3E92CC">
                <a:alpha val="30000"/>
              </a:srgbClr>
            </a:solidFill>
            <a:prstDash val="solid"/>
          </a:ln>
        </p:spPr>
      </p:sp>
      <p:sp>
        <p:nvSpPr>
          <p:cNvPr id="50" name="Text 48"/>
          <p:cNvSpPr txBox="1"/>
          <p:nvPr/>
        </p:nvSpPr>
        <p:spPr>
          <a:xfrm>
            <a:off x="6278270" y="5971946"/>
            <a:ext cx="5496458" cy="562356"/>
          </a:xfrm>
          <a:prstGeom prst="rect">
            <a:avLst/>
          </a:prstGeom>
          <a:noFill/>
          <a:ln/>
        </p:spPr>
        <p:txBody>
          <a:bodyPr wrap="square" lIns="0" tIns="0" rIns="0" bIns="0" rtlCol="0" anchor="ctr"/>
          <a:lstStyle/>
          <a:p>
            <a:pPr algn="ctr" indent="0" marL="0">
              <a:buNone/>
            </a:pPr>
            <a:r>
              <a:rPr lang="en-US" sz="1500" b="1" dirty="0">
                <a:solidFill>
                  <a:srgbClr val="0A2463"/>
                </a:solidFill>
                <a:latin typeface="Noto Sans JP" pitchFamily="34" charset="0"/>
                <a:ea typeface="Noto Sans JP" pitchFamily="34" charset="-122"/>
                <a:cs typeface="Noto Sans JP" pitchFamily="34" charset="-120"/>
              </a:rPr>
              <a:t>AI導入で、スピード・精度・コストの"トリプル最適化"が実現します</a:t>
            </a:r>
            <a:endParaRPr lang="en-US" sz="1500" dirty="0"/>
          </a:p>
        </p:txBody>
      </p:sp>
      <p:sp>
        <p:nvSpPr>
          <p:cNvPr id="51" name="Text 49"/>
          <p:cNvSpPr txBox="1"/>
          <p:nvPr/>
        </p:nvSpPr>
        <p:spPr>
          <a:xfrm>
            <a:off x="11726266" y="6705295"/>
            <a:ext cx="200254" cy="228600"/>
          </a:xfrm>
          <a:prstGeom prst="rect">
            <a:avLst/>
          </a:prstGeom>
          <a:noFill/>
          <a:ln/>
        </p:spPr>
        <p:txBody>
          <a:bodyPr wrap="square" lIns="0" tIns="0" rIns="0" bIns="0" rtlCol="0" anchor="ctr"/>
          <a:lstStyle/>
          <a:p>
            <a:pPr algn="r" indent="0" marL="0">
              <a:buNone/>
            </a:pPr>
            <a:r>
              <a:rPr lang="en-US" sz="1200" dirty="0">
                <a:solidFill>
                  <a:srgbClr val="0A2463"/>
                </a:solidFill>
                <a:latin typeface="Noto Sans JP" pitchFamily="34" charset="0"/>
                <a:ea typeface="Noto Sans JP" pitchFamily="34" charset="-122"/>
                <a:cs typeface="Noto Sans JP"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4A90E2">
              <a:alpha val="10000"/>
            </a:srgbClr>
          </a:solidFill>
          <a:ln/>
        </p:spPr>
      </p:sp>
      <p:sp>
        <p:nvSpPr>
          <p:cNvPr id="4" name="Shape 2"/>
          <p:cNvSpPr/>
          <p:nvPr/>
        </p:nvSpPr>
        <p:spPr>
          <a:xfrm>
            <a:off x="952805" y="5429707"/>
            <a:ext cx="1904695" cy="1904695"/>
          </a:xfrm>
          <a:prstGeom prst="rect">
            <a:avLst/>
          </a:prstGeom>
          <a:solidFill>
            <a:srgbClr val="4A90E2">
              <a:alpha val="10000"/>
            </a:srgbClr>
          </a:solidFill>
          <a:ln/>
        </p:spPr>
      </p:sp>
      <p:sp>
        <p:nvSpPr>
          <p:cNvPr id="5" name="Text 3"/>
          <p:cNvSpPr txBox="1"/>
          <p:nvPr/>
        </p:nvSpPr>
        <p:spPr>
          <a:xfrm>
            <a:off x="381305" y="333756"/>
            <a:ext cx="5048402" cy="495605"/>
          </a:xfrm>
          <a:prstGeom prst="rect">
            <a:avLst/>
          </a:prstGeom>
          <a:noFill/>
          <a:ln/>
        </p:spPr>
        <p:txBody>
          <a:bodyPr wrap="square" lIns="0" tIns="0" rIns="0" bIns="0" rtlCol="0" anchor="ctr"/>
          <a:lstStyle/>
          <a:p>
            <a:pPr algn="l" indent="0" marL="0">
              <a:buNone/>
            </a:pPr>
            <a:r>
              <a:rPr lang="en-US" sz="2700" b="1" dirty="0">
                <a:solidFill>
                  <a:srgbClr val="0052CC"/>
                </a:solidFill>
                <a:latin typeface="Noto Sans JP" pitchFamily="34" charset="0"/>
                <a:ea typeface="Noto Sans JP" pitchFamily="34" charset="-122"/>
                <a:cs typeface="Noto Sans JP" pitchFamily="34" charset="-120"/>
              </a:rPr>
              <a:t>導入によるお客様側のメリット</a:t>
            </a:r>
            <a:endParaRPr lang="en-US" sz="2700" dirty="0"/>
          </a:p>
        </p:txBody>
      </p:sp>
      <p:sp>
        <p:nvSpPr>
          <p:cNvPr id="6" name="Shape 4"/>
          <p:cNvSpPr/>
          <p:nvPr/>
        </p:nvSpPr>
        <p:spPr>
          <a:xfrm>
            <a:off x="381305" y="907085"/>
            <a:ext cx="571500" cy="38405"/>
          </a:xfrm>
          <a:prstGeom prst="rect">
            <a:avLst/>
          </a:prstGeom>
          <a:solidFill>
            <a:srgbClr val="4A90E2"/>
          </a:solidFill>
          <a:ln/>
        </p:spPr>
      </p:sp>
      <p:sp>
        <p:nvSpPr>
          <p:cNvPr id="7" name="Shape 5"/>
          <p:cNvSpPr/>
          <p:nvPr/>
        </p:nvSpPr>
        <p:spPr>
          <a:xfrm>
            <a:off x="381305" y="1173175"/>
            <a:ext cx="5410505" cy="685800"/>
          </a:xfrm>
          <a:prstGeom prst="rect">
            <a:avLst/>
          </a:prstGeom>
          <a:solidFill>
            <a:srgbClr val="E3F2FD">
              <a:alpha val="50000"/>
            </a:srgbClr>
          </a:solidFill>
          <a:ln/>
        </p:spPr>
      </p:sp>
      <p:sp>
        <p:nvSpPr>
          <p:cNvPr id="8" name="Shape 6"/>
          <p:cNvSpPr/>
          <p:nvPr/>
        </p:nvSpPr>
        <p:spPr>
          <a:xfrm>
            <a:off x="381305" y="1173175"/>
            <a:ext cx="28346" cy="685800"/>
          </a:xfrm>
          <a:prstGeom prst="rect">
            <a:avLst/>
          </a:prstGeom>
          <a:solidFill>
            <a:srgbClr val="4A90E2"/>
          </a:solidFill>
          <a:ln/>
        </p:spPr>
      </p:sp>
      <p:pic>
        <p:nvPicPr>
          <p:cNvPr id="9" name="Image 0" descr="preencoded.png">    </p:cNvPr>
          <p:cNvPicPr>
            <a:picLocks noChangeAspect="1"/>
          </p:cNvPicPr>
          <p:nvPr/>
        </p:nvPicPr>
        <p:blipFill>
          <a:blip r:embed="rId1"/>
          <a:srcRect l="0" r="0" t="0" b="0"/>
          <a:stretch/>
        </p:blipFill>
        <p:spPr>
          <a:xfrm>
            <a:off x="562356" y="1401775"/>
            <a:ext cx="228600" cy="228600"/>
          </a:xfrm>
          <a:prstGeom prst="rect">
            <a:avLst/>
          </a:prstGeom>
        </p:spPr>
      </p:pic>
      <p:sp>
        <p:nvSpPr>
          <p:cNvPr id="10" name="Text 7"/>
          <p:cNvSpPr txBox="1"/>
          <p:nvPr/>
        </p:nvSpPr>
        <p:spPr>
          <a:xfrm>
            <a:off x="942746" y="1287475"/>
            <a:ext cx="734263"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納期短縮</a:t>
            </a:r>
            <a:endParaRPr lang="en-US" sz="1200" dirty="0"/>
          </a:p>
        </p:txBody>
      </p:sp>
      <p:sp>
        <p:nvSpPr>
          <p:cNvPr id="11" name="Text 8"/>
          <p:cNvSpPr txBox="1"/>
          <p:nvPr/>
        </p:nvSpPr>
        <p:spPr>
          <a:xfrm>
            <a:off x="942746" y="1516075"/>
            <a:ext cx="4153205"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24時間稼働でレスポンス向上 - 対応スピード2倍以上を実現</a:t>
            </a:r>
            <a:endParaRPr lang="en-US" sz="1200" dirty="0"/>
          </a:p>
        </p:txBody>
      </p:sp>
      <p:sp>
        <p:nvSpPr>
          <p:cNvPr id="12" name="Shape 9"/>
          <p:cNvSpPr/>
          <p:nvPr/>
        </p:nvSpPr>
        <p:spPr>
          <a:xfrm>
            <a:off x="381305" y="2011680"/>
            <a:ext cx="5410505" cy="685800"/>
          </a:xfrm>
          <a:prstGeom prst="rect">
            <a:avLst/>
          </a:prstGeom>
          <a:solidFill>
            <a:srgbClr val="E3F2FD">
              <a:alpha val="50000"/>
            </a:srgbClr>
          </a:solidFill>
          <a:ln/>
        </p:spPr>
      </p:sp>
      <p:sp>
        <p:nvSpPr>
          <p:cNvPr id="13" name="Shape 10"/>
          <p:cNvSpPr/>
          <p:nvPr/>
        </p:nvSpPr>
        <p:spPr>
          <a:xfrm>
            <a:off x="381305" y="2011680"/>
            <a:ext cx="28346" cy="685800"/>
          </a:xfrm>
          <a:prstGeom prst="rect">
            <a:avLst/>
          </a:prstGeom>
          <a:solidFill>
            <a:srgbClr val="4A90E2"/>
          </a:solidFill>
          <a:ln/>
        </p:spPr>
      </p:sp>
      <p:pic>
        <p:nvPicPr>
          <p:cNvPr id="14" name="Image 1" descr="preencoded.png">    </p:cNvPr>
          <p:cNvPicPr>
            <a:picLocks noChangeAspect="1"/>
          </p:cNvPicPr>
          <p:nvPr/>
        </p:nvPicPr>
        <p:blipFill>
          <a:blip r:embed="rId2"/>
          <a:srcRect l="0" r="0" t="0" b="0"/>
          <a:stretch/>
        </p:blipFill>
        <p:spPr>
          <a:xfrm>
            <a:off x="562356" y="2240280"/>
            <a:ext cx="228600" cy="228600"/>
          </a:xfrm>
          <a:prstGeom prst="rect">
            <a:avLst/>
          </a:prstGeom>
        </p:spPr>
      </p:pic>
      <p:sp>
        <p:nvSpPr>
          <p:cNvPr id="15" name="Text 11"/>
          <p:cNvSpPr txBox="1"/>
          <p:nvPr/>
        </p:nvSpPr>
        <p:spPr>
          <a:xfrm>
            <a:off x="942746" y="2125980"/>
            <a:ext cx="734263"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品質安定</a:t>
            </a:r>
            <a:endParaRPr lang="en-US" sz="1200" dirty="0"/>
          </a:p>
        </p:txBody>
      </p:sp>
      <p:sp>
        <p:nvSpPr>
          <p:cNvPr id="16" name="Text 12"/>
          <p:cNvSpPr txBox="1"/>
          <p:nvPr/>
        </p:nvSpPr>
        <p:spPr>
          <a:xfrm>
            <a:off x="942746" y="2354580"/>
            <a:ext cx="3600907"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人に依存しない一定精度 - 87%の顧客満足度を維持</a:t>
            </a:r>
            <a:endParaRPr lang="en-US" sz="1200" dirty="0"/>
          </a:p>
        </p:txBody>
      </p:sp>
      <p:sp>
        <p:nvSpPr>
          <p:cNvPr id="17" name="Shape 13"/>
          <p:cNvSpPr/>
          <p:nvPr/>
        </p:nvSpPr>
        <p:spPr>
          <a:xfrm>
            <a:off x="381305" y="2850185"/>
            <a:ext cx="5410505" cy="685800"/>
          </a:xfrm>
          <a:prstGeom prst="rect">
            <a:avLst/>
          </a:prstGeom>
          <a:solidFill>
            <a:srgbClr val="E3F2FD">
              <a:alpha val="50000"/>
            </a:srgbClr>
          </a:solidFill>
          <a:ln/>
        </p:spPr>
      </p:sp>
      <p:sp>
        <p:nvSpPr>
          <p:cNvPr id="18" name="Shape 14"/>
          <p:cNvSpPr/>
          <p:nvPr/>
        </p:nvSpPr>
        <p:spPr>
          <a:xfrm>
            <a:off x="381305" y="2850185"/>
            <a:ext cx="28346" cy="685800"/>
          </a:xfrm>
          <a:prstGeom prst="rect">
            <a:avLst/>
          </a:prstGeom>
          <a:solidFill>
            <a:srgbClr val="4A90E2"/>
          </a:solidFill>
          <a:ln/>
        </p:spPr>
      </p:sp>
      <p:pic>
        <p:nvPicPr>
          <p:cNvPr id="19" name="Image 2" descr="preencoded.png">    </p:cNvPr>
          <p:cNvPicPr>
            <a:picLocks noChangeAspect="1"/>
          </p:cNvPicPr>
          <p:nvPr/>
        </p:nvPicPr>
        <p:blipFill>
          <a:blip r:embed="rId3"/>
          <a:srcRect l="0" r="0" t="0" b="0"/>
          <a:stretch/>
        </p:blipFill>
        <p:spPr>
          <a:xfrm>
            <a:off x="562356" y="3078785"/>
            <a:ext cx="228600" cy="228600"/>
          </a:xfrm>
          <a:prstGeom prst="rect">
            <a:avLst/>
          </a:prstGeom>
        </p:spPr>
      </p:pic>
      <p:sp>
        <p:nvSpPr>
          <p:cNvPr id="20" name="Text 15"/>
          <p:cNvSpPr txBox="1"/>
          <p:nvPr/>
        </p:nvSpPr>
        <p:spPr>
          <a:xfrm>
            <a:off x="942746" y="2964485"/>
            <a:ext cx="1038758"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コスト最適化</a:t>
            </a:r>
            <a:endParaRPr lang="en-US" sz="1200" dirty="0"/>
          </a:p>
        </p:txBody>
      </p:sp>
      <p:sp>
        <p:nvSpPr>
          <p:cNvPr id="21" name="Text 16"/>
          <p:cNvSpPr txBox="1"/>
          <p:nvPr/>
        </p:nvSpPr>
        <p:spPr>
          <a:xfrm>
            <a:off x="942746" y="3193085"/>
            <a:ext cx="3982212"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処理効率化で年間250万円〜430万円のコスト削減を実現</a:t>
            </a:r>
            <a:endParaRPr lang="en-US" sz="1200" dirty="0"/>
          </a:p>
        </p:txBody>
      </p:sp>
      <p:sp>
        <p:nvSpPr>
          <p:cNvPr id="22" name="Shape 17"/>
          <p:cNvSpPr/>
          <p:nvPr/>
        </p:nvSpPr>
        <p:spPr>
          <a:xfrm>
            <a:off x="381305" y="3687775"/>
            <a:ext cx="5410505" cy="685800"/>
          </a:xfrm>
          <a:prstGeom prst="rect">
            <a:avLst/>
          </a:prstGeom>
          <a:solidFill>
            <a:srgbClr val="E3F2FD">
              <a:alpha val="50000"/>
            </a:srgbClr>
          </a:solidFill>
          <a:ln/>
        </p:spPr>
      </p:sp>
      <p:sp>
        <p:nvSpPr>
          <p:cNvPr id="23" name="Shape 18"/>
          <p:cNvSpPr/>
          <p:nvPr/>
        </p:nvSpPr>
        <p:spPr>
          <a:xfrm>
            <a:off x="381305" y="3687775"/>
            <a:ext cx="28346" cy="685800"/>
          </a:xfrm>
          <a:prstGeom prst="rect">
            <a:avLst/>
          </a:prstGeom>
          <a:solidFill>
            <a:srgbClr val="4A90E2"/>
          </a:solidFill>
          <a:ln/>
        </p:spPr>
      </p:sp>
      <p:pic>
        <p:nvPicPr>
          <p:cNvPr id="24" name="Image 3" descr="preencoded.png">    </p:cNvPr>
          <p:cNvPicPr>
            <a:picLocks noChangeAspect="1"/>
          </p:cNvPicPr>
          <p:nvPr/>
        </p:nvPicPr>
        <p:blipFill>
          <a:blip r:embed="rId4"/>
          <a:srcRect l="0" r="0" t="0" b="0"/>
          <a:stretch/>
        </p:blipFill>
        <p:spPr>
          <a:xfrm>
            <a:off x="562356" y="3916375"/>
            <a:ext cx="228600" cy="228600"/>
          </a:xfrm>
          <a:prstGeom prst="rect">
            <a:avLst/>
          </a:prstGeom>
        </p:spPr>
      </p:pic>
      <p:sp>
        <p:nvSpPr>
          <p:cNvPr id="25" name="Text 19"/>
          <p:cNvSpPr txBox="1"/>
          <p:nvPr/>
        </p:nvSpPr>
        <p:spPr>
          <a:xfrm>
            <a:off x="942746" y="3802075"/>
            <a:ext cx="886054"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信頼性向上</a:t>
            </a:r>
            <a:endParaRPr lang="en-US" sz="1200" dirty="0"/>
          </a:p>
        </p:txBody>
      </p:sp>
      <p:sp>
        <p:nvSpPr>
          <p:cNvPr id="26" name="Text 20"/>
          <p:cNvSpPr txBox="1"/>
          <p:nvPr/>
        </p:nvSpPr>
        <p:spPr>
          <a:xfrm>
            <a:off x="942746" y="4030675"/>
            <a:ext cx="3734410"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再現性・トレーサビリティ確保 - ミス発生率80%削減</a:t>
            </a:r>
            <a:endParaRPr lang="en-US" sz="1200" dirty="0"/>
          </a:p>
        </p:txBody>
      </p:sp>
      <p:sp>
        <p:nvSpPr>
          <p:cNvPr id="27" name="Shape 21"/>
          <p:cNvSpPr/>
          <p:nvPr/>
        </p:nvSpPr>
        <p:spPr>
          <a:xfrm>
            <a:off x="381305" y="4526280"/>
            <a:ext cx="5410505" cy="685800"/>
          </a:xfrm>
          <a:prstGeom prst="rect">
            <a:avLst/>
          </a:prstGeom>
          <a:solidFill>
            <a:srgbClr val="E3F2FD">
              <a:alpha val="50000"/>
            </a:srgbClr>
          </a:solidFill>
          <a:ln/>
        </p:spPr>
      </p:sp>
      <p:sp>
        <p:nvSpPr>
          <p:cNvPr id="28" name="Shape 22"/>
          <p:cNvSpPr/>
          <p:nvPr/>
        </p:nvSpPr>
        <p:spPr>
          <a:xfrm>
            <a:off x="381305" y="4526280"/>
            <a:ext cx="28346" cy="685800"/>
          </a:xfrm>
          <a:prstGeom prst="rect">
            <a:avLst/>
          </a:prstGeom>
          <a:solidFill>
            <a:srgbClr val="4A90E2"/>
          </a:solidFill>
          <a:ln/>
        </p:spPr>
      </p:sp>
      <p:pic>
        <p:nvPicPr>
          <p:cNvPr id="29" name="Image 4" descr="preencoded.png">    </p:cNvPr>
          <p:cNvPicPr>
            <a:picLocks noChangeAspect="1"/>
          </p:cNvPicPr>
          <p:nvPr/>
        </p:nvPicPr>
        <p:blipFill>
          <a:blip r:embed="rId5"/>
          <a:srcRect l="-133" r="-133" t="0" b="0"/>
          <a:stretch/>
        </p:blipFill>
        <p:spPr>
          <a:xfrm>
            <a:off x="562356" y="4754880"/>
            <a:ext cx="171907" cy="228600"/>
          </a:xfrm>
          <a:prstGeom prst="rect">
            <a:avLst/>
          </a:prstGeom>
        </p:spPr>
      </p:pic>
      <p:sp>
        <p:nvSpPr>
          <p:cNvPr id="30" name="Text 23"/>
          <p:cNvSpPr txBox="1"/>
          <p:nvPr/>
        </p:nvSpPr>
        <p:spPr>
          <a:xfrm>
            <a:off x="886054" y="4640580"/>
            <a:ext cx="886054"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提案力強化</a:t>
            </a:r>
            <a:endParaRPr lang="en-US" sz="1200" dirty="0"/>
          </a:p>
        </p:txBody>
      </p:sp>
      <p:sp>
        <p:nvSpPr>
          <p:cNvPr id="31" name="Text 24"/>
          <p:cNvSpPr txBox="1"/>
          <p:nvPr/>
        </p:nvSpPr>
        <p:spPr>
          <a:xfrm>
            <a:off x="886054" y="4869180"/>
            <a:ext cx="4353458" cy="228600"/>
          </a:xfrm>
          <a:prstGeom prst="rect">
            <a:avLst/>
          </a:prstGeom>
          <a:noFill/>
          <a:ln/>
        </p:spPr>
        <p:txBody>
          <a:bodyPr wrap="square" lIns="0" tIns="0" rIns="0" bIns="0" rtlCol="0" anchor="ctr"/>
          <a:lstStyle/>
          <a:p>
            <a:pPr algn="l" indent="0" marL="0">
              <a:buNone/>
            </a:pPr>
            <a:r>
              <a:rPr lang="en-US" sz="1200" dirty="0">
                <a:solidFill>
                  <a:srgbClr val="0052CC"/>
                </a:solidFill>
                <a:latin typeface="Noto Sans JP" pitchFamily="34" charset="0"/>
                <a:ea typeface="Noto Sans JP" pitchFamily="34" charset="-122"/>
                <a:cs typeface="Noto Sans JP" pitchFamily="34" charset="-120"/>
              </a:rPr>
              <a:t>人が創造的業務に集中可能 - 年間1,400〜4,200時間の工数削減</a:t>
            </a:r>
            <a:endParaRPr lang="en-US" sz="1200" dirty="0"/>
          </a:p>
        </p:txBody>
      </p:sp>
      <p:sp>
        <p:nvSpPr>
          <p:cNvPr id="32" name="Text 25"/>
          <p:cNvSpPr txBox="1"/>
          <p:nvPr/>
        </p:nvSpPr>
        <p:spPr>
          <a:xfrm>
            <a:off x="7467905" y="467258"/>
            <a:ext cx="3143707" cy="333756"/>
          </a:xfrm>
          <a:prstGeom prst="rect">
            <a:avLst/>
          </a:prstGeom>
          <a:noFill/>
          <a:ln/>
        </p:spPr>
        <p:txBody>
          <a:bodyPr wrap="square" lIns="0" tIns="0" rIns="0" bIns="0" rtlCol="0" anchor="ctr"/>
          <a:lstStyle/>
          <a:p>
            <a:pPr algn="ctr" indent="0" marL="0">
              <a:buNone/>
            </a:pPr>
            <a:r>
              <a:rPr lang="en-US" sz="1800" b="1" dirty="0">
                <a:solidFill>
                  <a:srgbClr val="4A90E2"/>
                </a:solidFill>
                <a:latin typeface="Noto Sans JP" pitchFamily="34" charset="0"/>
                <a:ea typeface="Noto Sans JP" pitchFamily="34" charset="-122"/>
                <a:cs typeface="Noto Sans JP" pitchFamily="34" charset="-120"/>
              </a:rPr>
              <a:t>顧客満足度と業務効率の改善</a:t>
            </a:r>
            <a:endParaRPr lang="en-US" sz="1800" dirty="0"/>
          </a:p>
        </p:txBody>
      </p:sp>
      <p:pic>
        <p:nvPicPr>
          <p:cNvPr id="33" name="Image 5" descr="preencoded.png">    </p:cNvPr>
          <p:cNvPicPr>
            <a:picLocks noChangeAspect="1"/>
          </p:cNvPicPr>
          <p:nvPr/>
        </p:nvPicPr>
        <p:blipFill>
          <a:blip r:embed="rId6"/>
          <a:srcRect l="0" r="0" t="-6" b="-6"/>
          <a:stretch/>
        </p:blipFill>
        <p:spPr>
          <a:xfrm>
            <a:off x="6096305" y="962863"/>
            <a:ext cx="5715000" cy="2667305"/>
          </a:xfrm>
          <a:prstGeom prst="rect">
            <a:avLst/>
          </a:prstGeom>
        </p:spPr>
      </p:pic>
      <p:sp>
        <p:nvSpPr>
          <p:cNvPr id="34" name="Shape 26"/>
          <p:cNvSpPr/>
          <p:nvPr/>
        </p:nvSpPr>
        <p:spPr>
          <a:xfrm>
            <a:off x="6096305" y="3858768"/>
            <a:ext cx="2800807" cy="1076249"/>
          </a:xfrm>
          <a:prstGeom prst="roundRect">
            <a:avLst>
              <a:gd name="adj" fmla="val 3007"/>
            </a:avLst>
          </a:prstGeom>
          <a:solidFill>
            <a:srgbClr val="E3F2FD">
              <a:alpha val="80000"/>
            </a:srgbClr>
          </a:solidFill>
          <a:ln w="12700">
            <a:solidFill>
              <a:srgbClr val="4A90E2">
                <a:alpha val="30000"/>
              </a:srgbClr>
            </a:solidFill>
            <a:prstDash val="solid"/>
          </a:ln>
        </p:spPr>
      </p:sp>
      <p:pic>
        <p:nvPicPr>
          <p:cNvPr id="35" name="Image 6" descr="preencoded.png">    </p:cNvPr>
          <p:cNvPicPr>
            <a:picLocks noChangeAspect="1"/>
          </p:cNvPicPr>
          <p:nvPr/>
        </p:nvPicPr>
        <p:blipFill>
          <a:blip r:embed="rId7"/>
          <a:srcRect l="0" r="0" t="-530" b="-530"/>
          <a:stretch/>
        </p:blipFill>
        <p:spPr>
          <a:xfrm>
            <a:off x="6258154" y="4253789"/>
            <a:ext cx="247802" cy="286207"/>
          </a:xfrm>
          <a:prstGeom prst="rect">
            <a:avLst/>
          </a:prstGeom>
        </p:spPr>
      </p:pic>
      <p:sp>
        <p:nvSpPr>
          <p:cNvPr id="36" name="Text 27"/>
          <p:cNvSpPr txBox="1"/>
          <p:nvPr/>
        </p:nvSpPr>
        <p:spPr>
          <a:xfrm>
            <a:off x="6657746" y="4020617"/>
            <a:ext cx="1157630" cy="247802"/>
          </a:xfrm>
          <a:prstGeom prst="rect">
            <a:avLst/>
          </a:prstGeom>
          <a:noFill/>
          <a:ln/>
        </p:spPr>
        <p:txBody>
          <a:bodyPr wrap="square" lIns="0" tIns="0" rIns="0" bIns="0" rtlCol="0" anchor="ctr"/>
          <a:lstStyle/>
          <a:p>
            <a:pPr algn="l" indent="0" marL="0">
              <a:buNone/>
            </a:pPr>
            <a:r>
              <a:rPr lang="en-US" sz="1300" b="1" dirty="0">
                <a:solidFill>
                  <a:srgbClr val="4A90E2"/>
                </a:solidFill>
                <a:latin typeface="Noto Sans JP" pitchFamily="34" charset="0"/>
                <a:ea typeface="Noto Sans JP" pitchFamily="34" charset="-122"/>
                <a:cs typeface="Noto Sans JP" pitchFamily="34" charset="-120"/>
              </a:rPr>
              <a:t>年間工数削減</a:t>
            </a:r>
            <a:endParaRPr lang="en-US" sz="1300" dirty="0"/>
          </a:p>
        </p:txBody>
      </p:sp>
      <p:sp>
        <p:nvSpPr>
          <p:cNvPr id="37" name="Text 28"/>
          <p:cNvSpPr txBox="1"/>
          <p:nvPr/>
        </p:nvSpPr>
        <p:spPr>
          <a:xfrm>
            <a:off x="6657746" y="4325112"/>
            <a:ext cx="1567282" cy="247802"/>
          </a:xfrm>
          <a:prstGeom prst="rect">
            <a:avLst/>
          </a:prstGeom>
          <a:noFill/>
          <a:ln/>
        </p:spPr>
        <p:txBody>
          <a:bodyPr wrap="square" lIns="0" tIns="0" rIns="0" bIns="0" rtlCol="0" anchor="ctr"/>
          <a:lstStyle/>
          <a:p>
            <a:pPr algn="l" indent="0" marL="0">
              <a:buNone/>
            </a:pPr>
            <a:r>
              <a:rPr lang="en-US" sz="1300" b="1" dirty="0">
                <a:solidFill>
                  <a:srgbClr val="0052CC"/>
                </a:solidFill>
                <a:latin typeface="Noto Sans JP" pitchFamily="34" charset="0"/>
                <a:ea typeface="Noto Sans JP" pitchFamily="34" charset="-122"/>
                <a:cs typeface="Noto Sans JP" pitchFamily="34" charset="-120"/>
              </a:rPr>
              <a:t>1,400〜4,200時間</a:t>
            </a:r>
            <a:endParaRPr lang="en-US" sz="1300" dirty="0"/>
          </a:p>
        </p:txBody>
      </p:sp>
      <p:sp>
        <p:nvSpPr>
          <p:cNvPr id="38" name="Text 29"/>
          <p:cNvSpPr txBox="1"/>
          <p:nvPr/>
        </p:nvSpPr>
        <p:spPr>
          <a:xfrm>
            <a:off x="6657746" y="4582058"/>
            <a:ext cx="767182" cy="191110"/>
          </a:xfrm>
          <a:prstGeom prst="rect">
            <a:avLst/>
          </a:prstGeom>
          <a:noFill/>
          <a:ln/>
        </p:spPr>
        <p:txBody>
          <a:bodyPr wrap="square" lIns="0" tIns="0" rIns="0" bIns="0" rtlCol="0" anchor="ctr"/>
          <a:lstStyle/>
          <a:p>
            <a:pPr algn="l" indent="0" marL="0">
              <a:buNone/>
            </a:pPr>
            <a:r>
              <a:rPr lang="en-US" sz="1000" dirty="0">
                <a:solidFill>
                  <a:srgbClr val="0052CC"/>
                </a:solidFill>
                <a:latin typeface="Noto Sans JP" pitchFamily="34" charset="0"/>
                <a:ea typeface="Noto Sans JP" pitchFamily="34" charset="-122"/>
                <a:cs typeface="Noto Sans JP" pitchFamily="34" charset="-120"/>
              </a:rPr>
              <a:t>実績ベース</a:t>
            </a:r>
            <a:endParaRPr lang="en-US" sz="1000" dirty="0"/>
          </a:p>
        </p:txBody>
      </p:sp>
      <p:sp>
        <p:nvSpPr>
          <p:cNvPr id="39" name="Shape 30"/>
          <p:cNvSpPr/>
          <p:nvPr/>
        </p:nvSpPr>
        <p:spPr>
          <a:xfrm>
            <a:off x="9010498" y="3858768"/>
            <a:ext cx="2800807" cy="1076249"/>
          </a:xfrm>
          <a:prstGeom prst="roundRect">
            <a:avLst>
              <a:gd name="adj" fmla="val 3007"/>
            </a:avLst>
          </a:prstGeom>
          <a:solidFill>
            <a:srgbClr val="E3F2FD">
              <a:alpha val="80000"/>
            </a:srgbClr>
          </a:solidFill>
          <a:ln w="12700">
            <a:solidFill>
              <a:srgbClr val="4A90E2">
                <a:alpha val="30000"/>
              </a:srgbClr>
            </a:solidFill>
            <a:prstDash val="solid"/>
          </a:ln>
        </p:spPr>
      </p:sp>
      <p:pic>
        <p:nvPicPr>
          <p:cNvPr id="40" name="Image 7" descr="preencoded.png">    </p:cNvPr>
          <p:cNvPicPr>
            <a:picLocks noChangeAspect="1"/>
          </p:cNvPicPr>
          <p:nvPr/>
        </p:nvPicPr>
        <p:blipFill>
          <a:blip r:embed="rId8"/>
          <a:srcRect l="0" r="0" t="0" b="0"/>
          <a:stretch/>
        </p:blipFill>
        <p:spPr>
          <a:xfrm>
            <a:off x="9172346" y="4253789"/>
            <a:ext cx="286207" cy="286207"/>
          </a:xfrm>
          <a:prstGeom prst="rect">
            <a:avLst/>
          </a:prstGeom>
        </p:spPr>
      </p:pic>
      <p:sp>
        <p:nvSpPr>
          <p:cNvPr id="41" name="Text 31"/>
          <p:cNvSpPr txBox="1"/>
          <p:nvPr/>
        </p:nvSpPr>
        <p:spPr>
          <a:xfrm>
            <a:off x="9610344" y="4020617"/>
            <a:ext cx="1329538" cy="247802"/>
          </a:xfrm>
          <a:prstGeom prst="rect">
            <a:avLst/>
          </a:prstGeom>
          <a:noFill/>
          <a:ln/>
        </p:spPr>
        <p:txBody>
          <a:bodyPr wrap="square" lIns="0" tIns="0" rIns="0" bIns="0" rtlCol="0" anchor="ctr"/>
          <a:lstStyle/>
          <a:p>
            <a:pPr algn="l" indent="0" marL="0">
              <a:buNone/>
            </a:pPr>
            <a:r>
              <a:rPr lang="en-US" sz="1300" b="1" dirty="0">
                <a:solidFill>
                  <a:srgbClr val="4A90E2"/>
                </a:solidFill>
                <a:latin typeface="Noto Sans JP" pitchFamily="34" charset="0"/>
                <a:ea typeface="Noto Sans JP" pitchFamily="34" charset="-122"/>
                <a:cs typeface="Noto Sans JP" pitchFamily="34" charset="-120"/>
              </a:rPr>
              <a:t>コスト削減効果</a:t>
            </a:r>
            <a:endParaRPr lang="en-US" sz="1300" dirty="0"/>
          </a:p>
        </p:txBody>
      </p:sp>
      <p:sp>
        <p:nvSpPr>
          <p:cNvPr id="42" name="Text 32"/>
          <p:cNvSpPr txBox="1"/>
          <p:nvPr/>
        </p:nvSpPr>
        <p:spPr>
          <a:xfrm>
            <a:off x="9610344" y="4325112"/>
            <a:ext cx="1491386" cy="247802"/>
          </a:xfrm>
          <a:prstGeom prst="rect">
            <a:avLst/>
          </a:prstGeom>
          <a:noFill/>
          <a:ln/>
        </p:spPr>
        <p:txBody>
          <a:bodyPr wrap="square" lIns="0" tIns="0" rIns="0" bIns="0" rtlCol="0" anchor="ctr"/>
          <a:lstStyle/>
          <a:p>
            <a:pPr algn="l" indent="0" marL="0">
              <a:buNone/>
            </a:pPr>
            <a:r>
              <a:rPr lang="en-US" sz="1300" b="1" dirty="0">
                <a:solidFill>
                  <a:srgbClr val="0052CC"/>
                </a:solidFill>
                <a:latin typeface="Noto Sans JP" pitchFamily="34" charset="0"/>
                <a:ea typeface="Noto Sans JP" pitchFamily="34" charset="-122"/>
                <a:cs typeface="Noto Sans JP" pitchFamily="34" charset="-120"/>
              </a:rPr>
              <a:t>250〜430万円/年</a:t>
            </a:r>
            <a:endParaRPr lang="en-US" sz="1300" dirty="0"/>
          </a:p>
        </p:txBody>
      </p:sp>
      <p:sp>
        <p:nvSpPr>
          <p:cNvPr id="43" name="Text 33"/>
          <p:cNvSpPr txBox="1"/>
          <p:nvPr/>
        </p:nvSpPr>
        <p:spPr>
          <a:xfrm>
            <a:off x="9610344" y="4582058"/>
            <a:ext cx="1167689" cy="191110"/>
          </a:xfrm>
          <a:prstGeom prst="rect">
            <a:avLst/>
          </a:prstGeom>
          <a:noFill/>
          <a:ln/>
        </p:spPr>
        <p:txBody>
          <a:bodyPr wrap="square" lIns="0" tIns="0" rIns="0" bIns="0" rtlCol="0" anchor="ctr"/>
          <a:lstStyle/>
          <a:p>
            <a:pPr algn="l" indent="0" marL="0">
              <a:buNone/>
            </a:pPr>
            <a:r>
              <a:rPr lang="en-US" sz="1000" dirty="0">
                <a:solidFill>
                  <a:srgbClr val="0052CC"/>
                </a:solidFill>
                <a:latin typeface="Noto Sans JP" pitchFamily="34" charset="0"/>
                <a:ea typeface="Noto Sans JP" pitchFamily="34" charset="-122"/>
                <a:cs typeface="Noto Sans JP" pitchFamily="34" charset="-120"/>
              </a:rPr>
              <a:t>複数業種での実績</a:t>
            </a:r>
            <a:endParaRPr lang="en-US" sz="1000" dirty="0"/>
          </a:p>
        </p:txBody>
      </p:sp>
      <p:sp>
        <p:nvSpPr>
          <p:cNvPr id="44" name="Text 34"/>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052CC"/>
                </a:solidFill>
                <a:latin typeface="Noto Sans JP" pitchFamily="34" charset="0"/>
                <a:ea typeface="Noto Sans JP" pitchFamily="34" charset="-122"/>
                <a:cs typeface="Noto Sans JP"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81B0E3">
              <a:alpha val="10000"/>
            </a:srgbClr>
          </a:solidFill>
          <a:ln/>
        </p:spPr>
      </p:sp>
      <p:sp>
        <p:nvSpPr>
          <p:cNvPr id="4" name="Shape 2"/>
          <p:cNvSpPr/>
          <p:nvPr/>
        </p:nvSpPr>
        <p:spPr>
          <a:xfrm>
            <a:off x="952805" y="5429707"/>
            <a:ext cx="1904695" cy="1904695"/>
          </a:xfrm>
          <a:prstGeom prst="rect">
            <a:avLst/>
          </a:prstGeom>
          <a:solidFill>
            <a:srgbClr val="81B0E3">
              <a:alpha val="10000"/>
            </a:srgbClr>
          </a:solidFill>
          <a:ln/>
        </p:spPr>
      </p:sp>
      <p:sp>
        <p:nvSpPr>
          <p:cNvPr id="5" name="Text 3"/>
          <p:cNvSpPr txBox="1"/>
          <p:nvPr/>
        </p:nvSpPr>
        <p:spPr>
          <a:xfrm>
            <a:off x="381305" y="860450"/>
            <a:ext cx="5410505" cy="914400"/>
          </a:xfrm>
          <a:prstGeom prst="rect">
            <a:avLst/>
          </a:prstGeom>
          <a:noFill/>
          <a:ln/>
        </p:spPr>
        <p:txBody>
          <a:bodyPr wrap="square" lIns="0" tIns="0" rIns="0" bIns="0" rtlCol="0" anchor="ctr"/>
          <a:lstStyle/>
          <a:p>
            <a:pPr algn="l" indent="0" marL="0">
              <a:buNone/>
            </a:pPr>
            <a:r>
              <a:rPr lang="en-US" sz="2700" b="1" dirty="0">
                <a:solidFill>
                  <a:srgbClr val="0B3C7B"/>
                </a:solidFill>
                <a:latin typeface="Noto Sans JP" pitchFamily="34" charset="0"/>
                <a:ea typeface="Noto Sans JP" pitchFamily="34" charset="-122"/>
                <a:cs typeface="Noto Sans JP" pitchFamily="34" charset="-120"/>
              </a:rPr>
              <a:t>お客様に喜ばれる価値提案の方向性</a:t>
            </a:r>
            <a:endParaRPr lang="en-US" sz="2700" dirty="0"/>
          </a:p>
        </p:txBody>
      </p:sp>
      <p:sp>
        <p:nvSpPr>
          <p:cNvPr id="6" name="Shape 4"/>
          <p:cNvSpPr/>
          <p:nvPr/>
        </p:nvSpPr>
        <p:spPr>
          <a:xfrm>
            <a:off x="381305" y="1845259"/>
            <a:ext cx="571500" cy="38405"/>
          </a:xfrm>
          <a:prstGeom prst="rect">
            <a:avLst/>
          </a:prstGeom>
          <a:solidFill>
            <a:srgbClr val="0052CC"/>
          </a:solidFill>
          <a:ln/>
        </p:spPr>
      </p:sp>
      <p:sp>
        <p:nvSpPr>
          <p:cNvPr id="7" name="Text 5"/>
          <p:cNvSpPr txBox="1"/>
          <p:nvPr/>
        </p:nvSpPr>
        <p:spPr>
          <a:xfrm>
            <a:off x="381305" y="2111350"/>
            <a:ext cx="5438851" cy="4572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AI導入の目的: 単なる効率化ではなく、「お客様満足」と「従業員の創造的働き方」を実現するためのAI活用を提案します</a:t>
            </a:r>
            <a:endParaRPr lang="en-US" sz="1200" dirty="0"/>
          </a:p>
        </p:txBody>
      </p:sp>
      <p:sp>
        <p:nvSpPr>
          <p:cNvPr id="8" name="Text 6"/>
          <p:cNvSpPr txBox="1"/>
          <p:nvPr/>
        </p:nvSpPr>
        <p:spPr>
          <a:xfrm>
            <a:off x="381305" y="2721254"/>
            <a:ext cx="1381658"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価値提案の考え方:</a:t>
            </a:r>
            <a:endParaRPr lang="en-US" sz="1200" dirty="0"/>
          </a:p>
        </p:txBody>
      </p:sp>
      <p:sp>
        <p:nvSpPr>
          <p:cNvPr id="9" name="Text 7"/>
          <p:cNvSpPr txBox="1"/>
          <p:nvPr/>
        </p:nvSpPr>
        <p:spPr>
          <a:xfrm>
            <a:off x="609905" y="3102559"/>
            <a:ext cx="3781958"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お客様の業種・業態・現状課題に合わせたアプローチ</a:t>
            </a:r>
            <a:endParaRPr lang="en-US" sz="1200" dirty="0"/>
          </a:p>
        </p:txBody>
      </p:sp>
      <p:sp>
        <p:nvSpPr>
          <p:cNvPr id="10" name="Text 8"/>
          <p:cNvSpPr txBox="1"/>
          <p:nvPr/>
        </p:nvSpPr>
        <p:spPr>
          <a:xfrm>
            <a:off x="609905" y="3407054"/>
            <a:ext cx="2238451"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AI活用の目的を明確にした提案</a:t>
            </a:r>
            <a:endParaRPr lang="en-US" sz="1200" dirty="0"/>
          </a:p>
        </p:txBody>
      </p:sp>
      <p:sp>
        <p:nvSpPr>
          <p:cNvPr id="11" name="Text 9"/>
          <p:cNvSpPr txBox="1"/>
          <p:nvPr/>
        </p:nvSpPr>
        <p:spPr>
          <a:xfrm>
            <a:off x="609905" y="3711550"/>
            <a:ext cx="2714854"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定量的・定性的な効果測定方法の提示</a:t>
            </a:r>
            <a:endParaRPr lang="en-US" sz="1200" dirty="0"/>
          </a:p>
        </p:txBody>
      </p:sp>
      <p:sp>
        <p:nvSpPr>
          <p:cNvPr id="12" name="Text 10"/>
          <p:cNvSpPr txBox="1"/>
          <p:nvPr/>
        </p:nvSpPr>
        <p:spPr>
          <a:xfrm>
            <a:off x="381305" y="4092854"/>
            <a:ext cx="1524305"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導入による期待効果:</a:t>
            </a:r>
            <a:endParaRPr lang="en-US" sz="1200" dirty="0"/>
          </a:p>
        </p:txBody>
      </p:sp>
      <p:sp>
        <p:nvSpPr>
          <p:cNvPr id="13" name="Text 11"/>
          <p:cNvSpPr txBox="1"/>
          <p:nvPr/>
        </p:nvSpPr>
        <p:spPr>
          <a:xfrm>
            <a:off x="609905" y="4474159"/>
            <a:ext cx="1648663"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業務生産性の大幅向上</a:t>
            </a:r>
            <a:endParaRPr lang="en-US" sz="1200" dirty="0"/>
          </a:p>
        </p:txBody>
      </p:sp>
      <p:sp>
        <p:nvSpPr>
          <p:cNvPr id="14" name="Text 12"/>
          <p:cNvSpPr txBox="1"/>
          <p:nvPr/>
        </p:nvSpPr>
        <p:spPr>
          <a:xfrm>
            <a:off x="609905" y="4778654"/>
            <a:ext cx="3324758"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ヒューマンエラーの削減とサービス品質の向上</a:t>
            </a:r>
            <a:endParaRPr lang="en-US" sz="1200" dirty="0"/>
          </a:p>
        </p:txBody>
      </p:sp>
      <p:sp>
        <p:nvSpPr>
          <p:cNvPr id="15" name="Text 13"/>
          <p:cNvSpPr txBox="1"/>
          <p:nvPr/>
        </p:nvSpPr>
        <p:spPr>
          <a:xfrm>
            <a:off x="609905" y="5083150"/>
            <a:ext cx="2257654"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従業員の創造的業務へのシフト</a:t>
            </a:r>
            <a:endParaRPr lang="en-US" sz="1200" dirty="0"/>
          </a:p>
        </p:txBody>
      </p:sp>
      <p:sp>
        <p:nvSpPr>
          <p:cNvPr id="16" name="Text 14"/>
          <p:cNvSpPr txBox="1"/>
          <p:nvPr/>
        </p:nvSpPr>
        <p:spPr>
          <a:xfrm>
            <a:off x="609905" y="5388559"/>
            <a:ext cx="2105863" cy="228600"/>
          </a:xfrm>
          <a:prstGeom prst="rect">
            <a:avLst/>
          </a:prstGeom>
          <a:noFill/>
          <a:ln/>
        </p:spPr>
        <p:txBody>
          <a:bodyPr wrap="square" lIns="0" tIns="0" rIns="0" bIns="0" rtlCol="0" anchor="ctr"/>
          <a:lstStyle/>
          <a:p>
            <a:pPr algn="l" indent="0" marL="0">
              <a:buNone/>
            </a:pPr>
            <a:r>
              <a:rPr lang="en-US" sz="1200" dirty="0">
                <a:solidFill>
                  <a:srgbClr val="0B3C7B"/>
                </a:solidFill>
                <a:latin typeface="Noto Sans JP" pitchFamily="34" charset="0"/>
                <a:ea typeface="Noto Sans JP" pitchFamily="34" charset="-122"/>
                <a:cs typeface="Noto Sans JP" pitchFamily="34" charset="-120"/>
              </a:rPr>
              <a:t>顧客満足度と企業価値の向上</a:t>
            </a:r>
            <a:endParaRPr lang="en-US" sz="1200" dirty="0"/>
          </a:p>
        </p:txBody>
      </p:sp>
      <p:sp>
        <p:nvSpPr>
          <p:cNvPr id="17" name="Text 15"/>
          <p:cNvSpPr txBox="1"/>
          <p:nvPr/>
        </p:nvSpPr>
        <p:spPr>
          <a:xfrm>
            <a:off x="8044891" y="381305"/>
            <a:ext cx="1991563"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価値提案パターン</a:t>
            </a:r>
            <a:endParaRPr lang="en-US" sz="1800" dirty="0"/>
          </a:p>
        </p:txBody>
      </p:sp>
      <p:sp>
        <p:nvSpPr>
          <p:cNvPr id="18" name="Shape 16"/>
          <p:cNvSpPr/>
          <p:nvPr/>
        </p:nvSpPr>
        <p:spPr>
          <a:xfrm>
            <a:off x="6096305" y="875995"/>
            <a:ext cx="2781605" cy="1476756"/>
          </a:xfrm>
          <a:prstGeom prst="rect">
            <a:avLst/>
          </a:prstGeom>
          <a:solidFill>
            <a:srgbClr val="81B0E3">
              <a:alpha val="10000"/>
            </a:srgbClr>
          </a:solidFill>
          <a:ln w="12700">
            <a:solidFill>
              <a:srgbClr val="0052CC">
                <a:alpha val="30000"/>
              </a:srgbClr>
            </a:solidFill>
            <a:prstDash val="solid"/>
          </a:ln>
        </p:spPr>
      </p:sp>
      <p:pic>
        <p:nvPicPr>
          <p:cNvPr id="19" name="Image 0" descr="preencoded.png">    </p:cNvPr>
          <p:cNvPicPr>
            <a:picLocks noChangeAspect="1"/>
          </p:cNvPicPr>
          <p:nvPr/>
        </p:nvPicPr>
        <p:blipFill>
          <a:blip r:embed="rId1"/>
          <a:srcRect l="0" r="0" t="0" b="0"/>
          <a:stretch/>
        </p:blipFill>
        <p:spPr>
          <a:xfrm>
            <a:off x="7334402" y="1000354"/>
            <a:ext cx="304495" cy="304495"/>
          </a:xfrm>
          <a:prstGeom prst="rect">
            <a:avLst/>
          </a:prstGeom>
        </p:spPr>
      </p:pic>
      <p:sp>
        <p:nvSpPr>
          <p:cNvPr id="20" name="Text 17"/>
          <p:cNvSpPr txBox="1"/>
          <p:nvPr/>
        </p:nvSpPr>
        <p:spPr>
          <a:xfrm>
            <a:off x="6629400" y="1399946"/>
            <a:ext cx="1843430" cy="247802"/>
          </a:xfrm>
          <a:prstGeom prst="rect">
            <a:avLst/>
          </a:prstGeom>
          <a:noFill/>
          <a:ln/>
        </p:spPr>
        <p:txBody>
          <a:bodyPr wrap="square" lIns="0" tIns="0" rIns="0" bIns="0" rtlCol="0" anchor="ctr"/>
          <a:lstStyle/>
          <a:p>
            <a:pPr algn="ctr" indent="0" marL="0">
              <a:buNone/>
            </a:pPr>
            <a:r>
              <a:rPr lang="en-US" sz="1300" b="1" dirty="0">
                <a:solidFill>
                  <a:srgbClr val="0052CC"/>
                </a:solidFill>
                <a:latin typeface="Noto Sans JP" pitchFamily="34" charset="0"/>
                <a:ea typeface="Noto Sans JP" pitchFamily="34" charset="-122"/>
                <a:cs typeface="Noto Sans JP" pitchFamily="34" charset="-120"/>
              </a:rPr>
              <a:t>業務効率・品質安定型</a:t>
            </a:r>
            <a:endParaRPr lang="en-US" sz="1300" dirty="0"/>
          </a:p>
        </p:txBody>
      </p:sp>
      <p:sp>
        <p:nvSpPr>
          <p:cNvPr id="21" name="Text 18"/>
          <p:cNvSpPr txBox="1"/>
          <p:nvPr/>
        </p:nvSpPr>
        <p:spPr>
          <a:xfrm>
            <a:off x="6495898" y="1714500"/>
            <a:ext cx="2105863" cy="22860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スピードと正確性で信頼向上</a:t>
            </a:r>
            <a:endParaRPr lang="en-US" sz="1200" dirty="0"/>
          </a:p>
        </p:txBody>
      </p:sp>
      <p:sp>
        <p:nvSpPr>
          <p:cNvPr id="22" name="Shape 19"/>
          <p:cNvSpPr/>
          <p:nvPr/>
        </p:nvSpPr>
        <p:spPr>
          <a:xfrm>
            <a:off x="9029700" y="875995"/>
            <a:ext cx="2781605" cy="1476756"/>
          </a:xfrm>
          <a:prstGeom prst="rect">
            <a:avLst/>
          </a:prstGeom>
          <a:solidFill>
            <a:srgbClr val="81B0E3">
              <a:alpha val="10000"/>
            </a:srgbClr>
          </a:solidFill>
          <a:ln w="12700">
            <a:solidFill>
              <a:srgbClr val="0052CC">
                <a:alpha val="30000"/>
              </a:srgbClr>
            </a:solidFill>
            <a:prstDash val="solid"/>
          </a:ln>
        </p:spPr>
      </p:sp>
      <p:pic>
        <p:nvPicPr>
          <p:cNvPr id="23" name="Image 1" descr="preencoded.png">    </p:cNvPr>
          <p:cNvPicPr>
            <a:picLocks noChangeAspect="1"/>
          </p:cNvPicPr>
          <p:nvPr/>
        </p:nvPicPr>
        <p:blipFill>
          <a:blip r:embed="rId2"/>
          <a:srcRect l="-90" r="-90" t="0" b="0"/>
          <a:stretch/>
        </p:blipFill>
        <p:spPr>
          <a:xfrm>
            <a:off x="10230307" y="1000354"/>
            <a:ext cx="381305" cy="304495"/>
          </a:xfrm>
          <a:prstGeom prst="rect">
            <a:avLst/>
          </a:prstGeom>
        </p:spPr>
      </p:pic>
      <p:sp>
        <p:nvSpPr>
          <p:cNvPr id="24" name="Text 20"/>
          <p:cNvSpPr txBox="1"/>
          <p:nvPr/>
        </p:nvSpPr>
        <p:spPr>
          <a:xfrm>
            <a:off x="9908438" y="1399946"/>
            <a:ext cx="1157630" cy="247802"/>
          </a:xfrm>
          <a:prstGeom prst="rect">
            <a:avLst/>
          </a:prstGeom>
          <a:noFill/>
          <a:ln/>
        </p:spPr>
        <p:txBody>
          <a:bodyPr wrap="square" lIns="0" tIns="0" rIns="0" bIns="0" rtlCol="0" anchor="ctr"/>
          <a:lstStyle/>
          <a:p>
            <a:pPr algn="ctr" indent="0" marL="0">
              <a:buNone/>
            </a:pPr>
            <a:r>
              <a:rPr lang="en-US" sz="1300" b="1" dirty="0">
                <a:solidFill>
                  <a:srgbClr val="0052CC"/>
                </a:solidFill>
                <a:latin typeface="Noto Sans JP" pitchFamily="34" charset="0"/>
                <a:ea typeface="Noto Sans JP" pitchFamily="34" charset="-122"/>
                <a:cs typeface="Noto Sans JP" pitchFamily="34" charset="-120"/>
              </a:rPr>
              <a:t>人×AI協働型</a:t>
            </a:r>
            <a:endParaRPr lang="en-US" sz="1300" dirty="0"/>
          </a:p>
        </p:txBody>
      </p:sp>
      <p:sp>
        <p:nvSpPr>
          <p:cNvPr id="25" name="Text 21"/>
          <p:cNvSpPr txBox="1"/>
          <p:nvPr/>
        </p:nvSpPr>
        <p:spPr>
          <a:xfrm>
            <a:off x="9208922" y="1714500"/>
            <a:ext cx="2543861" cy="41971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AIが支え、人が提案する新連携モデル</a:t>
            </a:r>
            <a:endParaRPr lang="en-US" sz="1200" dirty="0"/>
          </a:p>
        </p:txBody>
      </p:sp>
      <p:sp>
        <p:nvSpPr>
          <p:cNvPr id="26" name="Shape 22"/>
          <p:cNvSpPr/>
          <p:nvPr/>
        </p:nvSpPr>
        <p:spPr>
          <a:xfrm>
            <a:off x="6096305" y="2505456"/>
            <a:ext cx="2781605" cy="1476756"/>
          </a:xfrm>
          <a:prstGeom prst="rect">
            <a:avLst/>
          </a:prstGeom>
          <a:solidFill>
            <a:srgbClr val="81B0E3">
              <a:alpha val="10000"/>
            </a:srgbClr>
          </a:solidFill>
          <a:ln w="12700">
            <a:solidFill>
              <a:srgbClr val="0052CC">
                <a:alpha val="30000"/>
              </a:srgbClr>
            </a:solidFill>
            <a:prstDash val="solid"/>
          </a:ln>
        </p:spPr>
      </p:sp>
      <p:pic>
        <p:nvPicPr>
          <p:cNvPr id="27" name="Image 2" descr="preencoded.png">    </p:cNvPr>
          <p:cNvPicPr>
            <a:picLocks noChangeAspect="1"/>
          </p:cNvPicPr>
          <p:nvPr/>
        </p:nvPicPr>
        <p:blipFill>
          <a:blip r:embed="rId3"/>
          <a:srcRect l="0" r="0" t="0" b="0"/>
          <a:stretch/>
        </p:blipFill>
        <p:spPr>
          <a:xfrm>
            <a:off x="7334402" y="2628900"/>
            <a:ext cx="304495" cy="304495"/>
          </a:xfrm>
          <a:prstGeom prst="rect">
            <a:avLst/>
          </a:prstGeom>
        </p:spPr>
      </p:pic>
      <p:sp>
        <p:nvSpPr>
          <p:cNvPr id="28" name="Text 23"/>
          <p:cNvSpPr txBox="1"/>
          <p:nvPr/>
        </p:nvSpPr>
        <p:spPr>
          <a:xfrm>
            <a:off x="6458407" y="3029407"/>
            <a:ext cx="2186330" cy="247802"/>
          </a:xfrm>
          <a:prstGeom prst="rect">
            <a:avLst/>
          </a:prstGeom>
          <a:noFill/>
          <a:ln/>
        </p:spPr>
        <p:txBody>
          <a:bodyPr wrap="square" lIns="0" tIns="0" rIns="0" bIns="0" rtlCol="0" anchor="ctr"/>
          <a:lstStyle/>
          <a:p>
            <a:pPr algn="ctr" indent="0" marL="0">
              <a:buNone/>
            </a:pPr>
            <a:r>
              <a:rPr lang="en-US" sz="1300" b="1" dirty="0">
                <a:solidFill>
                  <a:srgbClr val="0052CC"/>
                </a:solidFill>
                <a:latin typeface="Noto Sans JP" pitchFamily="34" charset="0"/>
                <a:ea typeface="Noto Sans JP" pitchFamily="34" charset="-122"/>
                <a:cs typeface="Noto Sans JP" pitchFamily="34" charset="-120"/>
              </a:rPr>
              <a:t>コスト最適・成果最大化型</a:t>
            </a:r>
            <a:endParaRPr lang="en-US" sz="1300" dirty="0"/>
          </a:p>
        </p:txBody>
      </p:sp>
      <p:sp>
        <p:nvSpPr>
          <p:cNvPr id="29" name="Text 24"/>
          <p:cNvSpPr txBox="1"/>
          <p:nvPr/>
        </p:nvSpPr>
        <p:spPr>
          <a:xfrm>
            <a:off x="6270955" y="3343046"/>
            <a:ext cx="2553005" cy="41971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少ないリソースで高いパフォーマンス</a:t>
            </a:r>
            <a:endParaRPr lang="en-US" sz="1200" dirty="0"/>
          </a:p>
        </p:txBody>
      </p:sp>
      <p:sp>
        <p:nvSpPr>
          <p:cNvPr id="30" name="Shape 25"/>
          <p:cNvSpPr/>
          <p:nvPr/>
        </p:nvSpPr>
        <p:spPr>
          <a:xfrm>
            <a:off x="9029700" y="2505456"/>
            <a:ext cx="2781605" cy="1476756"/>
          </a:xfrm>
          <a:prstGeom prst="rect">
            <a:avLst/>
          </a:prstGeom>
          <a:solidFill>
            <a:srgbClr val="81B0E3">
              <a:alpha val="10000"/>
            </a:srgbClr>
          </a:solidFill>
          <a:ln w="12700">
            <a:solidFill>
              <a:srgbClr val="0052CC">
                <a:alpha val="30000"/>
              </a:srgbClr>
            </a:solidFill>
            <a:prstDash val="solid"/>
          </a:ln>
        </p:spPr>
      </p:sp>
      <p:pic>
        <p:nvPicPr>
          <p:cNvPr id="31" name="Image 3" descr="preencoded.png">    </p:cNvPr>
          <p:cNvPicPr>
            <a:picLocks noChangeAspect="1"/>
          </p:cNvPicPr>
          <p:nvPr/>
        </p:nvPicPr>
        <p:blipFill>
          <a:blip r:embed="rId4"/>
          <a:srcRect l="0" r="0" t="0" b="0"/>
          <a:stretch/>
        </p:blipFill>
        <p:spPr>
          <a:xfrm>
            <a:off x="10267798" y="2628900"/>
            <a:ext cx="304495" cy="304495"/>
          </a:xfrm>
          <a:prstGeom prst="rect">
            <a:avLst/>
          </a:prstGeom>
        </p:spPr>
      </p:pic>
      <p:sp>
        <p:nvSpPr>
          <p:cNvPr id="32" name="Text 26"/>
          <p:cNvSpPr txBox="1"/>
          <p:nvPr/>
        </p:nvSpPr>
        <p:spPr>
          <a:xfrm>
            <a:off x="9991649" y="3029407"/>
            <a:ext cx="986638" cy="247802"/>
          </a:xfrm>
          <a:prstGeom prst="rect">
            <a:avLst/>
          </a:prstGeom>
          <a:noFill/>
          <a:ln/>
        </p:spPr>
        <p:txBody>
          <a:bodyPr wrap="square" lIns="0" tIns="0" rIns="0" bIns="0" rtlCol="0" anchor="ctr"/>
          <a:lstStyle/>
          <a:p>
            <a:pPr algn="ctr" indent="0" marL="0">
              <a:buNone/>
            </a:pPr>
            <a:r>
              <a:rPr lang="en-US" sz="1300" b="1" dirty="0">
                <a:solidFill>
                  <a:srgbClr val="0052CC"/>
                </a:solidFill>
                <a:latin typeface="Noto Sans JP" pitchFamily="34" charset="0"/>
                <a:ea typeface="Noto Sans JP" pitchFamily="34" charset="-122"/>
                <a:cs typeface="Noto Sans JP" pitchFamily="34" charset="-120"/>
              </a:rPr>
              <a:t>安定運用型</a:t>
            </a:r>
            <a:endParaRPr lang="en-US" sz="1300" dirty="0"/>
          </a:p>
        </p:txBody>
      </p:sp>
      <p:sp>
        <p:nvSpPr>
          <p:cNvPr id="33" name="Text 27"/>
          <p:cNvSpPr txBox="1"/>
          <p:nvPr/>
        </p:nvSpPr>
        <p:spPr>
          <a:xfrm>
            <a:off x="9353398" y="3343046"/>
            <a:ext cx="2257654" cy="22860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担当変更や繁忙期でも品質維持</a:t>
            </a:r>
            <a:endParaRPr lang="en-US" sz="1200" dirty="0"/>
          </a:p>
        </p:txBody>
      </p:sp>
      <p:sp>
        <p:nvSpPr>
          <p:cNvPr id="34" name="Shape 28"/>
          <p:cNvSpPr/>
          <p:nvPr/>
        </p:nvSpPr>
        <p:spPr>
          <a:xfrm>
            <a:off x="6096305" y="4134002"/>
            <a:ext cx="5715000" cy="2009851"/>
          </a:xfrm>
          <a:prstGeom prst="rect">
            <a:avLst/>
          </a:prstGeom>
          <a:solidFill>
            <a:srgbClr val="81B0E3">
              <a:alpha val="10000"/>
            </a:srgbClr>
          </a:solidFill>
          <a:ln w="12700">
            <a:solidFill>
              <a:srgbClr val="0052CC">
                <a:alpha val="30000"/>
              </a:srgbClr>
            </a:solidFill>
            <a:prstDash val="solid"/>
          </a:ln>
        </p:spPr>
      </p:sp>
      <p:pic>
        <p:nvPicPr>
          <p:cNvPr id="35" name="Image 4" descr="preencoded.png">    </p:cNvPr>
          <p:cNvPicPr>
            <a:picLocks noChangeAspect="1"/>
          </p:cNvPicPr>
          <p:nvPr/>
        </p:nvPicPr>
        <p:blipFill>
          <a:blip r:embed="rId5"/>
          <a:srcRect l="0" r="0" t="0" b="0"/>
          <a:stretch/>
        </p:blipFill>
        <p:spPr>
          <a:xfrm>
            <a:off x="8801100" y="4257446"/>
            <a:ext cx="304495" cy="304495"/>
          </a:xfrm>
          <a:prstGeom prst="rect">
            <a:avLst/>
          </a:prstGeom>
        </p:spPr>
      </p:pic>
      <p:sp>
        <p:nvSpPr>
          <p:cNvPr id="36" name="Text 29"/>
          <p:cNvSpPr txBox="1"/>
          <p:nvPr/>
        </p:nvSpPr>
        <p:spPr>
          <a:xfrm>
            <a:off x="8524951" y="4657954"/>
            <a:ext cx="986638" cy="247802"/>
          </a:xfrm>
          <a:prstGeom prst="rect">
            <a:avLst/>
          </a:prstGeom>
          <a:noFill/>
          <a:ln/>
        </p:spPr>
        <p:txBody>
          <a:bodyPr wrap="square" lIns="0" tIns="0" rIns="0" bIns="0" rtlCol="0" anchor="ctr"/>
          <a:lstStyle/>
          <a:p>
            <a:pPr algn="ctr" indent="0" marL="0">
              <a:buNone/>
            </a:pPr>
            <a:r>
              <a:rPr lang="en-US" sz="1300" b="1" dirty="0">
                <a:solidFill>
                  <a:srgbClr val="0052CC"/>
                </a:solidFill>
                <a:latin typeface="Noto Sans JP" pitchFamily="34" charset="0"/>
                <a:ea typeface="Noto Sans JP" pitchFamily="34" charset="-122"/>
                <a:cs typeface="Noto Sans JP" pitchFamily="34" charset="-120"/>
              </a:rPr>
              <a:t>未来志向型</a:t>
            </a:r>
            <a:endParaRPr lang="en-US" sz="1300" dirty="0"/>
          </a:p>
        </p:txBody>
      </p:sp>
      <p:sp>
        <p:nvSpPr>
          <p:cNvPr id="37" name="Text 30"/>
          <p:cNvSpPr txBox="1"/>
          <p:nvPr/>
        </p:nvSpPr>
        <p:spPr>
          <a:xfrm>
            <a:off x="7515454" y="4972507"/>
            <a:ext cx="2991002" cy="22860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AIを活かして提案スピード・価値を高める</a:t>
            </a:r>
            <a:endParaRPr lang="en-US" sz="1200" dirty="0"/>
          </a:p>
        </p:txBody>
      </p:sp>
      <p:sp>
        <p:nvSpPr>
          <p:cNvPr id="38" name="Shape 31"/>
          <p:cNvSpPr/>
          <p:nvPr/>
        </p:nvSpPr>
        <p:spPr>
          <a:xfrm>
            <a:off x="6096305" y="6295644"/>
            <a:ext cx="5715000" cy="609905"/>
          </a:xfrm>
          <a:prstGeom prst="rect">
            <a:avLst/>
          </a:prstGeom>
          <a:solidFill>
            <a:srgbClr val="81B0E3">
              <a:alpha val="10000"/>
            </a:srgbClr>
          </a:solidFill>
          <a:ln/>
        </p:spPr>
      </p:sp>
      <p:sp>
        <p:nvSpPr>
          <p:cNvPr id="39" name="Shape 32"/>
          <p:cNvSpPr/>
          <p:nvPr/>
        </p:nvSpPr>
        <p:spPr>
          <a:xfrm>
            <a:off x="6096305" y="6295644"/>
            <a:ext cx="28346" cy="609905"/>
          </a:xfrm>
          <a:prstGeom prst="rect">
            <a:avLst/>
          </a:prstGeom>
          <a:solidFill>
            <a:srgbClr val="0052CC"/>
          </a:solidFill>
          <a:ln/>
        </p:spPr>
      </p:sp>
      <p:sp>
        <p:nvSpPr>
          <p:cNvPr id="40" name="Text 33"/>
          <p:cNvSpPr txBox="1"/>
          <p:nvPr/>
        </p:nvSpPr>
        <p:spPr>
          <a:xfrm>
            <a:off x="6266383" y="6372454"/>
            <a:ext cx="5524805" cy="457200"/>
          </a:xfrm>
          <a:prstGeom prst="rect">
            <a:avLst/>
          </a:prstGeom>
          <a:noFill/>
          <a:ln/>
        </p:spPr>
        <p:txBody>
          <a:bodyPr wrap="square" lIns="0" tIns="0" rIns="0" bIns="0" rtlCol="0" anchor="ctr"/>
          <a:lstStyle/>
          <a:p>
            <a:pPr algn="ctr" indent="0" marL="0">
              <a:buNone/>
            </a:pPr>
            <a:r>
              <a:rPr lang="en-US" sz="1200" dirty="0">
                <a:solidFill>
                  <a:srgbClr val="0B3C7B"/>
                </a:solidFill>
                <a:latin typeface="Noto Sans JP" pitchFamily="34" charset="0"/>
                <a:ea typeface="Noto Sans JP" pitchFamily="34" charset="-122"/>
                <a:cs typeface="Noto Sans JP" pitchFamily="34" charset="-120"/>
              </a:rPr>
              <a:t>重要ポイント: お客様の状況に合わせて最適な提案パターンを組み合わせ、価値最大化を実現します</a:t>
            </a:r>
            <a:endParaRPr lang="en-US" sz="1200" dirty="0"/>
          </a:p>
        </p:txBody>
      </p:sp>
      <p:sp>
        <p:nvSpPr>
          <p:cNvPr id="41" name="Text 34"/>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052CC"/>
                </a:solidFill>
                <a:latin typeface="Noto Sans JP" pitchFamily="34" charset="0"/>
                <a:ea typeface="Noto Sans JP" pitchFamily="34" charset="-122"/>
                <a:cs typeface="Noto Sans JP"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3E92CC">
              <a:alpha val="10000"/>
            </a:srgbClr>
          </a:solidFill>
          <a:ln/>
        </p:spPr>
      </p:sp>
      <p:sp>
        <p:nvSpPr>
          <p:cNvPr id="4" name="Shape 2"/>
          <p:cNvSpPr/>
          <p:nvPr/>
        </p:nvSpPr>
        <p:spPr>
          <a:xfrm>
            <a:off x="952805" y="5429707"/>
            <a:ext cx="1904695" cy="1904695"/>
          </a:xfrm>
          <a:prstGeom prst="rect">
            <a:avLst/>
          </a:prstGeom>
          <a:solidFill>
            <a:srgbClr val="3E92CC">
              <a:alpha val="10000"/>
            </a:srgbClr>
          </a:solidFill>
          <a:ln/>
        </p:spPr>
      </p:sp>
      <p:sp>
        <p:nvSpPr>
          <p:cNvPr id="5" name="Text 3"/>
          <p:cNvSpPr txBox="1"/>
          <p:nvPr/>
        </p:nvSpPr>
        <p:spPr>
          <a:xfrm>
            <a:off x="381305" y="898855"/>
            <a:ext cx="2667305" cy="495605"/>
          </a:xfrm>
          <a:prstGeom prst="rect">
            <a:avLst/>
          </a:prstGeom>
          <a:noFill/>
          <a:ln/>
        </p:spPr>
        <p:txBody>
          <a:bodyPr wrap="square" lIns="0" tIns="0" rIns="0" bIns="0" rtlCol="0" anchor="ctr"/>
          <a:lstStyle/>
          <a:p>
            <a:pPr algn="l" indent="0" marL="0">
              <a:buNone/>
            </a:pPr>
            <a:r>
              <a:rPr lang="en-US" sz="2700" b="1" dirty="0">
                <a:solidFill>
                  <a:srgbClr val="0A2463"/>
                </a:solidFill>
                <a:latin typeface="Noto Sans JP" pitchFamily="34" charset="0"/>
                <a:ea typeface="Noto Sans JP" pitchFamily="34" charset="-122"/>
                <a:cs typeface="Noto Sans JP" pitchFamily="34" charset="-120"/>
              </a:rPr>
              <a:t>懸念点と解決策</a:t>
            </a:r>
            <a:endParaRPr lang="en-US" sz="2700" dirty="0"/>
          </a:p>
        </p:txBody>
      </p:sp>
      <p:sp>
        <p:nvSpPr>
          <p:cNvPr id="6" name="Shape 4"/>
          <p:cNvSpPr/>
          <p:nvPr/>
        </p:nvSpPr>
        <p:spPr>
          <a:xfrm>
            <a:off x="381305" y="1472184"/>
            <a:ext cx="571500" cy="38405"/>
          </a:xfrm>
          <a:prstGeom prst="rect">
            <a:avLst/>
          </a:prstGeom>
          <a:solidFill>
            <a:srgbClr val="3E92CC"/>
          </a:solidFill>
          <a:ln/>
        </p:spPr>
      </p:sp>
      <p:sp>
        <p:nvSpPr>
          <p:cNvPr id="7" name="Text 5"/>
          <p:cNvSpPr txBox="1"/>
          <p:nvPr/>
        </p:nvSpPr>
        <p:spPr>
          <a:xfrm>
            <a:off x="381305" y="1739189"/>
            <a:ext cx="5401361" cy="4572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AI導入時によくある懸念事項： お客様からいただく4つの主な懸念事項とその対応策をまとめました</a:t>
            </a:r>
            <a:endParaRPr lang="en-US" sz="1200" dirty="0"/>
          </a:p>
        </p:txBody>
      </p:sp>
      <p:sp>
        <p:nvSpPr>
          <p:cNvPr id="8" name="Text 6"/>
          <p:cNvSpPr txBox="1"/>
          <p:nvPr/>
        </p:nvSpPr>
        <p:spPr>
          <a:xfrm>
            <a:off x="381305" y="2349094"/>
            <a:ext cx="1343254"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基本的な考え方：</a:t>
            </a:r>
            <a:endParaRPr lang="en-US" sz="1200" dirty="0"/>
          </a:p>
        </p:txBody>
      </p:sp>
      <p:sp>
        <p:nvSpPr>
          <p:cNvPr id="9" name="Text 7"/>
          <p:cNvSpPr txBox="1"/>
          <p:nvPr/>
        </p:nvSpPr>
        <p:spPr>
          <a:xfrm>
            <a:off x="609905" y="2729484"/>
            <a:ext cx="3162910"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人間の判断が最終的に重要である点を明確化</a:t>
            </a:r>
            <a:endParaRPr lang="en-US" sz="1200" dirty="0"/>
          </a:p>
        </p:txBody>
      </p:sp>
      <p:sp>
        <p:nvSpPr>
          <p:cNvPr id="10" name="Text 8"/>
          <p:cNvSpPr txBox="1"/>
          <p:nvPr/>
        </p:nvSpPr>
        <p:spPr>
          <a:xfrm>
            <a:off x="609905" y="3034894"/>
            <a:ext cx="2563063"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段階的な導入で効果と安全性を確認</a:t>
            </a:r>
            <a:endParaRPr lang="en-US" sz="1200" dirty="0"/>
          </a:p>
        </p:txBody>
      </p:sp>
      <p:sp>
        <p:nvSpPr>
          <p:cNvPr id="11" name="Text 9"/>
          <p:cNvSpPr txBox="1"/>
          <p:nvPr/>
        </p:nvSpPr>
        <p:spPr>
          <a:xfrm>
            <a:off x="609905" y="3339389"/>
            <a:ext cx="2791663"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常に改善し続けるPDCAサイクルの確立</a:t>
            </a:r>
            <a:endParaRPr lang="en-US" sz="1200" dirty="0"/>
          </a:p>
        </p:txBody>
      </p:sp>
      <p:sp>
        <p:nvSpPr>
          <p:cNvPr id="12" name="Text 10"/>
          <p:cNvSpPr txBox="1"/>
          <p:nvPr/>
        </p:nvSpPr>
        <p:spPr>
          <a:xfrm>
            <a:off x="609905" y="3643884"/>
            <a:ext cx="2410358"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人間の価値を高める方向での活用</a:t>
            </a:r>
            <a:endParaRPr lang="en-US" sz="1200" dirty="0"/>
          </a:p>
        </p:txBody>
      </p:sp>
      <p:sp>
        <p:nvSpPr>
          <p:cNvPr id="13" name="Shape 11"/>
          <p:cNvSpPr/>
          <p:nvPr/>
        </p:nvSpPr>
        <p:spPr>
          <a:xfrm>
            <a:off x="381305" y="4025189"/>
            <a:ext cx="5410505" cy="838505"/>
          </a:xfrm>
          <a:prstGeom prst="roundRect">
            <a:avLst>
              <a:gd name="adj" fmla="val 9914"/>
            </a:avLst>
          </a:prstGeom>
          <a:solidFill>
            <a:srgbClr val="3E92CC">
              <a:alpha val="10000"/>
            </a:srgbClr>
          </a:solidFill>
          <a:ln w="12700">
            <a:solidFill>
              <a:srgbClr val="3E92CC"/>
            </a:solidFill>
            <a:prstDash val="solid"/>
          </a:ln>
        </p:spPr>
      </p:sp>
      <p:sp>
        <p:nvSpPr>
          <p:cNvPr id="14" name="Text 12"/>
          <p:cNvSpPr txBox="1"/>
          <p:nvPr/>
        </p:nvSpPr>
        <p:spPr>
          <a:xfrm>
            <a:off x="577901" y="4187038"/>
            <a:ext cx="5148986" cy="505663"/>
          </a:xfrm>
          <a:prstGeom prst="rect">
            <a:avLst/>
          </a:prstGeom>
          <a:noFill/>
          <a:ln/>
        </p:spPr>
        <p:txBody>
          <a:bodyPr wrap="square" lIns="0" tIns="0" rIns="0" bIns="0" rtlCol="0" anchor="ctr"/>
          <a:lstStyle/>
          <a:p>
            <a:pPr algn="ctr" indent="0" marL="0">
              <a:buNone/>
            </a:pPr>
            <a:r>
              <a:rPr lang="en-US" sz="1300" b="1" dirty="0">
                <a:solidFill>
                  <a:srgbClr val="0A2463"/>
                </a:solidFill>
                <a:latin typeface="Noto Sans JP" pitchFamily="34" charset="0"/>
                <a:ea typeface="Noto Sans JP" pitchFamily="34" charset="-122"/>
                <a:cs typeface="Noto Sans JP" pitchFamily="34" charset="-120"/>
              </a:rPr>
              <a:t>「AIが"冷たい"のではなく、"人が冷たくならずに済む"ための導入です」</a:t>
            </a:r>
            <a:endParaRPr lang="en-US" sz="1300" dirty="0"/>
          </a:p>
        </p:txBody>
      </p:sp>
      <p:sp>
        <p:nvSpPr>
          <p:cNvPr id="15" name="Text 13"/>
          <p:cNvSpPr txBox="1"/>
          <p:nvPr/>
        </p:nvSpPr>
        <p:spPr>
          <a:xfrm>
            <a:off x="7696505" y="381305"/>
            <a:ext cx="2686507" cy="333756"/>
          </a:xfrm>
          <a:prstGeom prst="rect">
            <a:avLst/>
          </a:prstGeom>
          <a:noFill/>
          <a:ln/>
        </p:spPr>
        <p:txBody>
          <a:bodyPr wrap="square" lIns="0" tIns="0" rIns="0" bIns="0" rtlCol="0" anchor="ctr"/>
          <a:lstStyle/>
          <a:p>
            <a:pPr algn="ctr" indent="0" marL="0">
              <a:buNone/>
            </a:pPr>
            <a:r>
              <a:rPr lang="en-US" sz="1800" b="1" dirty="0">
                <a:solidFill>
                  <a:srgbClr val="3E92CC"/>
                </a:solidFill>
                <a:latin typeface="Noto Sans JP" pitchFamily="34" charset="0"/>
                <a:ea typeface="Noto Sans JP" pitchFamily="34" charset="-122"/>
                <a:cs typeface="Noto Sans JP" pitchFamily="34" charset="-120"/>
              </a:rPr>
              <a:t>想定される懸念と対応策</a:t>
            </a:r>
            <a:endParaRPr lang="en-US" sz="1800" dirty="0"/>
          </a:p>
        </p:txBody>
      </p:sp>
      <p:sp>
        <p:nvSpPr>
          <p:cNvPr id="16" name="Shape 14"/>
          <p:cNvSpPr/>
          <p:nvPr/>
        </p:nvSpPr>
        <p:spPr>
          <a:xfrm>
            <a:off x="6100877" y="881482"/>
            <a:ext cx="2857500" cy="466344"/>
          </a:xfrm>
          <a:prstGeom prst="rect">
            <a:avLst/>
          </a:prstGeom>
          <a:solidFill>
            <a:srgbClr val="3E92CC">
              <a:alpha val="20000"/>
            </a:srgbClr>
          </a:solidFill>
          <a:ln w="12700">
            <a:solidFill>
              <a:srgbClr val="3E92CC"/>
            </a:solidFill>
            <a:prstDash val="solid"/>
          </a:ln>
        </p:spPr>
      </p:sp>
      <p:sp>
        <p:nvSpPr>
          <p:cNvPr id="17" name="Text 15"/>
          <p:cNvSpPr txBox="1"/>
          <p:nvPr/>
        </p:nvSpPr>
        <p:spPr>
          <a:xfrm>
            <a:off x="6993331" y="1000354"/>
            <a:ext cx="1191463"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想定される懸念</a:t>
            </a:r>
            <a:endParaRPr lang="en-US" sz="1200" dirty="0"/>
          </a:p>
        </p:txBody>
      </p:sp>
      <p:sp>
        <p:nvSpPr>
          <p:cNvPr id="18" name="Shape 16"/>
          <p:cNvSpPr/>
          <p:nvPr/>
        </p:nvSpPr>
        <p:spPr>
          <a:xfrm>
            <a:off x="8953805" y="881482"/>
            <a:ext cx="2857500" cy="466344"/>
          </a:xfrm>
          <a:prstGeom prst="rect">
            <a:avLst/>
          </a:prstGeom>
          <a:solidFill>
            <a:srgbClr val="3E92CC">
              <a:alpha val="20000"/>
            </a:srgbClr>
          </a:solidFill>
          <a:ln w="12700">
            <a:solidFill>
              <a:srgbClr val="3E92CC"/>
            </a:solidFill>
            <a:prstDash val="solid"/>
          </a:ln>
        </p:spPr>
      </p:sp>
      <p:sp>
        <p:nvSpPr>
          <p:cNvPr id="19" name="Text 17"/>
          <p:cNvSpPr txBox="1"/>
          <p:nvPr/>
        </p:nvSpPr>
        <p:spPr>
          <a:xfrm>
            <a:off x="10150754" y="1000354"/>
            <a:ext cx="581558"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対応策</a:t>
            </a:r>
            <a:endParaRPr lang="en-US" sz="1200" dirty="0"/>
          </a:p>
        </p:txBody>
      </p:sp>
      <p:sp>
        <p:nvSpPr>
          <p:cNvPr id="20" name="Shape 18"/>
          <p:cNvSpPr/>
          <p:nvPr/>
        </p:nvSpPr>
        <p:spPr>
          <a:xfrm>
            <a:off x="6100877" y="1347826"/>
            <a:ext cx="2857500" cy="694944"/>
          </a:xfrm>
          <a:prstGeom prst="rect">
            <a:avLst/>
          </a:prstGeom>
          <a:noFill/>
          <a:ln w="12700">
            <a:solidFill>
              <a:srgbClr val="3E92CC"/>
            </a:solidFill>
            <a:prstDash val="solid"/>
          </a:ln>
        </p:spPr>
      </p:sp>
      <p:sp>
        <p:nvSpPr>
          <p:cNvPr id="21" name="Text 19"/>
          <p:cNvSpPr txBox="1"/>
          <p:nvPr/>
        </p:nvSpPr>
        <p:spPr>
          <a:xfrm>
            <a:off x="6219749" y="1580998"/>
            <a:ext cx="2257654"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柔軟な対応ができないのでは？</a:t>
            </a:r>
            <a:endParaRPr lang="en-US" sz="1200" dirty="0"/>
          </a:p>
        </p:txBody>
      </p:sp>
      <p:sp>
        <p:nvSpPr>
          <p:cNvPr id="22" name="Shape 20"/>
          <p:cNvSpPr/>
          <p:nvPr/>
        </p:nvSpPr>
        <p:spPr>
          <a:xfrm>
            <a:off x="8953805" y="1347826"/>
            <a:ext cx="2857500" cy="694944"/>
          </a:xfrm>
          <a:prstGeom prst="rect">
            <a:avLst/>
          </a:prstGeom>
          <a:noFill/>
          <a:ln w="12700">
            <a:solidFill>
              <a:srgbClr val="3E92CC"/>
            </a:solidFill>
            <a:prstDash val="solid"/>
          </a:ln>
        </p:spPr>
      </p:sp>
      <p:sp>
        <p:nvSpPr>
          <p:cNvPr id="23" name="Text 21"/>
          <p:cNvSpPr txBox="1"/>
          <p:nvPr/>
        </p:nvSpPr>
        <p:spPr>
          <a:xfrm>
            <a:off x="9072677" y="1466698"/>
            <a:ext cx="2705710" cy="4572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人が最終判断を行うハイブリッド体制を構築</a:t>
            </a:r>
            <a:endParaRPr lang="en-US" sz="1200" dirty="0"/>
          </a:p>
        </p:txBody>
      </p:sp>
      <p:sp>
        <p:nvSpPr>
          <p:cNvPr id="24" name="Shape 22"/>
          <p:cNvSpPr/>
          <p:nvPr/>
        </p:nvSpPr>
        <p:spPr>
          <a:xfrm>
            <a:off x="6100877" y="2042770"/>
            <a:ext cx="2857500" cy="466344"/>
          </a:xfrm>
          <a:prstGeom prst="rect">
            <a:avLst/>
          </a:prstGeom>
          <a:noFill/>
          <a:ln w="12700">
            <a:solidFill>
              <a:srgbClr val="3E92CC"/>
            </a:solidFill>
            <a:prstDash val="solid"/>
          </a:ln>
        </p:spPr>
      </p:sp>
      <p:sp>
        <p:nvSpPr>
          <p:cNvPr id="25" name="Text 23"/>
          <p:cNvSpPr txBox="1"/>
          <p:nvPr/>
        </p:nvSpPr>
        <p:spPr>
          <a:xfrm>
            <a:off x="6219749" y="2162556"/>
            <a:ext cx="1953158"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初期コストが高いのでは？</a:t>
            </a:r>
            <a:endParaRPr lang="en-US" sz="1200" dirty="0"/>
          </a:p>
        </p:txBody>
      </p:sp>
      <p:sp>
        <p:nvSpPr>
          <p:cNvPr id="26" name="Shape 24"/>
          <p:cNvSpPr/>
          <p:nvPr/>
        </p:nvSpPr>
        <p:spPr>
          <a:xfrm>
            <a:off x="8953805" y="2042770"/>
            <a:ext cx="2857500" cy="466344"/>
          </a:xfrm>
          <a:prstGeom prst="rect">
            <a:avLst/>
          </a:prstGeom>
          <a:noFill/>
          <a:ln w="12700">
            <a:solidFill>
              <a:srgbClr val="3E92CC"/>
            </a:solidFill>
            <a:prstDash val="solid"/>
          </a:ln>
        </p:spPr>
      </p:sp>
      <p:sp>
        <p:nvSpPr>
          <p:cNvPr id="27" name="Text 25"/>
          <p:cNvSpPr txBox="1"/>
          <p:nvPr/>
        </p:nvSpPr>
        <p:spPr>
          <a:xfrm>
            <a:off x="9072677" y="2162556"/>
            <a:ext cx="2352751"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段階導入＋ROIを数値化して提示</a:t>
            </a:r>
            <a:endParaRPr lang="en-US" sz="1200" dirty="0"/>
          </a:p>
        </p:txBody>
      </p:sp>
      <p:sp>
        <p:nvSpPr>
          <p:cNvPr id="28" name="Shape 26"/>
          <p:cNvSpPr/>
          <p:nvPr/>
        </p:nvSpPr>
        <p:spPr>
          <a:xfrm>
            <a:off x="6100877" y="2510028"/>
            <a:ext cx="2857500" cy="694944"/>
          </a:xfrm>
          <a:prstGeom prst="rect">
            <a:avLst/>
          </a:prstGeom>
          <a:noFill/>
          <a:ln w="12700">
            <a:solidFill>
              <a:srgbClr val="3E92CC"/>
            </a:solidFill>
            <a:prstDash val="solid"/>
          </a:ln>
        </p:spPr>
      </p:sp>
      <p:sp>
        <p:nvSpPr>
          <p:cNvPr id="29" name="Text 27"/>
          <p:cNvSpPr txBox="1"/>
          <p:nvPr/>
        </p:nvSpPr>
        <p:spPr>
          <a:xfrm>
            <a:off x="6219749" y="2743200"/>
            <a:ext cx="1476756"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AIが誤作動したら？</a:t>
            </a:r>
            <a:endParaRPr lang="en-US" sz="1200" dirty="0"/>
          </a:p>
        </p:txBody>
      </p:sp>
      <p:sp>
        <p:nvSpPr>
          <p:cNvPr id="30" name="Shape 28"/>
          <p:cNvSpPr/>
          <p:nvPr/>
        </p:nvSpPr>
        <p:spPr>
          <a:xfrm>
            <a:off x="8953805" y="2510028"/>
            <a:ext cx="2857500" cy="694944"/>
          </a:xfrm>
          <a:prstGeom prst="rect">
            <a:avLst/>
          </a:prstGeom>
          <a:noFill/>
          <a:ln w="12700">
            <a:solidFill>
              <a:srgbClr val="3E92CC"/>
            </a:solidFill>
            <a:prstDash val="solid"/>
          </a:ln>
        </p:spPr>
      </p:sp>
      <p:sp>
        <p:nvSpPr>
          <p:cNvPr id="31" name="Text 29"/>
          <p:cNvSpPr txBox="1"/>
          <p:nvPr/>
        </p:nvSpPr>
        <p:spPr>
          <a:xfrm>
            <a:off x="9072677" y="2628900"/>
            <a:ext cx="2705710" cy="4572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常時監視＋人によるチェック体制の確立</a:t>
            </a:r>
            <a:endParaRPr lang="en-US" sz="1200" dirty="0"/>
          </a:p>
        </p:txBody>
      </p:sp>
      <p:sp>
        <p:nvSpPr>
          <p:cNvPr id="32" name="Shape 30"/>
          <p:cNvSpPr/>
          <p:nvPr/>
        </p:nvSpPr>
        <p:spPr>
          <a:xfrm>
            <a:off x="6100877" y="3204972"/>
            <a:ext cx="2857500" cy="694944"/>
          </a:xfrm>
          <a:prstGeom prst="rect">
            <a:avLst/>
          </a:prstGeom>
          <a:noFill/>
          <a:ln w="12700">
            <a:solidFill>
              <a:srgbClr val="3E92CC"/>
            </a:solidFill>
            <a:prstDash val="solid"/>
          </a:ln>
        </p:spPr>
      </p:sp>
      <p:sp>
        <p:nvSpPr>
          <p:cNvPr id="33" name="Text 31"/>
          <p:cNvSpPr txBox="1"/>
          <p:nvPr/>
        </p:nvSpPr>
        <p:spPr>
          <a:xfrm>
            <a:off x="6219749" y="3438144"/>
            <a:ext cx="2563063" cy="2286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機械的で冷たい印象になるのでは？</a:t>
            </a:r>
            <a:endParaRPr lang="en-US" sz="1200" dirty="0"/>
          </a:p>
        </p:txBody>
      </p:sp>
      <p:sp>
        <p:nvSpPr>
          <p:cNvPr id="34" name="Shape 32"/>
          <p:cNvSpPr/>
          <p:nvPr/>
        </p:nvSpPr>
        <p:spPr>
          <a:xfrm>
            <a:off x="8953805" y="3204972"/>
            <a:ext cx="2857500" cy="694944"/>
          </a:xfrm>
          <a:prstGeom prst="rect">
            <a:avLst/>
          </a:prstGeom>
          <a:noFill/>
          <a:ln w="12700">
            <a:solidFill>
              <a:srgbClr val="3E92CC"/>
            </a:solidFill>
            <a:prstDash val="solid"/>
          </a:ln>
        </p:spPr>
      </p:sp>
      <p:sp>
        <p:nvSpPr>
          <p:cNvPr id="35" name="Text 33"/>
          <p:cNvSpPr txBox="1"/>
          <p:nvPr/>
        </p:nvSpPr>
        <p:spPr>
          <a:xfrm>
            <a:off x="9072677" y="3323844"/>
            <a:ext cx="2714854" cy="457200"/>
          </a:xfrm>
          <a:prstGeom prst="rect">
            <a:avLst/>
          </a:prstGeom>
          <a:noFill/>
          <a:ln/>
        </p:spPr>
        <p:txBody>
          <a:bodyPr wrap="square" lIns="0" tIns="0" rIns="0" bIns="0" rtlCol="0" anchor="ctr"/>
          <a:lstStyle/>
          <a:p>
            <a:pPr algn="l" indent="0" marL="0">
              <a:buNone/>
            </a:pPr>
            <a:r>
              <a:rPr lang="en-US" sz="1200" dirty="0">
                <a:solidFill>
                  <a:srgbClr val="0A2463"/>
                </a:solidFill>
                <a:latin typeface="Noto Sans JP" pitchFamily="34" charset="0"/>
                <a:ea typeface="Noto Sans JP" pitchFamily="34" charset="-122"/>
                <a:cs typeface="Noto Sans JP" pitchFamily="34" charset="-120"/>
              </a:rPr>
              <a:t>顧客接点は人が直接対応し、温かみを維持</a:t>
            </a:r>
            <a:endParaRPr lang="en-US" sz="1200" dirty="0"/>
          </a:p>
        </p:txBody>
      </p:sp>
      <p:sp>
        <p:nvSpPr>
          <p:cNvPr id="36" name="Shape 34"/>
          <p:cNvSpPr/>
          <p:nvPr/>
        </p:nvSpPr>
        <p:spPr>
          <a:xfrm>
            <a:off x="6096305" y="4134002"/>
            <a:ext cx="1809598" cy="1181405"/>
          </a:xfrm>
          <a:prstGeom prst="rect">
            <a:avLst/>
          </a:prstGeom>
          <a:solidFill>
            <a:srgbClr val="3E92CC">
              <a:alpha val="10000"/>
            </a:srgbClr>
          </a:solidFill>
          <a:ln w="12700">
            <a:solidFill>
              <a:srgbClr val="3E92CC">
                <a:alpha val="30000"/>
              </a:srgbClr>
            </a:solidFill>
            <a:prstDash val="solid"/>
          </a:ln>
        </p:spPr>
      </p:sp>
      <p:pic>
        <p:nvPicPr>
          <p:cNvPr id="37" name="Image 0" descr="preencoded.png">    </p:cNvPr>
          <p:cNvPicPr>
            <a:picLocks noChangeAspect="1"/>
          </p:cNvPicPr>
          <p:nvPr/>
        </p:nvPicPr>
        <p:blipFill>
          <a:blip r:embed="rId1"/>
          <a:srcRect l="-80" r="-80" t="0" b="0"/>
          <a:stretch/>
        </p:blipFill>
        <p:spPr>
          <a:xfrm>
            <a:off x="6854342" y="4257446"/>
            <a:ext cx="286207" cy="228600"/>
          </a:xfrm>
          <a:prstGeom prst="rect">
            <a:avLst/>
          </a:prstGeom>
        </p:spPr>
      </p:pic>
      <p:sp>
        <p:nvSpPr>
          <p:cNvPr id="38" name="Text 35"/>
          <p:cNvSpPr txBox="1"/>
          <p:nvPr/>
        </p:nvSpPr>
        <p:spPr>
          <a:xfrm>
            <a:off x="6692494" y="4581144"/>
            <a:ext cx="734263"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人間主導</a:t>
            </a:r>
            <a:endParaRPr lang="en-US" sz="1200" dirty="0"/>
          </a:p>
        </p:txBody>
      </p:sp>
      <p:sp>
        <p:nvSpPr>
          <p:cNvPr id="39" name="Text 36"/>
          <p:cNvSpPr txBox="1"/>
          <p:nvPr/>
        </p:nvSpPr>
        <p:spPr>
          <a:xfrm>
            <a:off x="6270955" y="4809744"/>
            <a:ext cx="1558138" cy="381305"/>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AIはあくまで人間の判断を支援するツール</a:t>
            </a:r>
            <a:endParaRPr lang="en-US" sz="1000" dirty="0"/>
          </a:p>
        </p:txBody>
      </p:sp>
      <p:sp>
        <p:nvSpPr>
          <p:cNvPr id="40" name="Shape 37"/>
          <p:cNvSpPr/>
          <p:nvPr/>
        </p:nvSpPr>
        <p:spPr>
          <a:xfrm>
            <a:off x="8052206" y="4134002"/>
            <a:ext cx="1809598" cy="1181405"/>
          </a:xfrm>
          <a:prstGeom prst="rect">
            <a:avLst/>
          </a:prstGeom>
          <a:solidFill>
            <a:srgbClr val="3E92CC">
              <a:alpha val="10000"/>
            </a:srgbClr>
          </a:solidFill>
          <a:ln w="12700">
            <a:solidFill>
              <a:srgbClr val="3E92CC">
                <a:alpha val="30000"/>
              </a:srgbClr>
            </a:solidFill>
            <a:prstDash val="solid"/>
          </a:ln>
        </p:spPr>
      </p:sp>
      <p:pic>
        <p:nvPicPr>
          <p:cNvPr id="41" name="Image 1" descr="preencoded.png">    </p:cNvPr>
          <p:cNvPicPr>
            <a:picLocks noChangeAspect="1"/>
          </p:cNvPicPr>
          <p:nvPr/>
        </p:nvPicPr>
        <p:blipFill>
          <a:blip r:embed="rId2"/>
          <a:srcRect l="0" r="0" t="0" b="0"/>
          <a:stretch/>
        </p:blipFill>
        <p:spPr>
          <a:xfrm>
            <a:off x="8839505" y="4257446"/>
            <a:ext cx="228600" cy="228600"/>
          </a:xfrm>
          <a:prstGeom prst="rect">
            <a:avLst/>
          </a:prstGeom>
        </p:spPr>
      </p:pic>
      <p:sp>
        <p:nvSpPr>
          <p:cNvPr id="42" name="Text 38"/>
          <p:cNvSpPr txBox="1"/>
          <p:nvPr/>
        </p:nvSpPr>
        <p:spPr>
          <a:xfrm>
            <a:off x="8648395" y="4581144"/>
            <a:ext cx="734263"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安全設計</a:t>
            </a:r>
            <a:endParaRPr lang="en-US" sz="1200" dirty="0"/>
          </a:p>
        </p:txBody>
      </p:sp>
      <p:sp>
        <p:nvSpPr>
          <p:cNvPr id="43" name="Text 39"/>
          <p:cNvSpPr txBox="1"/>
          <p:nvPr/>
        </p:nvSpPr>
        <p:spPr>
          <a:xfrm>
            <a:off x="8219542" y="4809744"/>
            <a:ext cx="1567282" cy="381305"/>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複数の安全対策で誤作動リスクを最小化</a:t>
            </a:r>
            <a:endParaRPr lang="en-US" sz="1000" dirty="0"/>
          </a:p>
        </p:txBody>
      </p:sp>
      <p:sp>
        <p:nvSpPr>
          <p:cNvPr id="44" name="Shape 40"/>
          <p:cNvSpPr/>
          <p:nvPr/>
        </p:nvSpPr>
        <p:spPr>
          <a:xfrm>
            <a:off x="10007194" y="4134002"/>
            <a:ext cx="1809598" cy="1181405"/>
          </a:xfrm>
          <a:prstGeom prst="rect">
            <a:avLst/>
          </a:prstGeom>
          <a:solidFill>
            <a:srgbClr val="3E92CC">
              <a:alpha val="10000"/>
            </a:srgbClr>
          </a:solidFill>
          <a:ln w="12700">
            <a:solidFill>
              <a:srgbClr val="3E92CC">
                <a:alpha val="30000"/>
              </a:srgbClr>
            </a:solidFill>
            <a:prstDash val="solid"/>
          </a:ln>
        </p:spPr>
      </p:sp>
      <p:pic>
        <p:nvPicPr>
          <p:cNvPr id="45" name="Image 2" descr="preencoded.png">    </p:cNvPr>
          <p:cNvPicPr>
            <a:picLocks noChangeAspect="1"/>
          </p:cNvPicPr>
          <p:nvPr/>
        </p:nvPicPr>
        <p:blipFill>
          <a:blip r:embed="rId3"/>
          <a:srcRect l="0" r="0" t="0" b="0"/>
          <a:stretch/>
        </p:blipFill>
        <p:spPr>
          <a:xfrm>
            <a:off x="10794492" y="4257446"/>
            <a:ext cx="228600" cy="228600"/>
          </a:xfrm>
          <a:prstGeom prst="rect">
            <a:avLst/>
          </a:prstGeom>
        </p:spPr>
      </p:pic>
      <p:sp>
        <p:nvSpPr>
          <p:cNvPr id="46" name="Text 41"/>
          <p:cNvSpPr txBox="1"/>
          <p:nvPr/>
        </p:nvSpPr>
        <p:spPr>
          <a:xfrm>
            <a:off x="10528402" y="4581144"/>
            <a:ext cx="886054" cy="228600"/>
          </a:xfrm>
          <a:prstGeom prst="rect">
            <a:avLst/>
          </a:prstGeom>
          <a:noFill/>
          <a:ln/>
        </p:spPr>
        <p:txBody>
          <a:bodyPr wrap="square" lIns="0" tIns="0" rIns="0" bIns="0" rtlCol="0" anchor="ctr"/>
          <a:lstStyle/>
          <a:p>
            <a:pPr algn="ctr" indent="0" marL="0">
              <a:buNone/>
            </a:pPr>
            <a:r>
              <a:rPr lang="en-US" sz="1200" b="1" dirty="0">
                <a:solidFill>
                  <a:srgbClr val="0A2463"/>
                </a:solidFill>
                <a:latin typeface="Noto Sans JP" pitchFamily="34" charset="0"/>
                <a:ea typeface="Noto Sans JP" pitchFamily="34" charset="-122"/>
                <a:cs typeface="Noto Sans JP" pitchFamily="34" charset="-120"/>
              </a:rPr>
              <a:t>人間らしさ</a:t>
            </a:r>
            <a:endParaRPr lang="en-US" sz="1200" dirty="0"/>
          </a:p>
        </p:txBody>
      </p:sp>
      <p:sp>
        <p:nvSpPr>
          <p:cNvPr id="47" name="Text 42"/>
          <p:cNvSpPr txBox="1"/>
          <p:nvPr/>
        </p:nvSpPr>
        <p:spPr>
          <a:xfrm>
            <a:off x="10175443" y="4809744"/>
            <a:ext cx="1567282" cy="381305"/>
          </a:xfrm>
          <a:prstGeom prst="rect">
            <a:avLst/>
          </a:prstGeom>
          <a:noFill/>
          <a:ln/>
        </p:spPr>
        <p:txBody>
          <a:bodyPr wrap="square" lIns="0" tIns="0" rIns="0" bIns="0" rtlCol="0" anchor="ctr"/>
          <a:lstStyle/>
          <a:p>
            <a:pPr algn="ctr" indent="0" marL="0">
              <a:buNone/>
            </a:pPr>
            <a:r>
              <a:rPr lang="en-US" sz="1000" dirty="0">
                <a:solidFill>
                  <a:srgbClr val="8FB8DE"/>
                </a:solidFill>
                <a:latin typeface="Noto Sans JP" pitchFamily="34" charset="0"/>
                <a:ea typeface="Noto Sans JP" pitchFamily="34" charset="-122"/>
                <a:cs typeface="Noto Sans JP" pitchFamily="34" charset="-120"/>
              </a:rPr>
              <a:t>人間にしかできない温かみのある対応を重視</a:t>
            </a:r>
            <a:endParaRPr lang="en-US" sz="1000" dirty="0"/>
          </a:p>
        </p:txBody>
      </p:sp>
      <p:sp>
        <p:nvSpPr>
          <p:cNvPr id="48" name="Text 43"/>
          <p:cNvSpPr txBox="1"/>
          <p:nvPr/>
        </p:nvSpPr>
        <p:spPr>
          <a:xfrm>
            <a:off x="11726266" y="6476695"/>
            <a:ext cx="200254" cy="228600"/>
          </a:xfrm>
          <a:prstGeom prst="rect">
            <a:avLst/>
          </a:prstGeom>
          <a:noFill/>
          <a:ln/>
        </p:spPr>
        <p:txBody>
          <a:bodyPr wrap="square" lIns="0" tIns="0" rIns="0" bIns="0" rtlCol="0" anchor="ctr"/>
          <a:lstStyle/>
          <a:p>
            <a:pPr algn="r" indent="0" marL="0">
              <a:buNone/>
            </a:pPr>
            <a:r>
              <a:rPr lang="en-US" sz="1200" dirty="0">
                <a:solidFill>
                  <a:srgbClr val="0A2463"/>
                </a:solidFill>
                <a:latin typeface="Noto Sans JP" pitchFamily="34" charset="0"/>
                <a:ea typeface="Noto Sans JP" pitchFamily="34" charset="-122"/>
                <a:cs typeface="Noto Sans JP"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010144"/>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ADD8E6">
              <a:alpha val="30000"/>
            </a:srgbClr>
          </a:solidFill>
          <a:ln/>
        </p:spPr>
      </p:sp>
      <p:sp>
        <p:nvSpPr>
          <p:cNvPr id="4" name="Shape 2"/>
          <p:cNvSpPr/>
          <p:nvPr/>
        </p:nvSpPr>
        <p:spPr>
          <a:xfrm>
            <a:off x="952805" y="6581851"/>
            <a:ext cx="1904695" cy="1904695"/>
          </a:xfrm>
          <a:prstGeom prst="rect">
            <a:avLst/>
          </a:prstGeom>
          <a:solidFill>
            <a:srgbClr val="ADD8E6">
              <a:alpha val="30000"/>
            </a:srgbClr>
          </a:solidFill>
          <a:ln/>
        </p:spPr>
      </p:sp>
      <p:sp>
        <p:nvSpPr>
          <p:cNvPr id="5" name="Text 3"/>
          <p:cNvSpPr txBox="1"/>
          <p:nvPr/>
        </p:nvSpPr>
        <p:spPr>
          <a:xfrm>
            <a:off x="381305" y="1504188"/>
            <a:ext cx="2667305" cy="495605"/>
          </a:xfrm>
          <a:prstGeom prst="rect">
            <a:avLst/>
          </a:prstGeom>
          <a:noFill/>
          <a:ln/>
        </p:spPr>
        <p:txBody>
          <a:bodyPr wrap="square" lIns="0" tIns="0" rIns="0" bIns="0" rtlCol="0" anchor="ctr"/>
          <a:lstStyle/>
          <a:p>
            <a:pPr algn="l" indent="0" marL="0">
              <a:buNone/>
            </a:pPr>
            <a:r>
              <a:rPr lang="en-US" sz="2700" b="1" dirty="0">
                <a:solidFill>
                  <a:srgbClr val="003366"/>
                </a:solidFill>
                <a:latin typeface="Noto Sans JP" pitchFamily="34" charset="0"/>
                <a:ea typeface="Noto Sans JP" pitchFamily="34" charset="-122"/>
                <a:cs typeface="Noto Sans JP" pitchFamily="34" charset="-120"/>
              </a:rPr>
              <a:t>導入までの流れ</a:t>
            </a:r>
            <a:endParaRPr lang="en-US" sz="2700" dirty="0"/>
          </a:p>
        </p:txBody>
      </p:sp>
      <p:sp>
        <p:nvSpPr>
          <p:cNvPr id="6" name="Shape 4"/>
          <p:cNvSpPr/>
          <p:nvPr/>
        </p:nvSpPr>
        <p:spPr>
          <a:xfrm>
            <a:off x="381305" y="2077517"/>
            <a:ext cx="571500" cy="38405"/>
          </a:xfrm>
          <a:prstGeom prst="rect">
            <a:avLst/>
          </a:prstGeom>
          <a:solidFill>
            <a:srgbClr val="ADD8E6"/>
          </a:solidFill>
          <a:ln/>
        </p:spPr>
      </p:sp>
      <p:sp>
        <p:nvSpPr>
          <p:cNvPr id="7" name="Text 5"/>
          <p:cNvSpPr txBox="1"/>
          <p:nvPr/>
        </p:nvSpPr>
        <p:spPr>
          <a:xfrm>
            <a:off x="381305" y="2343607"/>
            <a:ext cx="5468112" cy="4572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段階的アプローチ： AIの導入は一度に全てを変えるのではなく、計画的に段階を踏んで進めることが成功の鍵です</a:t>
            </a:r>
            <a:endParaRPr lang="en-US" sz="1200" dirty="0"/>
          </a:p>
        </p:txBody>
      </p:sp>
      <p:sp>
        <p:nvSpPr>
          <p:cNvPr id="8" name="Text 6"/>
          <p:cNvSpPr txBox="1"/>
          <p:nvPr/>
        </p:nvSpPr>
        <p:spPr>
          <a:xfrm>
            <a:off x="381305" y="2953512"/>
            <a:ext cx="2029054"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5ステップの導入プロセス：</a:t>
            </a:r>
            <a:endParaRPr lang="en-US" sz="1200" dirty="0"/>
          </a:p>
        </p:txBody>
      </p:sp>
      <p:sp>
        <p:nvSpPr>
          <p:cNvPr id="9" name="Text 7"/>
          <p:cNvSpPr txBox="1"/>
          <p:nvPr/>
        </p:nvSpPr>
        <p:spPr>
          <a:xfrm>
            <a:off x="609905" y="3334817"/>
            <a:ext cx="3172054"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現状業務の詳細分析と最適化ポイントの特定</a:t>
            </a:r>
            <a:endParaRPr lang="en-US" sz="1200" dirty="0"/>
          </a:p>
        </p:txBody>
      </p:sp>
      <p:sp>
        <p:nvSpPr>
          <p:cNvPr id="10" name="Text 8"/>
          <p:cNvSpPr txBox="1"/>
          <p:nvPr/>
        </p:nvSpPr>
        <p:spPr>
          <a:xfrm>
            <a:off x="609905" y="3639312"/>
            <a:ext cx="2695651"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各業務におけるAI活用可能領域の設計</a:t>
            </a:r>
            <a:endParaRPr lang="en-US" sz="1200" dirty="0"/>
          </a:p>
        </p:txBody>
      </p:sp>
      <p:sp>
        <p:nvSpPr>
          <p:cNvPr id="11" name="Text 9"/>
          <p:cNvSpPr txBox="1"/>
          <p:nvPr/>
        </p:nvSpPr>
        <p:spPr>
          <a:xfrm>
            <a:off x="609905" y="3943807"/>
            <a:ext cx="3143707"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小規模での試験導入による効果検証（PoC）</a:t>
            </a:r>
            <a:endParaRPr lang="en-US" sz="1200" dirty="0"/>
          </a:p>
        </p:txBody>
      </p:sp>
      <p:sp>
        <p:nvSpPr>
          <p:cNvPr id="12" name="Text 10"/>
          <p:cNvSpPr txBox="1"/>
          <p:nvPr/>
        </p:nvSpPr>
        <p:spPr>
          <a:xfrm>
            <a:off x="609905" y="4249217"/>
            <a:ext cx="2714854"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検証結果に基づく本格導入と運用開始</a:t>
            </a:r>
            <a:endParaRPr lang="en-US" sz="1200" dirty="0"/>
          </a:p>
        </p:txBody>
      </p:sp>
      <p:sp>
        <p:nvSpPr>
          <p:cNvPr id="13" name="Text 11"/>
          <p:cNvSpPr txBox="1"/>
          <p:nvPr/>
        </p:nvSpPr>
        <p:spPr>
          <a:xfrm>
            <a:off x="609905" y="4553712"/>
            <a:ext cx="3314700"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継続的な改善とチューニングによる効果最大化</a:t>
            </a:r>
            <a:endParaRPr lang="en-US" sz="1200" dirty="0"/>
          </a:p>
        </p:txBody>
      </p:sp>
      <p:sp>
        <p:nvSpPr>
          <p:cNvPr id="14" name="Text 12"/>
          <p:cNvSpPr txBox="1"/>
          <p:nvPr/>
        </p:nvSpPr>
        <p:spPr>
          <a:xfrm>
            <a:off x="381305" y="4935017"/>
            <a:ext cx="1343254"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導入期間の目安：</a:t>
            </a:r>
            <a:endParaRPr lang="en-US" sz="1200" dirty="0"/>
          </a:p>
        </p:txBody>
      </p:sp>
      <p:sp>
        <p:nvSpPr>
          <p:cNvPr id="15" name="Text 13"/>
          <p:cNvSpPr txBox="1"/>
          <p:nvPr/>
        </p:nvSpPr>
        <p:spPr>
          <a:xfrm>
            <a:off x="609905" y="5315407"/>
            <a:ext cx="2115007"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初期分析・設計：約1〜2ヶ月</a:t>
            </a:r>
            <a:endParaRPr lang="en-US" sz="1200" dirty="0"/>
          </a:p>
        </p:txBody>
      </p:sp>
      <p:sp>
        <p:nvSpPr>
          <p:cNvPr id="16" name="Text 14"/>
          <p:cNvSpPr txBox="1"/>
          <p:nvPr/>
        </p:nvSpPr>
        <p:spPr>
          <a:xfrm>
            <a:off x="609905" y="5620817"/>
            <a:ext cx="1638605"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PoC実施：約1〜3ヶ月</a:t>
            </a:r>
            <a:endParaRPr lang="en-US" sz="1200" dirty="0"/>
          </a:p>
        </p:txBody>
      </p:sp>
      <p:sp>
        <p:nvSpPr>
          <p:cNvPr id="17" name="Text 15"/>
          <p:cNvSpPr txBox="1"/>
          <p:nvPr/>
        </p:nvSpPr>
        <p:spPr>
          <a:xfrm>
            <a:off x="609905" y="5925312"/>
            <a:ext cx="1962302"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本格導入準備：約2〜3ヶ月</a:t>
            </a:r>
            <a:endParaRPr lang="en-US" sz="1200" dirty="0"/>
          </a:p>
        </p:txBody>
      </p:sp>
      <p:sp>
        <p:nvSpPr>
          <p:cNvPr id="18" name="Text 16"/>
          <p:cNvSpPr txBox="1"/>
          <p:nvPr/>
        </p:nvSpPr>
        <p:spPr>
          <a:xfrm>
            <a:off x="609905" y="6229807"/>
            <a:ext cx="1571854"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運用安定化：約3ヶ月</a:t>
            </a:r>
            <a:endParaRPr lang="en-US" sz="1200" dirty="0"/>
          </a:p>
        </p:txBody>
      </p:sp>
      <p:sp>
        <p:nvSpPr>
          <p:cNvPr id="19" name="Text 17"/>
          <p:cNvSpPr txBox="1"/>
          <p:nvPr/>
        </p:nvSpPr>
        <p:spPr>
          <a:xfrm>
            <a:off x="7743139" y="381305"/>
            <a:ext cx="2600554" cy="333756"/>
          </a:xfrm>
          <a:prstGeom prst="rect">
            <a:avLst/>
          </a:prstGeom>
          <a:noFill/>
          <a:ln/>
        </p:spPr>
        <p:txBody>
          <a:bodyPr wrap="square" lIns="0" tIns="0" rIns="0" bIns="0" rtlCol="0" anchor="ctr"/>
          <a:lstStyle/>
          <a:p>
            <a:pPr algn="ctr" indent="0" marL="0">
              <a:buNone/>
            </a:pPr>
            <a:r>
              <a:rPr lang="en-US" sz="1800" b="1" dirty="0">
                <a:solidFill>
                  <a:srgbClr val="0066CC"/>
                </a:solidFill>
                <a:latin typeface="Noto Sans JP" pitchFamily="34" charset="0"/>
                <a:ea typeface="Noto Sans JP" pitchFamily="34" charset="-122"/>
                <a:cs typeface="Noto Sans JP" pitchFamily="34" charset="-120"/>
              </a:rPr>
              <a:t>5ステップ導入プロセス</a:t>
            </a:r>
            <a:endParaRPr lang="en-US" sz="1800" dirty="0"/>
          </a:p>
        </p:txBody>
      </p:sp>
      <p:sp>
        <p:nvSpPr>
          <p:cNvPr id="20" name="Shape 18"/>
          <p:cNvSpPr/>
          <p:nvPr/>
        </p:nvSpPr>
        <p:spPr>
          <a:xfrm>
            <a:off x="6096305" y="875995"/>
            <a:ext cx="1904695" cy="1019556"/>
          </a:xfrm>
          <a:prstGeom prst="rect">
            <a:avLst/>
          </a:prstGeom>
          <a:solidFill>
            <a:srgbClr val="ADD8E6">
              <a:alpha val="30000"/>
            </a:srgbClr>
          </a:solidFill>
          <a:ln w="12700">
            <a:solidFill>
              <a:srgbClr val="0066CC">
                <a:alpha val="30000"/>
              </a:srgbClr>
            </a:solidFill>
            <a:prstDash val="solid"/>
          </a:ln>
        </p:spPr>
      </p:sp>
      <p:pic>
        <p:nvPicPr>
          <p:cNvPr id="21" name="Image 0" descr="preencoded.png">    </p:cNvPr>
          <p:cNvPicPr>
            <a:picLocks noChangeAspect="1"/>
          </p:cNvPicPr>
          <p:nvPr/>
        </p:nvPicPr>
        <p:blipFill>
          <a:blip r:embed="rId1"/>
          <a:srcRect l="0" r="0" t="0" b="0"/>
          <a:stretch/>
        </p:blipFill>
        <p:spPr>
          <a:xfrm>
            <a:off x="6933895" y="1000354"/>
            <a:ext cx="228600" cy="228600"/>
          </a:xfrm>
          <a:prstGeom prst="rect">
            <a:avLst/>
          </a:prstGeom>
        </p:spPr>
      </p:pic>
      <p:sp>
        <p:nvSpPr>
          <p:cNvPr id="22" name="Text 19"/>
          <p:cNvSpPr txBox="1"/>
          <p:nvPr/>
        </p:nvSpPr>
        <p:spPr>
          <a:xfrm>
            <a:off x="6763817" y="1324051"/>
            <a:ext cx="700430" cy="247802"/>
          </a:xfrm>
          <a:prstGeom prst="rect">
            <a:avLst/>
          </a:prstGeom>
          <a:noFill/>
          <a:ln/>
        </p:spPr>
        <p:txBody>
          <a:bodyPr wrap="square" lIns="0" tIns="0" rIns="0" bIns="0" rtlCol="0" anchor="ctr"/>
          <a:lstStyle/>
          <a:p>
            <a:pPr algn="ctr" indent="0" marL="0">
              <a:buNone/>
            </a:pPr>
            <a:r>
              <a:rPr lang="en-US" sz="1300" b="1" dirty="0">
                <a:solidFill>
                  <a:srgbClr val="0066CC"/>
                </a:solidFill>
                <a:latin typeface="Noto Sans JP" pitchFamily="34" charset="0"/>
                <a:ea typeface="Noto Sans JP" pitchFamily="34" charset="-122"/>
                <a:cs typeface="Noto Sans JP" pitchFamily="34" charset="-120"/>
              </a:rPr>
              <a:t>STEP 1</a:t>
            </a:r>
            <a:endParaRPr lang="en-US" sz="1300" dirty="0"/>
          </a:p>
        </p:txBody>
      </p:sp>
      <p:sp>
        <p:nvSpPr>
          <p:cNvPr id="23" name="Text 20"/>
          <p:cNvSpPr txBox="1"/>
          <p:nvPr/>
        </p:nvSpPr>
        <p:spPr>
          <a:xfrm>
            <a:off x="6448349" y="1580998"/>
            <a:ext cx="1300277"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現状分析・課題整理</a:t>
            </a:r>
            <a:endParaRPr lang="en-US" sz="1000" dirty="0"/>
          </a:p>
        </p:txBody>
      </p:sp>
      <p:pic>
        <p:nvPicPr>
          <p:cNvPr id="24" name="Image 1" descr="preencoded.png">    </p:cNvPr>
          <p:cNvPicPr>
            <a:picLocks noChangeAspect="1"/>
          </p:cNvPicPr>
          <p:nvPr/>
        </p:nvPicPr>
        <p:blipFill>
          <a:blip r:embed="rId2"/>
          <a:srcRect l="-57" r="-57" t="0" b="0"/>
          <a:stretch/>
        </p:blipFill>
        <p:spPr>
          <a:xfrm>
            <a:off x="8853221" y="1328623"/>
            <a:ext cx="200254" cy="228600"/>
          </a:xfrm>
          <a:prstGeom prst="rect">
            <a:avLst/>
          </a:prstGeom>
        </p:spPr>
      </p:pic>
      <p:sp>
        <p:nvSpPr>
          <p:cNvPr id="25" name="Shape 21"/>
          <p:cNvSpPr/>
          <p:nvPr/>
        </p:nvSpPr>
        <p:spPr>
          <a:xfrm>
            <a:off x="9905695" y="875995"/>
            <a:ext cx="1904695" cy="1019556"/>
          </a:xfrm>
          <a:prstGeom prst="rect">
            <a:avLst/>
          </a:prstGeom>
          <a:solidFill>
            <a:srgbClr val="ADD8E6">
              <a:alpha val="30000"/>
            </a:srgbClr>
          </a:solidFill>
          <a:ln w="12700">
            <a:solidFill>
              <a:srgbClr val="0066CC">
                <a:alpha val="30000"/>
              </a:srgbClr>
            </a:solidFill>
            <a:prstDash val="solid"/>
          </a:ln>
        </p:spPr>
      </p:sp>
      <p:pic>
        <p:nvPicPr>
          <p:cNvPr id="26" name="Image 2" descr="preencoded.png">    </p:cNvPr>
          <p:cNvPicPr>
            <a:picLocks noChangeAspect="1"/>
          </p:cNvPicPr>
          <p:nvPr/>
        </p:nvPicPr>
        <p:blipFill>
          <a:blip r:embed="rId3"/>
          <a:srcRect l="0" r="0" t="0" b="0"/>
          <a:stretch/>
        </p:blipFill>
        <p:spPr>
          <a:xfrm>
            <a:off x="10744200" y="1000354"/>
            <a:ext cx="228600" cy="228600"/>
          </a:xfrm>
          <a:prstGeom prst="rect">
            <a:avLst/>
          </a:prstGeom>
        </p:spPr>
      </p:pic>
      <p:sp>
        <p:nvSpPr>
          <p:cNvPr id="27" name="Text 22"/>
          <p:cNvSpPr txBox="1"/>
          <p:nvPr/>
        </p:nvSpPr>
        <p:spPr>
          <a:xfrm>
            <a:off x="10574122" y="1324051"/>
            <a:ext cx="700430" cy="247802"/>
          </a:xfrm>
          <a:prstGeom prst="rect">
            <a:avLst/>
          </a:prstGeom>
          <a:noFill/>
          <a:ln/>
        </p:spPr>
        <p:txBody>
          <a:bodyPr wrap="square" lIns="0" tIns="0" rIns="0" bIns="0" rtlCol="0" anchor="ctr"/>
          <a:lstStyle/>
          <a:p>
            <a:pPr algn="ctr" indent="0" marL="0">
              <a:buNone/>
            </a:pPr>
            <a:r>
              <a:rPr lang="en-US" sz="1300" b="1" dirty="0">
                <a:solidFill>
                  <a:srgbClr val="0066CC"/>
                </a:solidFill>
                <a:latin typeface="Noto Sans JP" pitchFamily="34" charset="0"/>
                <a:ea typeface="Noto Sans JP" pitchFamily="34" charset="-122"/>
                <a:cs typeface="Noto Sans JP" pitchFamily="34" charset="-120"/>
              </a:rPr>
              <a:t>STEP 2</a:t>
            </a:r>
            <a:endParaRPr lang="en-US" sz="1300" dirty="0"/>
          </a:p>
        </p:txBody>
      </p:sp>
      <p:sp>
        <p:nvSpPr>
          <p:cNvPr id="28" name="Text 23"/>
          <p:cNvSpPr txBox="1"/>
          <p:nvPr/>
        </p:nvSpPr>
        <p:spPr>
          <a:xfrm>
            <a:off x="10331806" y="1580998"/>
            <a:ext cx="1157630"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AI適用領域の設計</a:t>
            </a:r>
            <a:endParaRPr lang="en-US" sz="1000" dirty="0"/>
          </a:p>
        </p:txBody>
      </p:sp>
      <p:pic>
        <p:nvPicPr>
          <p:cNvPr id="29" name="Image 3" descr="preencoded.png">    </p:cNvPr>
          <p:cNvPicPr>
            <a:picLocks noChangeAspect="1"/>
          </p:cNvPicPr>
          <p:nvPr/>
        </p:nvPicPr>
        <p:blipFill>
          <a:blip r:embed="rId4"/>
          <a:srcRect l="-133" r="-133" t="0" b="0"/>
          <a:stretch/>
        </p:blipFill>
        <p:spPr>
          <a:xfrm>
            <a:off x="8867851" y="2085746"/>
            <a:ext cx="171907" cy="228600"/>
          </a:xfrm>
          <a:prstGeom prst="rect">
            <a:avLst/>
          </a:prstGeom>
        </p:spPr>
      </p:pic>
      <p:sp>
        <p:nvSpPr>
          <p:cNvPr id="30" name="Shape 24"/>
          <p:cNvSpPr/>
          <p:nvPr/>
        </p:nvSpPr>
        <p:spPr>
          <a:xfrm>
            <a:off x="6096305" y="2391156"/>
            <a:ext cx="1904695" cy="1019556"/>
          </a:xfrm>
          <a:prstGeom prst="rect">
            <a:avLst/>
          </a:prstGeom>
          <a:solidFill>
            <a:srgbClr val="ADD8E6">
              <a:alpha val="30000"/>
            </a:srgbClr>
          </a:solidFill>
          <a:ln w="12700">
            <a:solidFill>
              <a:srgbClr val="0066CC">
                <a:alpha val="30000"/>
              </a:srgbClr>
            </a:solidFill>
            <a:prstDash val="solid"/>
          </a:ln>
        </p:spPr>
      </p:sp>
      <p:pic>
        <p:nvPicPr>
          <p:cNvPr id="31" name="Image 4" descr="preencoded.png">    </p:cNvPr>
          <p:cNvPicPr>
            <a:picLocks noChangeAspect="1"/>
          </p:cNvPicPr>
          <p:nvPr/>
        </p:nvPicPr>
        <p:blipFill>
          <a:blip r:embed="rId5"/>
          <a:srcRect l="0" r="0" t="0" b="0"/>
          <a:stretch/>
        </p:blipFill>
        <p:spPr>
          <a:xfrm>
            <a:off x="6933895" y="2514600"/>
            <a:ext cx="228600" cy="228600"/>
          </a:xfrm>
          <a:prstGeom prst="rect">
            <a:avLst/>
          </a:prstGeom>
        </p:spPr>
      </p:pic>
      <p:sp>
        <p:nvSpPr>
          <p:cNvPr id="32" name="Text 25"/>
          <p:cNvSpPr txBox="1"/>
          <p:nvPr/>
        </p:nvSpPr>
        <p:spPr>
          <a:xfrm>
            <a:off x="6763817" y="2838298"/>
            <a:ext cx="700430" cy="247802"/>
          </a:xfrm>
          <a:prstGeom prst="rect">
            <a:avLst/>
          </a:prstGeom>
          <a:noFill/>
          <a:ln/>
        </p:spPr>
        <p:txBody>
          <a:bodyPr wrap="square" lIns="0" tIns="0" rIns="0" bIns="0" rtlCol="0" anchor="ctr"/>
          <a:lstStyle/>
          <a:p>
            <a:pPr algn="ctr" indent="0" marL="0">
              <a:buNone/>
            </a:pPr>
            <a:r>
              <a:rPr lang="en-US" sz="1300" b="1" dirty="0">
                <a:solidFill>
                  <a:srgbClr val="0066CC"/>
                </a:solidFill>
                <a:latin typeface="Noto Sans JP" pitchFamily="34" charset="0"/>
                <a:ea typeface="Noto Sans JP" pitchFamily="34" charset="-122"/>
                <a:cs typeface="Noto Sans JP" pitchFamily="34" charset="-120"/>
              </a:rPr>
              <a:t>STEP 5</a:t>
            </a:r>
            <a:endParaRPr lang="en-US" sz="1300" dirty="0"/>
          </a:p>
        </p:txBody>
      </p:sp>
      <p:sp>
        <p:nvSpPr>
          <p:cNvPr id="33" name="Text 26"/>
          <p:cNvSpPr txBox="1"/>
          <p:nvPr/>
        </p:nvSpPr>
        <p:spPr>
          <a:xfrm>
            <a:off x="6314846" y="3095244"/>
            <a:ext cx="1567282"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改善・チューニング支援</a:t>
            </a:r>
            <a:endParaRPr lang="en-US" sz="1000" dirty="0"/>
          </a:p>
        </p:txBody>
      </p:sp>
      <p:pic>
        <p:nvPicPr>
          <p:cNvPr id="34" name="Image 5" descr="preencoded.png">    </p:cNvPr>
          <p:cNvPicPr>
            <a:picLocks noChangeAspect="1"/>
          </p:cNvPicPr>
          <p:nvPr/>
        </p:nvPicPr>
        <p:blipFill>
          <a:blip r:embed="rId6"/>
          <a:srcRect l="-57" r="-57" t="0" b="0"/>
          <a:stretch/>
        </p:blipFill>
        <p:spPr>
          <a:xfrm>
            <a:off x="8853221" y="2842870"/>
            <a:ext cx="200254" cy="228600"/>
          </a:xfrm>
          <a:prstGeom prst="rect">
            <a:avLst/>
          </a:prstGeom>
        </p:spPr>
      </p:pic>
      <p:sp>
        <p:nvSpPr>
          <p:cNvPr id="35" name="Shape 27"/>
          <p:cNvSpPr/>
          <p:nvPr/>
        </p:nvSpPr>
        <p:spPr>
          <a:xfrm>
            <a:off x="9905695" y="2391156"/>
            <a:ext cx="1904695" cy="1019556"/>
          </a:xfrm>
          <a:prstGeom prst="rect">
            <a:avLst/>
          </a:prstGeom>
          <a:solidFill>
            <a:srgbClr val="ADD8E6">
              <a:alpha val="30000"/>
            </a:srgbClr>
          </a:solidFill>
          <a:ln w="12700">
            <a:solidFill>
              <a:srgbClr val="0066CC">
                <a:alpha val="30000"/>
              </a:srgbClr>
            </a:solidFill>
            <a:prstDash val="solid"/>
          </a:ln>
        </p:spPr>
      </p:sp>
      <p:pic>
        <p:nvPicPr>
          <p:cNvPr id="36" name="Image 6" descr="preencoded.png">    </p:cNvPr>
          <p:cNvPicPr>
            <a:picLocks noChangeAspect="1"/>
          </p:cNvPicPr>
          <p:nvPr/>
        </p:nvPicPr>
        <p:blipFill>
          <a:blip r:embed="rId7"/>
          <a:srcRect l="0" r="0" t="0" b="0"/>
          <a:stretch/>
        </p:blipFill>
        <p:spPr>
          <a:xfrm>
            <a:off x="10744200" y="2514600"/>
            <a:ext cx="228600" cy="228600"/>
          </a:xfrm>
          <a:prstGeom prst="rect">
            <a:avLst/>
          </a:prstGeom>
        </p:spPr>
      </p:pic>
      <p:sp>
        <p:nvSpPr>
          <p:cNvPr id="37" name="Text 28"/>
          <p:cNvSpPr txBox="1"/>
          <p:nvPr/>
        </p:nvSpPr>
        <p:spPr>
          <a:xfrm>
            <a:off x="10574122" y="2838298"/>
            <a:ext cx="700430" cy="247802"/>
          </a:xfrm>
          <a:prstGeom prst="rect">
            <a:avLst/>
          </a:prstGeom>
          <a:noFill/>
          <a:ln/>
        </p:spPr>
        <p:txBody>
          <a:bodyPr wrap="square" lIns="0" tIns="0" rIns="0" bIns="0" rtlCol="0" anchor="ctr"/>
          <a:lstStyle/>
          <a:p>
            <a:pPr algn="ctr" indent="0" marL="0">
              <a:buNone/>
            </a:pPr>
            <a:r>
              <a:rPr lang="en-US" sz="1300" b="1" dirty="0">
                <a:solidFill>
                  <a:srgbClr val="0066CC"/>
                </a:solidFill>
                <a:latin typeface="Noto Sans JP" pitchFamily="34" charset="0"/>
                <a:ea typeface="Noto Sans JP" pitchFamily="34" charset="-122"/>
                <a:cs typeface="Noto Sans JP" pitchFamily="34" charset="-120"/>
              </a:rPr>
              <a:t>STEP 4</a:t>
            </a:r>
            <a:endParaRPr lang="en-US" sz="1300" dirty="0"/>
          </a:p>
        </p:txBody>
      </p:sp>
      <p:sp>
        <p:nvSpPr>
          <p:cNvPr id="38" name="Text 29"/>
          <p:cNvSpPr txBox="1"/>
          <p:nvPr/>
        </p:nvSpPr>
        <p:spPr>
          <a:xfrm>
            <a:off x="10258654" y="3095244"/>
            <a:ext cx="1300277"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本格導入・運用開始</a:t>
            </a:r>
            <a:endParaRPr lang="en-US" sz="1000" dirty="0"/>
          </a:p>
        </p:txBody>
      </p:sp>
      <p:pic>
        <p:nvPicPr>
          <p:cNvPr id="39" name="Image 7" descr="preencoded.png">    </p:cNvPr>
          <p:cNvPicPr>
            <a:picLocks noChangeAspect="1"/>
          </p:cNvPicPr>
          <p:nvPr/>
        </p:nvPicPr>
        <p:blipFill>
          <a:blip r:embed="rId8"/>
          <a:srcRect l="-133" r="-133" t="0" b="0"/>
          <a:stretch/>
        </p:blipFill>
        <p:spPr>
          <a:xfrm>
            <a:off x="8867851" y="3600907"/>
            <a:ext cx="171907" cy="228600"/>
          </a:xfrm>
          <a:prstGeom prst="rect">
            <a:avLst/>
          </a:prstGeom>
        </p:spPr>
      </p:pic>
      <p:sp>
        <p:nvSpPr>
          <p:cNvPr id="40" name="Shape 30"/>
          <p:cNvSpPr/>
          <p:nvPr/>
        </p:nvSpPr>
        <p:spPr>
          <a:xfrm>
            <a:off x="8001000" y="3905402"/>
            <a:ext cx="1904695" cy="1209751"/>
          </a:xfrm>
          <a:prstGeom prst="rect">
            <a:avLst/>
          </a:prstGeom>
          <a:solidFill>
            <a:srgbClr val="ADD8E6">
              <a:alpha val="30000"/>
            </a:srgbClr>
          </a:solidFill>
          <a:ln w="12700">
            <a:solidFill>
              <a:srgbClr val="0066CC">
                <a:alpha val="30000"/>
              </a:srgbClr>
            </a:solidFill>
            <a:prstDash val="solid"/>
          </a:ln>
        </p:spPr>
      </p:sp>
      <p:pic>
        <p:nvPicPr>
          <p:cNvPr id="41" name="Image 8" descr="preencoded.png">    </p:cNvPr>
          <p:cNvPicPr>
            <a:picLocks noChangeAspect="1"/>
          </p:cNvPicPr>
          <p:nvPr/>
        </p:nvPicPr>
        <p:blipFill>
          <a:blip r:embed="rId9"/>
          <a:srcRect l="-57" r="-57" t="0" b="0"/>
          <a:stretch/>
        </p:blipFill>
        <p:spPr>
          <a:xfrm>
            <a:off x="8853221" y="4028846"/>
            <a:ext cx="200254" cy="228600"/>
          </a:xfrm>
          <a:prstGeom prst="rect">
            <a:avLst/>
          </a:prstGeom>
        </p:spPr>
      </p:pic>
      <p:sp>
        <p:nvSpPr>
          <p:cNvPr id="42" name="Text 31"/>
          <p:cNvSpPr txBox="1"/>
          <p:nvPr/>
        </p:nvSpPr>
        <p:spPr>
          <a:xfrm>
            <a:off x="8668512" y="4352544"/>
            <a:ext cx="700430" cy="247802"/>
          </a:xfrm>
          <a:prstGeom prst="rect">
            <a:avLst/>
          </a:prstGeom>
          <a:noFill/>
          <a:ln/>
        </p:spPr>
        <p:txBody>
          <a:bodyPr wrap="square" lIns="0" tIns="0" rIns="0" bIns="0" rtlCol="0" anchor="ctr"/>
          <a:lstStyle/>
          <a:p>
            <a:pPr algn="ctr" indent="0" marL="0">
              <a:buNone/>
            </a:pPr>
            <a:r>
              <a:rPr lang="en-US" sz="1300" b="1" dirty="0">
                <a:solidFill>
                  <a:srgbClr val="0066CC"/>
                </a:solidFill>
                <a:latin typeface="Noto Sans JP" pitchFamily="34" charset="0"/>
                <a:ea typeface="Noto Sans JP" pitchFamily="34" charset="-122"/>
                <a:cs typeface="Noto Sans JP" pitchFamily="34" charset="-120"/>
              </a:rPr>
              <a:t>STEP 3</a:t>
            </a:r>
            <a:endParaRPr lang="en-US" sz="1300" dirty="0"/>
          </a:p>
        </p:txBody>
      </p:sp>
      <p:sp>
        <p:nvSpPr>
          <p:cNvPr id="43" name="Text 32"/>
          <p:cNvSpPr txBox="1"/>
          <p:nvPr/>
        </p:nvSpPr>
        <p:spPr>
          <a:xfrm>
            <a:off x="8163763" y="4610405"/>
            <a:ext cx="1681582" cy="381305"/>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試験導入（PoC）で効果検証</a:t>
            </a:r>
            <a:endParaRPr lang="en-US" sz="1000" dirty="0"/>
          </a:p>
        </p:txBody>
      </p:sp>
      <p:sp>
        <p:nvSpPr>
          <p:cNvPr id="44" name="Text 33"/>
          <p:cNvSpPr txBox="1"/>
          <p:nvPr/>
        </p:nvSpPr>
        <p:spPr>
          <a:xfrm>
            <a:off x="6096305" y="5533949"/>
            <a:ext cx="3143707" cy="333756"/>
          </a:xfrm>
          <a:prstGeom prst="rect">
            <a:avLst/>
          </a:prstGeom>
          <a:noFill/>
          <a:ln/>
        </p:spPr>
        <p:txBody>
          <a:bodyPr wrap="square" lIns="0" tIns="0" rIns="0" bIns="0" rtlCol="0" anchor="ctr"/>
          <a:lstStyle/>
          <a:p>
            <a:pPr algn="l" indent="0" marL="0">
              <a:buNone/>
            </a:pPr>
            <a:r>
              <a:rPr lang="en-US" sz="1800" b="1" dirty="0">
                <a:solidFill>
                  <a:srgbClr val="0066CC"/>
                </a:solidFill>
                <a:latin typeface="Noto Sans JP" pitchFamily="34" charset="0"/>
                <a:ea typeface="Noto Sans JP" pitchFamily="34" charset="-122"/>
                <a:cs typeface="Noto Sans JP" pitchFamily="34" charset="-120"/>
              </a:rPr>
              <a:t>プロジェクト成功のポイント</a:t>
            </a:r>
            <a:endParaRPr lang="en-US" sz="1800" dirty="0"/>
          </a:p>
        </p:txBody>
      </p:sp>
      <p:sp>
        <p:nvSpPr>
          <p:cNvPr id="45" name="Shape 34"/>
          <p:cNvSpPr/>
          <p:nvPr/>
        </p:nvSpPr>
        <p:spPr>
          <a:xfrm>
            <a:off x="6096305" y="6029554"/>
            <a:ext cx="5715000" cy="381305"/>
          </a:xfrm>
          <a:prstGeom prst="rect">
            <a:avLst/>
          </a:prstGeom>
          <a:solidFill>
            <a:srgbClr val="ADD8E6">
              <a:alpha val="20000"/>
            </a:srgbClr>
          </a:solidFill>
          <a:ln/>
        </p:spPr>
      </p:sp>
      <p:sp>
        <p:nvSpPr>
          <p:cNvPr id="46" name="Shape 35"/>
          <p:cNvSpPr/>
          <p:nvPr/>
        </p:nvSpPr>
        <p:spPr>
          <a:xfrm>
            <a:off x="6096305" y="6029554"/>
            <a:ext cx="28346" cy="381305"/>
          </a:xfrm>
          <a:prstGeom prst="rect">
            <a:avLst/>
          </a:prstGeom>
          <a:solidFill>
            <a:srgbClr val="0066CC"/>
          </a:solidFill>
          <a:ln/>
        </p:spPr>
      </p:sp>
      <p:sp>
        <p:nvSpPr>
          <p:cNvPr id="47" name="Text 36"/>
          <p:cNvSpPr txBox="1"/>
          <p:nvPr/>
        </p:nvSpPr>
        <p:spPr>
          <a:xfrm>
            <a:off x="6238951" y="6105449"/>
            <a:ext cx="4420210"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段階的アプローチ： リスクを最小化しながら効果を確認できる</a:t>
            </a:r>
            <a:endParaRPr lang="en-US" sz="1200" dirty="0"/>
          </a:p>
        </p:txBody>
      </p:sp>
      <p:sp>
        <p:nvSpPr>
          <p:cNvPr id="48" name="Shape 37"/>
          <p:cNvSpPr/>
          <p:nvPr/>
        </p:nvSpPr>
        <p:spPr>
          <a:xfrm>
            <a:off x="6096305" y="6486754"/>
            <a:ext cx="5715000" cy="381305"/>
          </a:xfrm>
          <a:prstGeom prst="rect">
            <a:avLst/>
          </a:prstGeom>
          <a:solidFill>
            <a:srgbClr val="ADD8E6">
              <a:alpha val="20000"/>
            </a:srgbClr>
          </a:solidFill>
          <a:ln/>
        </p:spPr>
      </p:sp>
      <p:sp>
        <p:nvSpPr>
          <p:cNvPr id="49" name="Shape 38"/>
          <p:cNvSpPr/>
          <p:nvPr/>
        </p:nvSpPr>
        <p:spPr>
          <a:xfrm>
            <a:off x="6096305" y="6486754"/>
            <a:ext cx="28346" cy="381305"/>
          </a:xfrm>
          <a:prstGeom prst="rect">
            <a:avLst/>
          </a:prstGeom>
          <a:solidFill>
            <a:srgbClr val="0066CC"/>
          </a:solidFill>
          <a:ln/>
        </p:spPr>
      </p:sp>
      <p:sp>
        <p:nvSpPr>
          <p:cNvPr id="50" name="Text 39"/>
          <p:cNvSpPr txBox="1"/>
          <p:nvPr/>
        </p:nvSpPr>
        <p:spPr>
          <a:xfrm>
            <a:off x="6238951" y="6562649"/>
            <a:ext cx="3810305"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現場の巻き込み： 設計段階から現場担当者と協働する</a:t>
            </a:r>
            <a:endParaRPr lang="en-US" sz="1200" dirty="0"/>
          </a:p>
        </p:txBody>
      </p:sp>
      <p:sp>
        <p:nvSpPr>
          <p:cNvPr id="51" name="Shape 40"/>
          <p:cNvSpPr/>
          <p:nvPr/>
        </p:nvSpPr>
        <p:spPr>
          <a:xfrm>
            <a:off x="6096305" y="6943954"/>
            <a:ext cx="5715000" cy="381305"/>
          </a:xfrm>
          <a:prstGeom prst="rect">
            <a:avLst/>
          </a:prstGeom>
          <a:solidFill>
            <a:srgbClr val="ADD8E6">
              <a:alpha val="20000"/>
            </a:srgbClr>
          </a:solidFill>
          <a:ln/>
        </p:spPr>
      </p:sp>
      <p:sp>
        <p:nvSpPr>
          <p:cNvPr id="52" name="Shape 41"/>
          <p:cNvSpPr/>
          <p:nvPr/>
        </p:nvSpPr>
        <p:spPr>
          <a:xfrm>
            <a:off x="6096305" y="6943954"/>
            <a:ext cx="28346" cy="381305"/>
          </a:xfrm>
          <a:prstGeom prst="rect">
            <a:avLst/>
          </a:prstGeom>
          <a:solidFill>
            <a:srgbClr val="0066CC"/>
          </a:solidFill>
          <a:ln/>
        </p:spPr>
      </p:sp>
      <p:sp>
        <p:nvSpPr>
          <p:cNvPr id="53" name="Text 42"/>
          <p:cNvSpPr txBox="1"/>
          <p:nvPr/>
        </p:nvSpPr>
        <p:spPr>
          <a:xfrm>
            <a:off x="6238951" y="7019849"/>
            <a:ext cx="3896258"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効果測定： 明確なKPIを設定し継続的に効果を検証する</a:t>
            </a:r>
            <a:endParaRPr lang="en-US" sz="1200" dirty="0"/>
          </a:p>
        </p:txBody>
      </p:sp>
      <p:sp>
        <p:nvSpPr>
          <p:cNvPr id="54" name="Text 43"/>
          <p:cNvSpPr txBox="1"/>
          <p:nvPr/>
        </p:nvSpPr>
        <p:spPr>
          <a:xfrm>
            <a:off x="11726266" y="7629754"/>
            <a:ext cx="200254" cy="228600"/>
          </a:xfrm>
          <a:prstGeom prst="rect">
            <a:avLst/>
          </a:prstGeom>
          <a:noFill/>
          <a:ln/>
        </p:spPr>
        <p:txBody>
          <a:bodyPr wrap="square" lIns="0" tIns="0" rIns="0" bIns="0" rtlCol="0" anchor="ctr"/>
          <a:lstStyle/>
          <a:p>
            <a:pPr algn="r" indent="0" marL="0">
              <a:buNone/>
            </a:pPr>
            <a:r>
              <a:rPr lang="en-US" sz="1200" dirty="0">
                <a:solidFill>
                  <a:srgbClr val="003366"/>
                </a:solidFill>
                <a:latin typeface="Noto Sans JP" pitchFamily="34" charset="0"/>
                <a:ea typeface="Noto Sans JP" pitchFamily="34" charset="-122"/>
                <a:cs typeface="Noto Sans JP"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7524598"/>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4A90E2">
              <a:alpha val="10000"/>
            </a:srgbClr>
          </a:solidFill>
          <a:ln/>
        </p:spPr>
      </p:sp>
      <p:sp>
        <p:nvSpPr>
          <p:cNvPr id="4" name="Shape 2"/>
          <p:cNvSpPr/>
          <p:nvPr/>
        </p:nvSpPr>
        <p:spPr>
          <a:xfrm>
            <a:off x="952805" y="6088075"/>
            <a:ext cx="1904695" cy="1904695"/>
          </a:xfrm>
          <a:prstGeom prst="rect">
            <a:avLst/>
          </a:prstGeom>
          <a:solidFill>
            <a:srgbClr val="4A90E2">
              <a:alpha val="10000"/>
            </a:srgbClr>
          </a:solidFill>
          <a:ln/>
        </p:spPr>
      </p:sp>
      <p:sp>
        <p:nvSpPr>
          <p:cNvPr id="5" name="Text 3"/>
          <p:cNvSpPr txBox="1"/>
          <p:nvPr/>
        </p:nvSpPr>
        <p:spPr>
          <a:xfrm>
            <a:off x="381305" y="333756"/>
            <a:ext cx="6762902" cy="495605"/>
          </a:xfrm>
          <a:prstGeom prst="rect">
            <a:avLst/>
          </a:prstGeom>
          <a:noFill/>
          <a:ln/>
        </p:spPr>
        <p:txBody>
          <a:bodyPr wrap="square" lIns="0" tIns="0" rIns="0" bIns="0" rtlCol="0" anchor="ctr"/>
          <a:lstStyle/>
          <a:p>
            <a:pPr algn="l" indent="0" marL="0">
              <a:buNone/>
            </a:pPr>
            <a:r>
              <a:rPr lang="en-US" sz="2700" b="1" dirty="0">
                <a:solidFill>
                  <a:srgbClr val="003366"/>
                </a:solidFill>
                <a:latin typeface="Noto Sans JP" pitchFamily="34" charset="0"/>
                <a:ea typeface="Noto Sans JP" pitchFamily="34" charset="-122"/>
                <a:cs typeface="Noto Sans JP" pitchFamily="34" charset="-120"/>
              </a:rPr>
              <a:t>導入効果シミュレーション（実績データ）</a:t>
            </a:r>
            <a:endParaRPr lang="en-US" sz="2700" dirty="0"/>
          </a:p>
        </p:txBody>
      </p:sp>
      <p:sp>
        <p:nvSpPr>
          <p:cNvPr id="6" name="Shape 4"/>
          <p:cNvSpPr/>
          <p:nvPr/>
        </p:nvSpPr>
        <p:spPr>
          <a:xfrm>
            <a:off x="381305" y="907085"/>
            <a:ext cx="571500" cy="38405"/>
          </a:xfrm>
          <a:prstGeom prst="rect">
            <a:avLst/>
          </a:prstGeom>
          <a:solidFill>
            <a:srgbClr val="4A90E2"/>
          </a:solidFill>
          <a:ln/>
        </p:spPr>
      </p:sp>
      <p:sp>
        <p:nvSpPr>
          <p:cNvPr id="7" name="Text 5"/>
          <p:cNvSpPr txBox="1"/>
          <p:nvPr/>
        </p:nvSpPr>
        <p:spPr>
          <a:xfrm>
            <a:off x="381305" y="1097280"/>
            <a:ext cx="3448202" cy="228600"/>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AI導入による業務改善効果の実測値に基づく試算</a:t>
            </a:r>
            <a:endParaRPr lang="en-US" sz="1200" dirty="0"/>
          </a:p>
        </p:txBody>
      </p:sp>
      <p:sp>
        <p:nvSpPr>
          <p:cNvPr id="8" name="Text 6"/>
          <p:cNvSpPr txBox="1"/>
          <p:nvPr/>
        </p:nvSpPr>
        <p:spPr>
          <a:xfrm>
            <a:off x="381305" y="1554480"/>
            <a:ext cx="2000707" cy="333756"/>
          </a:xfrm>
          <a:prstGeom prst="rect">
            <a:avLst/>
          </a:prstGeom>
          <a:noFill/>
          <a:ln/>
        </p:spPr>
        <p:txBody>
          <a:bodyPr wrap="square" lIns="0" tIns="0" rIns="0" bIns="0" rtlCol="0" anchor="ctr"/>
          <a:lstStyle/>
          <a:p>
            <a:pPr algn="l" indent="0" marL="0">
              <a:buNone/>
            </a:pPr>
            <a:r>
              <a:rPr lang="en-US" sz="1800" b="1" dirty="0">
                <a:solidFill>
                  <a:srgbClr val="0052CC"/>
                </a:solidFill>
                <a:latin typeface="Noto Sans JP" pitchFamily="34" charset="0"/>
                <a:ea typeface="Noto Sans JP" pitchFamily="34" charset="-122"/>
                <a:cs typeface="Noto Sans JP" pitchFamily="34" charset="-120"/>
              </a:rPr>
              <a:t>年間工数削減効果</a:t>
            </a:r>
            <a:endParaRPr lang="en-US" sz="1800" dirty="0"/>
          </a:p>
        </p:txBody>
      </p:sp>
      <p:pic>
        <p:nvPicPr>
          <p:cNvPr id="9" name="Image 0" descr="preencoded.png">    </p:cNvPr>
          <p:cNvPicPr>
            <a:picLocks noChangeAspect="1"/>
          </p:cNvPicPr>
          <p:nvPr/>
        </p:nvPicPr>
        <p:blipFill>
          <a:blip r:embed="rId1"/>
          <a:srcRect l="-8" r="-8" t="0" b="0"/>
          <a:stretch/>
        </p:blipFill>
        <p:spPr>
          <a:xfrm>
            <a:off x="381305" y="2011680"/>
            <a:ext cx="3657600" cy="1904695"/>
          </a:xfrm>
          <a:prstGeom prst="rect">
            <a:avLst/>
          </a:prstGeom>
        </p:spPr>
      </p:pic>
      <p:sp>
        <p:nvSpPr>
          <p:cNvPr id="10" name="Shape 7"/>
          <p:cNvSpPr/>
          <p:nvPr/>
        </p:nvSpPr>
        <p:spPr>
          <a:xfrm>
            <a:off x="381305" y="4059936"/>
            <a:ext cx="3657600" cy="1086307"/>
          </a:xfrm>
          <a:prstGeom prst="rect">
            <a:avLst/>
          </a:prstGeom>
          <a:solidFill>
            <a:srgbClr val="FFFFFF"/>
          </a:solidFill>
          <a:ln w="12700">
            <a:solidFill>
              <a:srgbClr val="E6F2FF"/>
            </a:solidFill>
            <a:prstDash val="solid"/>
          </a:ln>
          <a:effectLst>
            <a:outerShdw sx="100000" sy="100000" kx="0" ky="0" algn="bl" rotWithShape="0" blurRad="38100" dist="25400" dir="5400000">
              <a:srgbClr val="000000">
                <a:alpha val="5000"/>
              </a:srgbClr>
            </a:outerShdw>
          </a:effectLst>
        </p:spPr>
      </p:sp>
      <p:sp>
        <p:nvSpPr>
          <p:cNvPr id="11" name="Text 8"/>
          <p:cNvSpPr txBox="1"/>
          <p:nvPr/>
        </p:nvSpPr>
        <p:spPr>
          <a:xfrm>
            <a:off x="533095" y="4183380"/>
            <a:ext cx="1343254"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実績データ分析：</a:t>
            </a:r>
            <a:endParaRPr lang="en-US" sz="1200" dirty="0"/>
          </a:p>
        </p:txBody>
      </p:sp>
      <p:sp>
        <p:nvSpPr>
          <p:cNvPr id="12" name="Text 9"/>
          <p:cNvSpPr txBox="1"/>
          <p:nvPr/>
        </p:nvSpPr>
        <p:spPr>
          <a:xfrm>
            <a:off x="533095" y="4431182"/>
            <a:ext cx="3486607" cy="609905"/>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導入企業の規模により、年間1,400～4,200時間の工数削減を達成。平均して30％の業務時間削減が実現</a:t>
            </a:r>
            <a:endParaRPr lang="en-US" sz="1200" dirty="0"/>
          </a:p>
        </p:txBody>
      </p:sp>
      <p:sp>
        <p:nvSpPr>
          <p:cNvPr id="13" name="Text 10"/>
          <p:cNvSpPr txBox="1"/>
          <p:nvPr/>
        </p:nvSpPr>
        <p:spPr>
          <a:xfrm>
            <a:off x="4267505" y="1554480"/>
            <a:ext cx="2000707" cy="333756"/>
          </a:xfrm>
          <a:prstGeom prst="rect">
            <a:avLst/>
          </a:prstGeom>
          <a:noFill/>
          <a:ln/>
        </p:spPr>
        <p:txBody>
          <a:bodyPr wrap="square" lIns="0" tIns="0" rIns="0" bIns="0" rtlCol="0" anchor="ctr"/>
          <a:lstStyle/>
          <a:p>
            <a:pPr algn="l" indent="0" marL="0">
              <a:buNone/>
            </a:pPr>
            <a:r>
              <a:rPr lang="en-US" sz="1800" b="1" dirty="0">
                <a:solidFill>
                  <a:srgbClr val="0052CC"/>
                </a:solidFill>
                <a:latin typeface="Noto Sans JP" pitchFamily="34" charset="0"/>
                <a:ea typeface="Noto Sans JP" pitchFamily="34" charset="-122"/>
                <a:cs typeface="Noto Sans JP" pitchFamily="34" charset="-120"/>
              </a:rPr>
              <a:t>対応スピード向上</a:t>
            </a:r>
            <a:endParaRPr lang="en-US" sz="1800" dirty="0"/>
          </a:p>
        </p:txBody>
      </p:sp>
      <p:pic>
        <p:nvPicPr>
          <p:cNvPr id="14" name="Image 1" descr="preencoded.png">    </p:cNvPr>
          <p:cNvPicPr>
            <a:picLocks noChangeAspect="1"/>
          </p:cNvPicPr>
          <p:nvPr/>
        </p:nvPicPr>
        <p:blipFill>
          <a:blip r:embed="rId2"/>
          <a:srcRect l="-8" r="-8" t="0" b="0"/>
          <a:stretch/>
        </p:blipFill>
        <p:spPr>
          <a:xfrm>
            <a:off x="4267505" y="2011680"/>
            <a:ext cx="3657600" cy="1904695"/>
          </a:xfrm>
          <a:prstGeom prst="rect">
            <a:avLst/>
          </a:prstGeom>
        </p:spPr>
      </p:pic>
      <p:sp>
        <p:nvSpPr>
          <p:cNvPr id="15" name="Shape 11"/>
          <p:cNvSpPr/>
          <p:nvPr/>
        </p:nvSpPr>
        <p:spPr>
          <a:xfrm>
            <a:off x="4267505" y="4059936"/>
            <a:ext cx="3657600" cy="1086307"/>
          </a:xfrm>
          <a:prstGeom prst="rect">
            <a:avLst/>
          </a:prstGeom>
          <a:solidFill>
            <a:srgbClr val="FFFFFF"/>
          </a:solidFill>
          <a:ln w="12700">
            <a:solidFill>
              <a:srgbClr val="E6F2FF"/>
            </a:solidFill>
            <a:prstDash val="solid"/>
          </a:ln>
          <a:effectLst>
            <a:outerShdw sx="100000" sy="100000" kx="0" ky="0" algn="bl" rotWithShape="0" blurRad="38100" dist="25400" dir="5400000">
              <a:srgbClr val="000000">
                <a:alpha val="5000"/>
              </a:srgbClr>
            </a:outerShdw>
          </a:effectLst>
        </p:spPr>
      </p:sp>
      <p:sp>
        <p:nvSpPr>
          <p:cNvPr id="16" name="Text 12"/>
          <p:cNvSpPr txBox="1"/>
          <p:nvPr/>
        </p:nvSpPr>
        <p:spPr>
          <a:xfrm>
            <a:off x="4419295" y="4183380"/>
            <a:ext cx="886054"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改善効果：</a:t>
            </a:r>
            <a:endParaRPr lang="en-US" sz="1200" dirty="0"/>
          </a:p>
        </p:txBody>
      </p:sp>
      <p:sp>
        <p:nvSpPr>
          <p:cNvPr id="17" name="Text 13"/>
          <p:cNvSpPr txBox="1"/>
          <p:nvPr/>
        </p:nvSpPr>
        <p:spPr>
          <a:xfrm>
            <a:off x="4419295" y="4431182"/>
            <a:ext cx="3419856" cy="609905"/>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24時間365日稼働によりレスポンス時間が平均2倍に向上。処理日数が20日→1日に短縮された事例も</a:t>
            </a:r>
            <a:endParaRPr lang="en-US" sz="1200" dirty="0"/>
          </a:p>
        </p:txBody>
      </p:sp>
      <p:sp>
        <p:nvSpPr>
          <p:cNvPr id="18" name="Text 14"/>
          <p:cNvSpPr txBox="1"/>
          <p:nvPr/>
        </p:nvSpPr>
        <p:spPr>
          <a:xfrm>
            <a:off x="8153705" y="1554480"/>
            <a:ext cx="1772107" cy="333756"/>
          </a:xfrm>
          <a:prstGeom prst="rect">
            <a:avLst/>
          </a:prstGeom>
          <a:noFill/>
          <a:ln/>
        </p:spPr>
        <p:txBody>
          <a:bodyPr wrap="square" lIns="0" tIns="0" rIns="0" bIns="0" rtlCol="0" anchor="ctr"/>
          <a:lstStyle/>
          <a:p>
            <a:pPr algn="l" indent="0" marL="0">
              <a:buNone/>
            </a:pPr>
            <a:r>
              <a:rPr lang="en-US" sz="1800" b="1" dirty="0">
                <a:solidFill>
                  <a:srgbClr val="0052CC"/>
                </a:solidFill>
                <a:latin typeface="Noto Sans JP" pitchFamily="34" charset="0"/>
                <a:ea typeface="Noto Sans JP" pitchFamily="34" charset="-122"/>
                <a:cs typeface="Noto Sans JP" pitchFamily="34" charset="-120"/>
              </a:rPr>
              <a:t>ミス発生率低減</a:t>
            </a:r>
            <a:endParaRPr lang="en-US" sz="1800" dirty="0"/>
          </a:p>
        </p:txBody>
      </p:sp>
      <p:pic>
        <p:nvPicPr>
          <p:cNvPr id="19" name="Image 2" descr="preencoded.png">    </p:cNvPr>
          <p:cNvPicPr>
            <a:picLocks noChangeAspect="1"/>
          </p:cNvPicPr>
          <p:nvPr/>
        </p:nvPicPr>
        <p:blipFill>
          <a:blip r:embed="rId3"/>
          <a:srcRect l="-8" r="-8" t="0" b="0"/>
          <a:stretch/>
        </p:blipFill>
        <p:spPr>
          <a:xfrm>
            <a:off x="8153705" y="2011680"/>
            <a:ext cx="3657600" cy="1904695"/>
          </a:xfrm>
          <a:prstGeom prst="rect">
            <a:avLst/>
          </a:prstGeom>
        </p:spPr>
      </p:pic>
      <p:sp>
        <p:nvSpPr>
          <p:cNvPr id="20" name="Shape 15"/>
          <p:cNvSpPr/>
          <p:nvPr/>
        </p:nvSpPr>
        <p:spPr>
          <a:xfrm>
            <a:off x="8153705" y="4059936"/>
            <a:ext cx="3657600" cy="1086307"/>
          </a:xfrm>
          <a:prstGeom prst="rect">
            <a:avLst/>
          </a:prstGeom>
          <a:solidFill>
            <a:srgbClr val="FFFFFF"/>
          </a:solidFill>
          <a:ln w="12700">
            <a:solidFill>
              <a:srgbClr val="E6F2FF"/>
            </a:solidFill>
            <a:prstDash val="solid"/>
          </a:ln>
          <a:effectLst>
            <a:outerShdw sx="100000" sy="100000" kx="0" ky="0" algn="bl" rotWithShape="0" blurRad="38100" dist="25400" dir="5400000">
              <a:srgbClr val="000000">
                <a:alpha val="5000"/>
              </a:srgbClr>
            </a:outerShdw>
          </a:effectLst>
        </p:spPr>
      </p:sp>
      <p:sp>
        <p:nvSpPr>
          <p:cNvPr id="21" name="Text 16"/>
          <p:cNvSpPr txBox="1"/>
          <p:nvPr/>
        </p:nvSpPr>
        <p:spPr>
          <a:xfrm>
            <a:off x="8305495" y="4183380"/>
            <a:ext cx="1038758" cy="228600"/>
          </a:xfrm>
          <a:prstGeom prst="rect">
            <a:avLst/>
          </a:prstGeom>
          <a:noFill/>
          <a:ln/>
        </p:spPr>
        <p:txBody>
          <a:bodyPr wrap="square" lIns="0" tIns="0" rIns="0" bIns="0" rtlCol="0" anchor="ctr"/>
          <a:lstStyle/>
          <a:p>
            <a:pPr algn="l" indent="0" marL="0">
              <a:buNone/>
            </a:pPr>
            <a:r>
              <a:rPr lang="en-US" sz="1200" b="1" dirty="0">
                <a:solidFill>
                  <a:srgbClr val="0052CC"/>
                </a:solidFill>
                <a:latin typeface="Noto Sans JP" pitchFamily="34" charset="0"/>
                <a:ea typeface="Noto Sans JP" pitchFamily="34" charset="-122"/>
                <a:cs typeface="Noto Sans JP" pitchFamily="34" charset="-120"/>
              </a:rPr>
              <a:t>信頼性向上：</a:t>
            </a:r>
            <a:endParaRPr lang="en-US" sz="1200" dirty="0"/>
          </a:p>
        </p:txBody>
      </p:sp>
      <p:sp>
        <p:nvSpPr>
          <p:cNvPr id="22" name="Text 17"/>
          <p:cNvSpPr txBox="1"/>
          <p:nvPr/>
        </p:nvSpPr>
        <p:spPr>
          <a:xfrm>
            <a:off x="8305495" y="4431182"/>
            <a:ext cx="3477463" cy="609905"/>
          </a:xfrm>
          <a:prstGeom prst="rect">
            <a:avLst/>
          </a:prstGeom>
          <a:noFill/>
          <a:ln/>
        </p:spPr>
        <p:txBody>
          <a:bodyPr wrap="square" lIns="0" tIns="0" rIns="0" bIns="0" rtlCol="0" anchor="ctr"/>
          <a:lstStyle/>
          <a:p>
            <a:pPr algn="l" indent="0" marL="0">
              <a:buNone/>
            </a:pPr>
            <a:r>
              <a:rPr lang="en-US" sz="1200" dirty="0">
                <a:solidFill>
                  <a:srgbClr val="003366"/>
                </a:solidFill>
                <a:latin typeface="Noto Sans JP" pitchFamily="34" charset="0"/>
                <a:ea typeface="Noto Sans JP" pitchFamily="34" charset="-122"/>
                <a:cs typeface="Noto Sans JP" pitchFamily="34" charset="-120"/>
              </a:rPr>
              <a:t>人的ミスが多発していた転記・入力作業で80%のエラー削減を実現。安定した品質で顧客満足度が向上</a:t>
            </a:r>
            <a:endParaRPr lang="en-US" sz="1200" dirty="0"/>
          </a:p>
        </p:txBody>
      </p:sp>
      <p:sp>
        <p:nvSpPr>
          <p:cNvPr id="23" name="Text 18"/>
          <p:cNvSpPr txBox="1"/>
          <p:nvPr/>
        </p:nvSpPr>
        <p:spPr>
          <a:xfrm>
            <a:off x="381305" y="5393131"/>
            <a:ext cx="3134563" cy="333756"/>
          </a:xfrm>
          <a:prstGeom prst="rect">
            <a:avLst/>
          </a:prstGeom>
          <a:noFill/>
          <a:ln/>
        </p:spPr>
        <p:txBody>
          <a:bodyPr wrap="square" lIns="0" tIns="0" rIns="0" bIns="0" rtlCol="0" anchor="ctr"/>
          <a:lstStyle/>
          <a:p>
            <a:pPr algn="l" indent="0" marL="0">
              <a:buNone/>
            </a:pPr>
            <a:r>
              <a:rPr lang="en-US" sz="1800" b="1" dirty="0">
                <a:solidFill>
                  <a:srgbClr val="0052CC"/>
                </a:solidFill>
                <a:latin typeface="Noto Sans JP" pitchFamily="34" charset="0"/>
                <a:ea typeface="Noto Sans JP" pitchFamily="34" charset="-122"/>
                <a:cs typeface="Noto Sans JP" pitchFamily="34" charset="-120"/>
              </a:rPr>
              <a:t>主要効果指標（実績ベース）</a:t>
            </a:r>
            <a:endParaRPr lang="en-US" sz="1800" dirty="0"/>
          </a:p>
        </p:txBody>
      </p:sp>
      <p:sp>
        <p:nvSpPr>
          <p:cNvPr id="24" name="Shape 19"/>
          <p:cNvSpPr/>
          <p:nvPr/>
        </p:nvSpPr>
        <p:spPr>
          <a:xfrm>
            <a:off x="381305" y="5850331"/>
            <a:ext cx="2286000" cy="1285646"/>
          </a:xfrm>
          <a:prstGeom prst="roundRect">
            <a:avLst>
              <a:gd name="adj" fmla="val 2107"/>
            </a:avLst>
          </a:prstGeom>
          <a:solidFill>
            <a:srgbClr val="F8FBFF"/>
          </a:solidFill>
          <a:ln w="12700">
            <a:solidFill>
              <a:srgbClr val="E6F2FF"/>
            </a:solidFill>
            <a:prstDash val="solid"/>
          </a:ln>
        </p:spPr>
      </p:sp>
      <p:sp>
        <p:nvSpPr>
          <p:cNvPr id="25" name="Text 20"/>
          <p:cNvSpPr txBox="1"/>
          <p:nvPr/>
        </p:nvSpPr>
        <p:spPr>
          <a:xfrm>
            <a:off x="1102766" y="5973775"/>
            <a:ext cx="1019556"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1,400～</a:t>
            </a:r>
            <a:endParaRPr lang="en-US" sz="1800" dirty="0"/>
          </a:p>
        </p:txBody>
      </p:sp>
      <p:sp>
        <p:nvSpPr>
          <p:cNvPr id="26" name="Text 21"/>
          <p:cNvSpPr txBox="1"/>
          <p:nvPr/>
        </p:nvSpPr>
        <p:spPr>
          <a:xfrm>
            <a:off x="988466" y="6316675"/>
            <a:ext cx="1248156"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4,200時間</a:t>
            </a:r>
            <a:endParaRPr lang="en-US" sz="1800" dirty="0"/>
          </a:p>
        </p:txBody>
      </p:sp>
      <p:sp>
        <p:nvSpPr>
          <p:cNvPr id="27" name="Text 22"/>
          <p:cNvSpPr txBox="1"/>
          <p:nvPr/>
        </p:nvSpPr>
        <p:spPr>
          <a:xfrm>
            <a:off x="1123798" y="6659575"/>
            <a:ext cx="900684"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年間工数削減</a:t>
            </a:r>
            <a:endParaRPr lang="en-US" sz="1000" dirty="0"/>
          </a:p>
        </p:txBody>
      </p:sp>
      <p:sp>
        <p:nvSpPr>
          <p:cNvPr id="28" name="Text 23"/>
          <p:cNvSpPr txBox="1"/>
          <p:nvPr/>
        </p:nvSpPr>
        <p:spPr>
          <a:xfrm>
            <a:off x="1011326" y="6850685"/>
            <a:ext cx="1114654" cy="162763"/>
          </a:xfrm>
          <a:prstGeom prst="rect">
            <a:avLst/>
          </a:prstGeom>
          <a:noFill/>
          <a:ln/>
        </p:spPr>
        <p:txBody>
          <a:bodyPr wrap="square" lIns="0" tIns="0" rIns="0" bIns="0" rtlCol="0" anchor="ctr"/>
          <a:lstStyle/>
          <a:p>
            <a:pPr algn="ctr" indent="0" marL="0">
              <a:buNone/>
            </a:pPr>
            <a:r>
              <a:rPr lang="en-US" sz="900" dirty="0">
                <a:solidFill>
                  <a:srgbClr val="4A90E2"/>
                </a:solidFill>
                <a:latin typeface="Noto Sans JP" pitchFamily="34" charset="0"/>
                <a:ea typeface="Noto Sans JP" pitchFamily="34" charset="-122"/>
                <a:cs typeface="Noto Sans JP" pitchFamily="34" charset="-120"/>
              </a:rPr>
              <a:t>規模による差異あり</a:t>
            </a:r>
            <a:endParaRPr lang="en-US" sz="900" dirty="0"/>
          </a:p>
        </p:txBody>
      </p:sp>
      <p:sp>
        <p:nvSpPr>
          <p:cNvPr id="29" name="Shape 24"/>
          <p:cNvSpPr/>
          <p:nvPr/>
        </p:nvSpPr>
        <p:spPr>
          <a:xfrm>
            <a:off x="3429000" y="5850331"/>
            <a:ext cx="2286000" cy="1285646"/>
          </a:xfrm>
          <a:prstGeom prst="roundRect">
            <a:avLst>
              <a:gd name="adj" fmla="val 2107"/>
            </a:avLst>
          </a:prstGeom>
          <a:solidFill>
            <a:srgbClr val="F8FBFF"/>
          </a:solidFill>
          <a:ln w="12700">
            <a:solidFill>
              <a:srgbClr val="E6F2FF"/>
            </a:solidFill>
            <a:prstDash val="solid"/>
          </a:ln>
        </p:spPr>
      </p:sp>
      <p:sp>
        <p:nvSpPr>
          <p:cNvPr id="30" name="Text 25"/>
          <p:cNvSpPr txBox="1"/>
          <p:nvPr/>
        </p:nvSpPr>
        <p:spPr>
          <a:xfrm>
            <a:off x="4285793" y="5973775"/>
            <a:ext cx="752551"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2.0倍</a:t>
            </a:r>
            <a:endParaRPr lang="en-US" sz="1800" dirty="0"/>
          </a:p>
        </p:txBody>
      </p:sp>
      <p:sp>
        <p:nvSpPr>
          <p:cNvPr id="31" name="Text 26"/>
          <p:cNvSpPr txBox="1"/>
          <p:nvPr/>
        </p:nvSpPr>
        <p:spPr>
          <a:xfrm>
            <a:off x="4038905" y="6316675"/>
            <a:ext cx="1167689"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対応スピード向上</a:t>
            </a:r>
            <a:endParaRPr lang="en-US" sz="1000" dirty="0"/>
          </a:p>
        </p:txBody>
      </p:sp>
      <p:sp>
        <p:nvSpPr>
          <p:cNvPr id="32" name="Text 27"/>
          <p:cNvSpPr txBox="1"/>
          <p:nvPr/>
        </p:nvSpPr>
        <p:spPr>
          <a:xfrm>
            <a:off x="4051706" y="6507785"/>
            <a:ext cx="1133856" cy="162763"/>
          </a:xfrm>
          <a:prstGeom prst="rect">
            <a:avLst/>
          </a:prstGeom>
          <a:noFill/>
          <a:ln/>
        </p:spPr>
        <p:txBody>
          <a:bodyPr wrap="square" lIns="0" tIns="0" rIns="0" bIns="0" rtlCol="0" anchor="ctr"/>
          <a:lstStyle/>
          <a:p>
            <a:pPr algn="ctr" indent="0" marL="0">
              <a:buNone/>
            </a:pPr>
            <a:r>
              <a:rPr lang="en-US" sz="900" dirty="0">
                <a:solidFill>
                  <a:srgbClr val="4A90E2"/>
                </a:solidFill>
                <a:latin typeface="Noto Sans JP" pitchFamily="34" charset="0"/>
                <a:ea typeface="Noto Sans JP" pitchFamily="34" charset="-122"/>
                <a:cs typeface="Noto Sans JP" pitchFamily="34" charset="-120"/>
              </a:rPr>
              <a:t>24時間自動処理実現</a:t>
            </a:r>
            <a:endParaRPr lang="en-US" sz="900" dirty="0"/>
          </a:p>
        </p:txBody>
      </p:sp>
      <p:sp>
        <p:nvSpPr>
          <p:cNvPr id="33" name="Shape 28"/>
          <p:cNvSpPr/>
          <p:nvPr/>
        </p:nvSpPr>
        <p:spPr>
          <a:xfrm>
            <a:off x="6476695" y="5850331"/>
            <a:ext cx="2286000" cy="1285646"/>
          </a:xfrm>
          <a:prstGeom prst="roundRect">
            <a:avLst>
              <a:gd name="adj" fmla="val 2107"/>
            </a:avLst>
          </a:prstGeom>
          <a:solidFill>
            <a:srgbClr val="F8FBFF"/>
          </a:solidFill>
          <a:ln w="12700">
            <a:solidFill>
              <a:srgbClr val="E6F2FF"/>
            </a:solidFill>
            <a:prstDash val="solid"/>
          </a:ln>
        </p:spPr>
      </p:sp>
      <p:sp>
        <p:nvSpPr>
          <p:cNvPr id="34" name="Text 29"/>
          <p:cNvSpPr txBox="1"/>
          <p:nvPr/>
        </p:nvSpPr>
        <p:spPr>
          <a:xfrm>
            <a:off x="7260336" y="5973775"/>
            <a:ext cx="896112"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▲80%</a:t>
            </a:r>
            <a:endParaRPr lang="en-US" sz="1800" dirty="0"/>
          </a:p>
        </p:txBody>
      </p:sp>
      <p:sp>
        <p:nvSpPr>
          <p:cNvPr id="35" name="Text 30"/>
          <p:cNvSpPr txBox="1"/>
          <p:nvPr/>
        </p:nvSpPr>
        <p:spPr>
          <a:xfrm>
            <a:off x="7153351" y="6316675"/>
            <a:ext cx="1034186"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ミス発生率削減</a:t>
            </a:r>
            <a:endParaRPr lang="en-US" sz="1000" dirty="0"/>
          </a:p>
        </p:txBody>
      </p:sp>
      <p:sp>
        <p:nvSpPr>
          <p:cNvPr id="36" name="Text 31"/>
          <p:cNvSpPr txBox="1"/>
          <p:nvPr/>
        </p:nvSpPr>
        <p:spPr>
          <a:xfrm>
            <a:off x="6991502" y="6507785"/>
            <a:ext cx="1353312" cy="162763"/>
          </a:xfrm>
          <a:prstGeom prst="rect">
            <a:avLst/>
          </a:prstGeom>
          <a:noFill/>
          <a:ln/>
        </p:spPr>
        <p:txBody>
          <a:bodyPr wrap="square" lIns="0" tIns="0" rIns="0" bIns="0" rtlCol="0" anchor="ctr"/>
          <a:lstStyle/>
          <a:p>
            <a:pPr algn="ctr" indent="0" marL="0">
              <a:buNone/>
            </a:pPr>
            <a:r>
              <a:rPr lang="en-US" sz="900" dirty="0">
                <a:solidFill>
                  <a:srgbClr val="4A90E2"/>
                </a:solidFill>
                <a:latin typeface="Noto Sans JP" pitchFamily="34" charset="0"/>
                <a:ea typeface="Noto Sans JP" pitchFamily="34" charset="-122"/>
                <a:cs typeface="Noto Sans JP" pitchFamily="34" charset="-120"/>
              </a:rPr>
              <a:t>再作業コストの大幅削減</a:t>
            </a:r>
            <a:endParaRPr lang="en-US" sz="900" dirty="0"/>
          </a:p>
        </p:txBody>
      </p:sp>
      <p:sp>
        <p:nvSpPr>
          <p:cNvPr id="37" name="Shape 32"/>
          <p:cNvSpPr/>
          <p:nvPr/>
        </p:nvSpPr>
        <p:spPr>
          <a:xfrm>
            <a:off x="9525305" y="5850331"/>
            <a:ext cx="2286000" cy="1285646"/>
          </a:xfrm>
          <a:prstGeom prst="roundRect">
            <a:avLst>
              <a:gd name="adj" fmla="val 2107"/>
            </a:avLst>
          </a:prstGeom>
          <a:solidFill>
            <a:srgbClr val="F8FBFF"/>
          </a:solidFill>
          <a:ln w="12700">
            <a:solidFill>
              <a:srgbClr val="E6F2FF"/>
            </a:solidFill>
            <a:prstDash val="solid"/>
          </a:ln>
        </p:spPr>
      </p:sp>
      <p:sp>
        <p:nvSpPr>
          <p:cNvPr id="38" name="Text 33"/>
          <p:cNvSpPr txBox="1"/>
          <p:nvPr/>
        </p:nvSpPr>
        <p:spPr>
          <a:xfrm>
            <a:off x="10351008" y="5973775"/>
            <a:ext cx="810158"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250～</a:t>
            </a:r>
            <a:endParaRPr lang="en-US" sz="1800" dirty="0"/>
          </a:p>
        </p:txBody>
      </p:sp>
      <p:sp>
        <p:nvSpPr>
          <p:cNvPr id="39" name="Text 34"/>
          <p:cNvSpPr txBox="1"/>
          <p:nvPr/>
        </p:nvSpPr>
        <p:spPr>
          <a:xfrm>
            <a:off x="10236708" y="6316675"/>
            <a:ext cx="1038758"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430万円</a:t>
            </a:r>
            <a:endParaRPr lang="en-US" sz="1800" dirty="0"/>
          </a:p>
        </p:txBody>
      </p:sp>
      <p:sp>
        <p:nvSpPr>
          <p:cNvPr id="40" name="Text 35"/>
          <p:cNvSpPr txBox="1"/>
          <p:nvPr/>
        </p:nvSpPr>
        <p:spPr>
          <a:xfrm>
            <a:off x="10201046" y="6659575"/>
            <a:ext cx="1034186" cy="191110"/>
          </a:xfrm>
          <a:prstGeom prst="rect">
            <a:avLst/>
          </a:prstGeom>
          <a:noFill/>
          <a:ln/>
        </p:spPr>
        <p:txBody>
          <a:bodyPr wrap="square" lIns="0" tIns="0" rIns="0" bIns="0" rtlCol="0" anchor="ctr"/>
          <a:lstStyle/>
          <a:p>
            <a:pPr algn="ctr" indent="0" marL="0">
              <a:buNone/>
            </a:pPr>
            <a:r>
              <a:rPr lang="en-US" sz="1000" dirty="0">
                <a:solidFill>
                  <a:srgbClr val="003366"/>
                </a:solidFill>
                <a:latin typeface="Noto Sans JP" pitchFamily="34" charset="0"/>
                <a:ea typeface="Noto Sans JP" pitchFamily="34" charset="-122"/>
                <a:cs typeface="Noto Sans JP" pitchFamily="34" charset="-120"/>
              </a:rPr>
              <a:t>年間コスト削減</a:t>
            </a:r>
            <a:endParaRPr lang="en-US" sz="1000" dirty="0"/>
          </a:p>
        </p:txBody>
      </p:sp>
      <p:sp>
        <p:nvSpPr>
          <p:cNvPr id="41" name="Text 36"/>
          <p:cNvSpPr txBox="1"/>
          <p:nvPr/>
        </p:nvSpPr>
        <p:spPr>
          <a:xfrm>
            <a:off x="10153498" y="6850685"/>
            <a:ext cx="1124712" cy="162763"/>
          </a:xfrm>
          <a:prstGeom prst="rect">
            <a:avLst/>
          </a:prstGeom>
          <a:noFill/>
          <a:ln/>
        </p:spPr>
        <p:txBody>
          <a:bodyPr wrap="square" lIns="0" tIns="0" rIns="0" bIns="0" rtlCol="0" anchor="ctr"/>
          <a:lstStyle/>
          <a:p>
            <a:pPr algn="ctr" indent="0" marL="0">
              <a:buNone/>
            </a:pPr>
            <a:r>
              <a:rPr lang="en-US" sz="900" dirty="0">
                <a:solidFill>
                  <a:srgbClr val="4A90E2"/>
                </a:solidFill>
                <a:latin typeface="Noto Sans JP" pitchFamily="34" charset="0"/>
                <a:ea typeface="Noto Sans JP" pitchFamily="34" charset="-122"/>
                <a:cs typeface="Noto Sans JP" pitchFamily="34" charset="-120"/>
              </a:rPr>
              <a:t>初年度投資回収可能</a:t>
            </a:r>
            <a:endParaRPr lang="en-US" sz="900" dirty="0"/>
          </a:p>
        </p:txBody>
      </p:sp>
      <p:sp>
        <p:nvSpPr>
          <p:cNvPr id="42" name="Text 37"/>
          <p:cNvSpPr txBox="1"/>
          <p:nvPr/>
        </p:nvSpPr>
        <p:spPr>
          <a:xfrm>
            <a:off x="11642141" y="7135978"/>
            <a:ext cx="286207" cy="228600"/>
          </a:xfrm>
          <a:prstGeom prst="rect">
            <a:avLst/>
          </a:prstGeom>
          <a:noFill/>
          <a:ln/>
        </p:spPr>
        <p:txBody>
          <a:bodyPr wrap="square" lIns="0" tIns="0" rIns="0" bIns="0" rtlCol="0" anchor="ctr"/>
          <a:lstStyle/>
          <a:p>
            <a:pPr algn="r" indent="0" marL="0">
              <a:buNone/>
            </a:pPr>
            <a:r>
              <a:rPr lang="en-US" sz="1200" dirty="0">
                <a:solidFill>
                  <a:srgbClr val="003366"/>
                </a:solidFill>
                <a:latin typeface="Noto Sans JP" pitchFamily="34" charset="0"/>
                <a:ea typeface="Noto Sans JP" pitchFamily="34" charset="-122"/>
                <a:cs typeface="Noto Sans JP"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3E92CC">
              <a:alpha val="10000"/>
            </a:srgbClr>
          </a:solidFill>
          <a:ln/>
        </p:spPr>
      </p:sp>
      <p:sp>
        <p:nvSpPr>
          <p:cNvPr id="4" name="Shape 2"/>
          <p:cNvSpPr/>
          <p:nvPr/>
        </p:nvSpPr>
        <p:spPr>
          <a:xfrm>
            <a:off x="952805" y="5429707"/>
            <a:ext cx="1904695" cy="1904695"/>
          </a:xfrm>
          <a:prstGeom prst="rect">
            <a:avLst/>
          </a:prstGeom>
          <a:solidFill>
            <a:srgbClr val="3E92CC">
              <a:alpha val="10000"/>
            </a:srgbClr>
          </a:solidFill>
          <a:ln/>
        </p:spPr>
      </p:sp>
      <p:sp>
        <p:nvSpPr>
          <p:cNvPr id="5" name="Text 3"/>
          <p:cNvSpPr txBox="1"/>
          <p:nvPr/>
        </p:nvSpPr>
        <p:spPr>
          <a:xfrm>
            <a:off x="381305" y="484632"/>
            <a:ext cx="3696005" cy="495605"/>
          </a:xfrm>
          <a:prstGeom prst="rect">
            <a:avLst/>
          </a:prstGeom>
          <a:noFill/>
          <a:ln/>
        </p:spPr>
        <p:txBody>
          <a:bodyPr wrap="square" lIns="0" tIns="0" rIns="0" bIns="0" rtlCol="0" anchor="ctr"/>
          <a:lstStyle/>
          <a:p>
            <a:pPr algn="l" indent="0" marL="0">
              <a:buNone/>
            </a:pPr>
            <a:r>
              <a:rPr lang="en-US" sz="2700" b="1" dirty="0">
                <a:solidFill>
                  <a:srgbClr val="0A2463"/>
                </a:solidFill>
                <a:latin typeface="Noto Sans JP" pitchFamily="34" charset="0"/>
                <a:ea typeface="Noto Sans JP" pitchFamily="34" charset="-122"/>
                <a:cs typeface="Noto Sans JP" pitchFamily="34" charset="-120"/>
              </a:rPr>
              <a:t>導入実績・お客様の声</a:t>
            </a:r>
            <a:endParaRPr lang="en-US" sz="2700" dirty="0"/>
          </a:p>
        </p:txBody>
      </p:sp>
      <p:sp>
        <p:nvSpPr>
          <p:cNvPr id="6" name="Shape 4"/>
          <p:cNvSpPr/>
          <p:nvPr/>
        </p:nvSpPr>
        <p:spPr>
          <a:xfrm>
            <a:off x="381305" y="1057961"/>
            <a:ext cx="571500" cy="38405"/>
          </a:xfrm>
          <a:prstGeom prst="rect">
            <a:avLst/>
          </a:prstGeom>
          <a:solidFill>
            <a:srgbClr val="3E92CC"/>
          </a:solidFill>
          <a:ln/>
        </p:spPr>
      </p:sp>
      <p:sp>
        <p:nvSpPr>
          <p:cNvPr id="7" name="Text 5"/>
          <p:cNvSpPr txBox="1"/>
          <p:nvPr/>
        </p:nvSpPr>
        <p:spPr>
          <a:xfrm>
            <a:off x="381305" y="1324966"/>
            <a:ext cx="5477256" cy="4572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AI導入の効果： 実際の導入企業における数値実績から、業務効率と顧客満足度の大幅な向上が実証されています</a:t>
            </a:r>
            <a:endParaRPr lang="en-US" sz="1200" dirty="0"/>
          </a:p>
        </p:txBody>
      </p:sp>
      <p:sp>
        <p:nvSpPr>
          <p:cNvPr id="8" name="Text 6"/>
          <p:cNvSpPr txBox="1"/>
          <p:nvPr/>
        </p:nvSpPr>
        <p:spPr>
          <a:xfrm>
            <a:off x="381305" y="1934870"/>
            <a:ext cx="1191463"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主な導入効果：</a:t>
            </a:r>
            <a:endParaRPr lang="en-US" sz="1200" dirty="0"/>
          </a:p>
        </p:txBody>
      </p:sp>
      <p:sp>
        <p:nvSpPr>
          <p:cNvPr id="9" name="Text 7"/>
          <p:cNvSpPr txBox="1"/>
          <p:nvPr/>
        </p:nvSpPr>
        <p:spPr>
          <a:xfrm>
            <a:off x="609905" y="2315261"/>
            <a:ext cx="3943807"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定型業務の自動化により月間22万時間の工数削減を実現</a:t>
            </a:r>
            <a:endParaRPr lang="en-US" sz="1200" dirty="0"/>
          </a:p>
        </p:txBody>
      </p:sp>
      <p:sp>
        <p:nvSpPr>
          <p:cNvPr id="10" name="Text 8"/>
          <p:cNvSpPr txBox="1"/>
          <p:nvPr/>
        </p:nvSpPr>
        <p:spPr>
          <a:xfrm>
            <a:off x="609905" y="2620670"/>
            <a:ext cx="4981651"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AIアシスタント導入で日常業務の質問に即時対応（1日5,000回の利用）</a:t>
            </a:r>
            <a:endParaRPr lang="en-US" sz="1200" dirty="0"/>
          </a:p>
        </p:txBody>
      </p:sp>
      <p:sp>
        <p:nvSpPr>
          <p:cNvPr id="11" name="Text 9"/>
          <p:cNvSpPr txBox="1"/>
          <p:nvPr/>
        </p:nvSpPr>
        <p:spPr>
          <a:xfrm>
            <a:off x="609905" y="2925166"/>
            <a:ext cx="4791456"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ソフトウェア開発工程の効率化でエンジニア1人あたり1日2時間削減</a:t>
            </a:r>
            <a:endParaRPr lang="en-US" sz="1200" dirty="0"/>
          </a:p>
        </p:txBody>
      </p:sp>
      <p:sp>
        <p:nvSpPr>
          <p:cNvPr id="12" name="Text 10"/>
          <p:cNvSpPr txBox="1"/>
          <p:nvPr/>
        </p:nvSpPr>
        <p:spPr>
          <a:xfrm>
            <a:off x="609905" y="3229661"/>
            <a:ext cx="4229100" cy="228600"/>
          </a:xfrm>
          <a:prstGeom prst="rect">
            <a:avLst/>
          </a:prstGeom>
          <a:noFill/>
          <a:ln/>
        </p:spPr>
        <p:txBody>
          <a:bodyPr wrap="square" lIns="0" tIns="0" rIns="0" bIns="0" rtlCol="0" anchor="ctr"/>
          <a:lstStyle/>
          <a:p>
            <a:pPr algn="l" indent="0" marL="0">
              <a:buNone/>
            </a:pPr>
            <a:r>
              <a:rPr lang="en-US" sz="1200" dirty="0">
                <a:solidFill>
                  <a:srgbClr val="1E5091"/>
                </a:solidFill>
                <a:latin typeface="Noto Sans JP" pitchFamily="34" charset="0"/>
                <a:ea typeface="Noto Sans JP" pitchFamily="34" charset="-122"/>
                <a:cs typeface="Noto Sans JP" pitchFamily="34" charset="-120"/>
              </a:rPr>
              <a:t>従来は不可能だった大量データ分析による意思決定の高速化</a:t>
            </a:r>
            <a:endParaRPr lang="en-US" sz="1200" dirty="0"/>
          </a:p>
        </p:txBody>
      </p:sp>
      <p:sp>
        <p:nvSpPr>
          <p:cNvPr id="13" name="Shape 11"/>
          <p:cNvSpPr/>
          <p:nvPr/>
        </p:nvSpPr>
        <p:spPr>
          <a:xfrm>
            <a:off x="381305" y="3610966"/>
            <a:ext cx="5410505" cy="972007"/>
          </a:xfrm>
          <a:prstGeom prst="rect">
            <a:avLst/>
          </a:prstGeom>
          <a:solidFill>
            <a:srgbClr val="3E92CC">
              <a:alpha val="5000"/>
            </a:srgbClr>
          </a:solidFill>
          <a:ln/>
        </p:spPr>
      </p:sp>
      <p:sp>
        <p:nvSpPr>
          <p:cNvPr id="14" name="Shape 12"/>
          <p:cNvSpPr/>
          <p:nvPr/>
        </p:nvSpPr>
        <p:spPr>
          <a:xfrm>
            <a:off x="381305" y="3610966"/>
            <a:ext cx="28346" cy="972007"/>
          </a:xfrm>
          <a:prstGeom prst="rect">
            <a:avLst/>
          </a:prstGeom>
          <a:solidFill>
            <a:srgbClr val="3E92CC"/>
          </a:solidFill>
          <a:ln/>
        </p:spPr>
      </p:sp>
      <p:pic>
        <p:nvPicPr>
          <p:cNvPr id="15" name="Image 0" descr="preencoded.png">    </p:cNvPr>
          <p:cNvPicPr>
            <a:picLocks noChangeAspect="1"/>
          </p:cNvPicPr>
          <p:nvPr/>
        </p:nvPicPr>
        <p:blipFill>
          <a:blip r:embed="rId1">
            <a:alphaModFix amt="40000"/>
          </a:blip>
          <a:srcRect l="-57" r="-57" t="0" b="0"/>
          <a:stretch/>
        </p:blipFill>
        <p:spPr>
          <a:xfrm>
            <a:off x="504749" y="3706063"/>
            <a:ext cx="200254" cy="228600"/>
          </a:xfrm>
          <a:prstGeom prst="rect">
            <a:avLst/>
          </a:prstGeom>
        </p:spPr>
      </p:pic>
      <p:sp>
        <p:nvSpPr>
          <p:cNvPr id="16" name="Text 13"/>
          <p:cNvSpPr txBox="1"/>
          <p:nvPr/>
        </p:nvSpPr>
        <p:spPr>
          <a:xfrm>
            <a:off x="743407" y="3753612"/>
            <a:ext cx="4829861" cy="685800"/>
          </a:xfrm>
          <a:prstGeom prst="rect">
            <a:avLst/>
          </a:prstGeom>
          <a:noFill/>
          <a:ln/>
        </p:spPr>
        <p:txBody>
          <a:bodyPr wrap="square" lIns="0" tIns="0" rIns="0" bIns="0" rtlCol="0" anchor="ctr"/>
          <a:lstStyle/>
          <a:p>
            <a:pPr algn="l" indent="0" marL="0">
              <a:buNone/>
            </a:pPr>
            <a:r>
              <a:rPr lang="en-US" sz="1200" i="1" dirty="0">
                <a:solidFill>
                  <a:srgbClr val="0A2463"/>
                </a:solidFill>
                <a:latin typeface="Noto Sans JP" pitchFamily="34" charset="0"/>
                <a:ea typeface="Noto Sans JP" pitchFamily="34" charset="-122"/>
                <a:cs typeface="Noto Sans JP" pitchFamily="34" charset="-120"/>
              </a:rPr>
              <a:t>「AI導入により単純作業から解放され、本来の価値創造業務に集中できるようになりました。作業時間削減以上に、サービス品質と社員満足度の向上が大きな成果です」</a:t>
            </a:r>
            <a:endParaRPr lang="en-US" sz="1200" dirty="0"/>
          </a:p>
        </p:txBody>
      </p:sp>
      <p:pic>
        <p:nvPicPr>
          <p:cNvPr id="17" name="Image 1" descr="preencoded.png">    </p:cNvPr>
          <p:cNvPicPr>
            <a:picLocks noChangeAspect="1"/>
          </p:cNvPicPr>
          <p:nvPr/>
        </p:nvPicPr>
        <p:blipFill>
          <a:blip r:embed="rId2">
            <a:alphaModFix amt="40000"/>
          </a:blip>
          <a:srcRect l="-57" r="-57" t="0" b="0"/>
          <a:stretch/>
        </p:blipFill>
        <p:spPr>
          <a:xfrm>
            <a:off x="5495544" y="4258361"/>
            <a:ext cx="200254" cy="228600"/>
          </a:xfrm>
          <a:prstGeom prst="rect">
            <a:avLst/>
          </a:prstGeom>
        </p:spPr>
      </p:pic>
      <p:sp>
        <p:nvSpPr>
          <p:cNvPr id="18" name="Text 14"/>
          <p:cNvSpPr txBox="1"/>
          <p:nvPr/>
        </p:nvSpPr>
        <p:spPr>
          <a:xfrm>
            <a:off x="8039405" y="381305"/>
            <a:ext cx="2000707" cy="333756"/>
          </a:xfrm>
          <a:prstGeom prst="rect">
            <a:avLst/>
          </a:prstGeom>
          <a:noFill/>
          <a:ln/>
        </p:spPr>
        <p:txBody>
          <a:bodyPr wrap="square" lIns="0" tIns="0" rIns="0" bIns="0" rtlCol="0" anchor="ctr"/>
          <a:lstStyle/>
          <a:p>
            <a:pPr algn="ctr" indent="0" marL="0">
              <a:buNone/>
            </a:pPr>
            <a:r>
              <a:rPr lang="en-US" sz="1800" b="1" dirty="0">
                <a:solidFill>
                  <a:srgbClr val="3E92CC"/>
                </a:solidFill>
                <a:latin typeface="Noto Sans JP" pitchFamily="34" charset="0"/>
                <a:ea typeface="Noto Sans JP" pitchFamily="34" charset="-122"/>
                <a:cs typeface="Noto Sans JP" pitchFamily="34" charset="-120"/>
              </a:rPr>
              <a:t>国内企業導入事例</a:t>
            </a:r>
            <a:endParaRPr lang="en-US" sz="1800" dirty="0"/>
          </a:p>
        </p:txBody>
      </p:sp>
      <p:sp>
        <p:nvSpPr>
          <p:cNvPr id="19" name="Shape 15"/>
          <p:cNvSpPr/>
          <p:nvPr/>
        </p:nvSpPr>
        <p:spPr>
          <a:xfrm>
            <a:off x="6096305" y="875995"/>
            <a:ext cx="5715000" cy="1133856"/>
          </a:xfrm>
          <a:prstGeom prst="rect">
            <a:avLst/>
          </a:prstGeom>
          <a:solidFill>
            <a:srgbClr val="3E92CC">
              <a:alpha val="10000"/>
            </a:srgbClr>
          </a:solidFill>
          <a:ln/>
        </p:spPr>
      </p:sp>
      <p:sp>
        <p:nvSpPr>
          <p:cNvPr id="20" name="Shape 16"/>
          <p:cNvSpPr/>
          <p:nvPr/>
        </p:nvSpPr>
        <p:spPr>
          <a:xfrm>
            <a:off x="6096305" y="875995"/>
            <a:ext cx="28346" cy="1133856"/>
          </a:xfrm>
          <a:prstGeom prst="rect">
            <a:avLst/>
          </a:prstGeom>
          <a:solidFill>
            <a:srgbClr val="3E92CC"/>
          </a:solidFill>
          <a:ln/>
        </p:spPr>
      </p:sp>
      <p:pic>
        <p:nvPicPr>
          <p:cNvPr id="21" name="Image 2" descr="preencoded.png">    </p:cNvPr>
          <p:cNvPicPr>
            <a:picLocks noChangeAspect="1"/>
          </p:cNvPicPr>
          <p:nvPr/>
        </p:nvPicPr>
        <p:blipFill>
          <a:blip r:embed="rId3"/>
          <a:srcRect l="0" r="0" t="0" b="0"/>
          <a:stretch/>
        </p:blipFill>
        <p:spPr>
          <a:xfrm>
            <a:off x="6238951" y="966521"/>
            <a:ext cx="228600" cy="228600"/>
          </a:xfrm>
          <a:prstGeom prst="rect">
            <a:avLst/>
          </a:prstGeom>
        </p:spPr>
      </p:pic>
      <p:sp>
        <p:nvSpPr>
          <p:cNvPr id="22" name="Text 17"/>
          <p:cNvSpPr txBox="1"/>
          <p:nvPr/>
        </p:nvSpPr>
        <p:spPr>
          <a:xfrm>
            <a:off x="6581851" y="952805"/>
            <a:ext cx="2662733"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Noto Sans JP" pitchFamily="34" charset="0"/>
                <a:ea typeface="Noto Sans JP" pitchFamily="34" charset="-122"/>
                <a:cs typeface="Noto Sans JP" pitchFamily="34" charset="-120"/>
              </a:rPr>
              <a:t>三菱UFJ銀行：業務プロセス革新</a:t>
            </a:r>
            <a:endParaRPr lang="en-US" sz="1300" dirty="0"/>
          </a:p>
        </p:txBody>
      </p:sp>
      <p:sp>
        <p:nvSpPr>
          <p:cNvPr id="23" name="Text 18"/>
          <p:cNvSpPr txBox="1"/>
          <p:nvPr/>
        </p:nvSpPr>
        <p:spPr>
          <a:xfrm>
            <a:off x="6238951" y="1285646"/>
            <a:ext cx="5434279" cy="381305"/>
          </a:xfrm>
          <a:prstGeom prst="rect">
            <a:avLst/>
          </a:prstGeom>
          <a:noFill/>
          <a:ln/>
        </p:spPr>
        <p:txBody>
          <a:bodyPr wrap="square" lIns="0" tIns="0" rIns="0" bIns="0" rtlCol="0" anchor="ctr"/>
          <a:lstStyle/>
          <a:p>
            <a:pPr algn="l" indent="0" marL="0">
              <a:buNone/>
            </a:pPr>
            <a:r>
              <a:rPr lang="en-US" sz="1000" dirty="0">
                <a:solidFill>
                  <a:srgbClr val="0A2463"/>
                </a:solidFill>
                <a:latin typeface="Noto Sans JP" pitchFamily="34" charset="0"/>
                <a:ea typeface="Noto Sans JP" pitchFamily="34" charset="-122"/>
                <a:cs typeface="Noto Sans JP" pitchFamily="34" charset="-120"/>
              </a:rPr>
              <a:t>ChatGPTを活用した社内文書作成や稟議書作成の効率化により、業務プロセスを根本から見直し。顧客との対話やサービス品質向上に時間を振り向けることに成功。</a:t>
            </a:r>
            <a:endParaRPr lang="en-US" sz="1000" dirty="0"/>
          </a:p>
        </p:txBody>
      </p:sp>
      <p:sp>
        <p:nvSpPr>
          <p:cNvPr id="24" name="Text 19"/>
          <p:cNvSpPr txBox="1"/>
          <p:nvPr/>
        </p:nvSpPr>
        <p:spPr>
          <a:xfrm>
            <a:off x="6238951" y="1742846"/>
            <a:ext cx="2662733" cy="191110"/>
          </a:xfrm>
          <a:prstGeom prst="rect">
            <a:avLst/>
          </a:prstGeom>
          <a:noFill/>
          <a:ln/>
        </p:spPr>
        <p:txBody>
          <a:bodyPr wrap="square" lIns="0" tIns="0" rIns="0" bIns="0" rtlCol="0" anchor="ctr"/>
          <a:lstStyle/>
          <a:p>
            <a:pPr algn="l" indent="0" marL="0">
              <a:buNone/>
            </a:pPr>
            <a:r>
              <a:rPr lang="en-US" sz="1000" b="1" dirty="0">
                <a:solidFill>
                  <a:srgbClr val="3E92CC"/>
                </a:solidFill>
                <a:latin typeface="Noto Sans JP" pitchFamily="34" charset="0"/>
                <a:ea typeface="Noto Sans JP" pitchFamily="34" charset="-122"/>
                <a:cs typeface="Noto Sans JP" pitchFamily="34" charset="-120"/>
              </a:rPr>
              <a:t>効果：月間22万時間の労働時間削減を実現</a:t>
            </a:r>
            <a:endParaRPr lang="en-US" sz="1000" dirty="0"/>
          </a:p>
        </p:txBody>
      </p:sp>
      <p:sp>
        <p:nvSpPr>
          <p:cNvPr id="25" name="Shape 20"/>
          <p:cNvSpPr/>
          <p:nvPr/>
        </p:nvSpPr>
        <p:spPr>
          <a:xfrm>
            <a:off x="6096305" y="2085746"/>
            <a:ext cx="5715000" cy="1133856"/>
          </a:xfrm>
          <a:prstGeom prst="rect">
            <a:avLst/>
          </a:prstGeom>
          <a:solidFill>
            <a:srgbClr val="3E92CC">
              <a:alpha val="10000"/>
            </a:srgbClr>
          </a:solidFill>
          <a:ln/>
        </p:spPr>
      </p:sp>
      <p:sp>
        <p:nvSpPr>
          <p:cNvPr id="26" name="Shape 21"/>
          <p:cNvSpPr/>
          <p:nvPr/>
        </p:nvSpPr>
        <p:spPr>
          <a:xfrm>
            <a:off x="6096305" y="2085746"/>
            <a:ext cx="28346" cy="1133856"/>
          </a:xfrm>
          <a:prstGeom prst="rect">
            <a:avLst/>
          </a:prstGeom>
          <a:solidFill>
            <a:srgbClr val="3E92CC"/>
          </a:solidFill>
          <a:ln/>
        </p:spPr>
      </p:sp>
      <p:pic>
        <p:nvPicPr>
          <p:cNvPr id="27" name="Image 3" descr="preencoded.png">    </p:cNvPr>
          <p:cNvPicPr>
            <a:picLocks noChangeAspect="1"/>
          </p:cNvPicPr>
          <p:nvPr/>
        </p:nvPicPr>
        <p:blipFill>
          <a:blip r:embed="rId4"/>
          <a:srcRect l="0" r="0" t="0" b="0"/>
          <a:stretch/>
        </p:blipFill>
        <p:spPr>
          <a:xfrm>
            <a:off x="6238951" y="2176272"/>
            <a:ext cx="228600" cy="228600"/>
          </a:xfrm>
          <a:prstGeom prst="rect">
            <a:avLst/>
          </a:prstGeom>
        </p:spPr>
      </p:pic>
      <p:sp>
        <p:nvSpPr>
          <p:cNvPr id="28" name="Text 22"/>
          <p:cNvSpPr txBox="1"/>
          <p:nvPr/>
        </p:nvSpPr>
        <p:spPr>
          <a:xfrm>
            <a:off x="6581851" y="2162556"/>
            <a:ext cx="3548786"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Noto Sans JP" pitchFamily="34" charset="0"/>
                <a:ea typeface="Noto Sans JP" pitchFamily="34" charset="-122"/>
                <a:cs typeface="Noto Sans JP" pitchFamily="34" charset="-120"/>
              </a:rPr>
              <a:t>パナソニックコネクト：AIアシスタント導入</a:t>
            </a:r>
            <a:endParaRPr lang="en-US" sz="1300" dirty="0"/>
          </a:p>
        </p:txBody>
      </p:sp>
      <p:sp>
        <p:nvSpPr>
          <p:cNvPr id="29" name="Text 23"/>
          <p:cNvSpPr txBox="1"/>
          <p:nvPr/>
        </p:nvSpPr>
        <p:spPr>
          <a:xfrm>
            <a:off x="6238951" y="2495398"/>
            <a:ext cx="5558638" cy="381305"/>
          </a:xfrm>
          <a:prstGeom prst="rect">
            <a:avLst/>
          </a:prstGeom>
          <a:noFill/>
          <a:ln/>
        </p:spPr>
        <p:txBody>
          <a:bodyPr wrap="square" lIns="0" tIns="0" rIns="0" bIns="0" rtlCol="0" anchor="ctr"/>
          <a:lstStyle/>
          <a:p>
            <a:pPr algn="l" indent="0" marL="0">
              <a:buNone/>
            </a:pPr>
            <a:r>
              <a:rPr lang="en-US" sz="1000" dirty="0">
                <a:solidFill>
                  <a:srgbClr val="0A2463"/>
                </a:solidFill>
                <a:latin typeface="Noto Sans JP" pitchFamily="34" charset="0"/>
                <a:ea typeface="Noto Sans JP" pitchFamily="34" charset="-122"/>
                <a:cs typeface="Noto Sans JP" pitchFamily="34" charset="-120"/>
              </a:rPr>
              <a:t>社内データベースを連携させたChatGPT搭載のAIアシスタントを導入。自社業務や現場の個別課題に対応した回答生成が可能となり、業務効率が飛躍的に向上。</a:t>
            </a:r>
            <a:endParaRPr lang="en-US" sz="1000" dirty="0"/>
          </a:p>
        </p:txBody>
      </p:sp>
      <p:sp>
        <p:nvSpPr>
          <p:cNvPr id="30" name="Text 24"/>
          <p:cNvSpPr txBox="1"/>
          <p:nvPr/>
        </p:nvSpPr>
        <p:spPr>
          <a:xfrm>
            <a:off x="6238951" y="2952598"/>
            <a:ext cx="4110228" cy="191110"/>
          </a:xfrm>
          <a:prstGeom prst="rect">
            <a:avLst/>
          </a:prstGeom>
          <a:noFill/>
          <a:ln/>
        </p:spPr>
        <p:txBody>
          <a:bodyPr wrap="square" lIns="0" tIns="0" rIns="0" bIns="0" rtlCol="0" anchor="ctr"/>
          <a:lstStyle/>
          <a:p>
            <a:pPr algn="l" indent="0" marL="0">
              <a:buNone/>
            </a:pPr>
            <a:r>
              <a:rPr lang="en-US" sz="1000" b="1" dirty="0">
                <a:solidFill>
                  <a:srgbClr val="3E92CC"/>
                </a:solidFill>
                <a:latin typeface="Noto Sans JP" pitchFamily="34" charset="0"/>
                <a:ea typeface="Noto Sans JP" pitchFamily="34" charset="-122"/>
                <a:cs typeface="Noto Sans JP" pitchFamily="34" charset="-120"/>
              </a:rPr>
              <a:t>効果：1日約5,000回の質問対応、導入3カ月で約26万回の利用実績</a:t>
            </a:r>
            <a:endParaRPr lang="en-US" sz="1000" dirty="0"/>
          </a:p>
        </p:txBody>
      </p:sp>
      <p:sp>
        <p:nvSpPr>
          <p:cNvPr id="31" name="Shape 25"/>
          <p:cNvSpPr/>
          <p:nvPr/>
        </p:nvSpPr>
        <p:spPr>
          <a:xfrm>
            <a:off x="6096305" y="3295498"/>
            <a:ext cx="5715000" cy="1133856"/>
          </a:xfrm>
          <a:prstGeom prst="rect">
            <a:avLst/>
          </a:prstGeom>
          <a:solidFill>
            <a:srgbClr val="3E92CC">
              <a:alpha val="10000"/>
            </a:srgbClr>
          </a:solidFill>
          <a:ln/>
        </p:spPr>
      </p:sp>
      <p:sp>
        <p:nvSpPr>
          <p:cNvPr id="32" name="Shape 26"/>
          <p:cNvSpPr/>
          <p:nvPr/>
        </p:nvSpPr>
        <p:spPr>
          <a:xfrm>
            <a:off x="6096305" y="3295498"/>
            <a:ext cx="28346" cy="1133856"/>
          </a:xfrm>
          <a:prstGeom prst="rect">
            <a:avLst/>
          </a:prstGeom>
          <a:solidFill>
            <a:srgbClr val="3E92CC"/>
          </a:solidFill>
          <a:ln/>
        </p:spPr>
      </p:sp>
      <p:pic>
        <p:nvPicPr>
          <p:cNvPr id="33" name="Image 4" descr="preencoded.png">    </p:cNvPr>
          <p:cNvPicPr>
            <a:picLocks noChangeAspect="1"/>
          </p:cNvPicPr>
          <p:nvPr/>
        </p:nvPicPr>
        <p:blipFill>
          <a:blip r:embed="rId5"/>
          <a:srcRect l="-80" r="-80" t="0" b="0"/>
          <a:stretch/>
        </p:blipFill>
        <p:spPr>
          <a:xfrm>
            <a:off x="6238951" y="3386023"/>
            <a:ext cx="286207" cy="228600"/>
          </a:xfrm>
          <a:prstGeom prst="rect">
            <a:avLst/>
          </a:prstGeom>
        </p:spPr>
      </p:pic>
      <p:sp>
        <p:nvSpPr>
          <p:cNvPr id="34" name="Text 27"/>
          <p:cNvSpPr txBox="1"/>
          <p:nvPr/>
        </p:nvSpPr>
        <p:spPr>
          <a:xfrm>
            <a:off x="6638544" y="3372307"/>
            <a:ext cx="3091586" cy="247802"/>
          </a:xfrm>
          <a:prstGeom prst="rect">
            <a:avLst/>
          </a:prstGeom>
          <a:noFill/>
          <a:ln/>
        </p:spPr>
        <p:txBody>
          <a:bodyPr wrap="square" lIns="0" tIns="0" rIns="0" bIns="0" rtlCol="0" anchor="ctr"/>
          <a:lstStyle/>
          <a:p>
            <a:pPr algn="l" indent="0" marL="0">
              <a:buNone/>
            </a:pPr>
            <a:r>
              <a:rPr lang="en-US" sz="1300" b="1" dirty="0">
                <a:solidFill>
                  <a:srgbClr val="0A2463"/>
                </a:solidFill>
                <a:latin typeface="Noto Sans JP" pitchFamily="34" charset="0"/>
                <a:ea typeface="Noto Sans JP" pitchFamily="34" charset="-122"/>
                <a:cs typeface="Noto Sans JP" pitchFamily="34" charset="-120"/>
              </a:rPr>
              <a:t>LINEヤフー：ソフトウェア開発効率化</a:t>
            </a:r>
            <a:endParaRPr lang="en-US" sz="1300" dirty="0"/>
          </a:p>
        </p:txBody>
      </p:sp>
      <p:sp>
        <p:nvSpPr>
          <p:cNvPr id="35" name="Text 28"/>
          <p:cNvSpPr txBox="1"/>
          <p:nvPr/>
        </p:nvSpPr>
        <p:spPr>
          <a:xfrm>
            <a:off x="6238951" y="3705149"/>
            <a:ext cx="5491886" cy="381305"/>
          </a:xfrm>
          <a:prstGeom prst="rect">
            <a:avLst/>
          </a:prstGeom>
          <a:noFill/>
          <a:ln/>
        </p:spPr>
        <p:txBody>
          <a:bodyPr wrap="square" lIns="0" tIns="0" rIns="0" bIns="0" rtlCol="0" anchor="ctr"/>
          <a:lstStyle/>
          <a:p>
            <a:pPr algn="l" indent="0" marL="0">
              <a:buNone/>
            </a:pPr>
            <a:r>
              <a:rPr lang="en-US" sz="1000" dirty="0">
                <a:solidFill>
                  <a:srgbClr val="0A2463"/>
                </a:solidFill>
                <a:latin typeface="Noto Sans JP" pitchFamily="34" charset="0"/>
                <a:ea typeface="Noto Sans JP" pitchFamily="34" charset="-122"/>
                <a:cs typeface="Noto Sans JP" pitchFamily="34" charset="-120"/>
              </a:rPr>
              <a:t>GitHub Copilotを全面導入し、エンジニアの作業時間を大幅に削減。約7,000人のエンジニアが新サービスの考案など高付加価値業務に集中できる環境を構築。</a:t>
            </a:r>
            <a:endParaRPr lang="en-US" sz="1000" dirty="0"/>
          </a:p>
        </p:txBody>
      </p:sp>
      <p:sp>
        <p:nvSpPr>
          <p:cNvPr id="36" name="Text 29"/>
          <p:cNvSpPr txBox="1"/>
          <p:nvPr/>
        </p:nvSpPr>
        <p:spPr>
          <a:xfrm>
            <a:off x="6238951" y="4162349"/>
            <a:ext cx="3405226" cy="191110"/>
          </a:xfrm>
          <a:prstGeom prst="rect">
            <a:avLst/>
          </a:prstGeom>
          <a:noFill/>
          <a:ln/>
        </p:spPr>
        <p:txBody>
          <a:bodyPr wrap="square" lIns="0" tIns="0" rIns="0" bIns="0" rtlCol="0" anchor="ctr"/>
          <a:lstStyle/>
          <a:p>
            <a:pPr algn="l" indent="0" marL="0">
              <a:buNone/>
            </a:pPr>
            <a:r>
              <a:rPr lang="en-US" sz="1000" b="1" dirty="0">
                <a:solidFill>
                  <a:srgbClr val="3E92CC"/>
                </a:solidFill>
                <a:latin typeface="Noto Sans JP" pitchFamily="34" charset="0"/>
                <a:ea typeface="Noto Sans JP" pitchFamily="34" charset="-122"/>
                <a:cs typeface="Noto Sans JP" pitchFamily="34" charset="-120"/>
              </a:rPr>
              <a:t>効果：エンジニア1人あたり1日約2時間の作業時間削減</a:t>
            </a:r>
            <a:endParaRPr lang="en-US" sz="1000" dirty="0"/>
          </a:p>
        </p:txBody>
      </p:sp>
      <p:sp>
        <p:nvSpPr>
          <p:cNvPr id="37" name="Text 30"/>
          <p:cNvSpPr txBox="1"/>
          <p:nvPr/>
        </p:nvSpPr>
        <p:spPr>
          <a:xfrm>
            <a:off x="11642141" y="6476695"/>
            <a:ext cx="286207" cy="228600"/>
          </a:xfrm>
          <a:prstGeom prst="rect">
            <a:avLst/>
          </a:prstGeom>
          <a:noFill/>
          <a:ln/>
        </p:spPr>
        <p:txBody>
          <a:bodyPr wrap="square" lIns="0" tIns="0" rIns="0" bIns="0" rtlCol="0" anchor="ctr"/>
          <a:lstStyle/>
          <a:p>
            <a:pPr algn="r" indent="0" marL="0">
              <a:buNone/>
            </a:pPr>
            <a:r>
              <a:rPr lang="en-US" sz="1200" dirty="0">
                <a:solidFill>
                  <a:srgbClr val="0A2463"/>
                </a:solidFill>
                <a:latin typeface="Noto Sans JP" pitchFamily="34" charset="0"/>
                <a:ea typeface="Noto Sans JP" pitchFamily="34" charset="-122"/>
                <a:cs typeface="Noto Sans JP"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7029907"/>
          </a:xfrm>
          <a:prstGeom prst="rect">
            <a:avLst/>
          </a:prstGeom>
          <a:solidFill>
            <a:srgbClr val="FFFFFF"/>
          </a:solidFill>
          <a:ln/>
        </p:spPr>
      </p:sp>
      <p:sp>
        <p:nvSpPr>
          <p:cNvPr id="3" name="Shape 1"/>
          <p:cNvSpPr/>
          <p:nvPr/>
        </p:nvSpPr>
        <p:spPr>
          <a:xfrm>
            <a:off x="9810598" y="-952805"/>
            <a:ext cx="2857500" cy="2857500"/>
          </a:xfrm>
          <a:prstGeom prst="rect">
            <a:avLst/>
          </a:prstGeom>
          <a:solidFill>
            <a:srgbClr val="4A90E2">
              <a:alpha val="10000"/>
            </a:srgbClr>
          </a:solidFill>
          <a:ln/>
        </p:spPr>
      </p:sp>
      <p:sp>
        <p:nvSpPr>
          <p:cNvPr id="4" name="Shape 2"/>
          <p:cNvSpPr/>
          <p:nvPr/>
        </p:nvSpPr>
        <p:spPr>
          <a:xfrm>
            <a:off x="952805" y="5600700"/>
            <a:ext cx="1904695" cy="1904695"/>
          </a:xfrm>
          <a:prstGeom prst="rect">
            <a:avLst/>
          </a:prstGeom>
          <a:solidFill>
            <a:srgbClr val="4A90E2">
              <a:alpha val="10000"/>
            </a:srgbClr>
          </a:solidFill>
          <a:ln/>
        </p:spPr>
      </p:sp>
      <p:sp>
        <p:nvSpPr>
          <p:cNvPr id="5" name="Text 3"/>
          <p:cNvSpPr txBox="1"/>
          <p:nvPr/>
        </p:nvSpPr>
        <p:spPr>
          <a:xfrm>
            <a:off x="381305" y="393192"/>
            <a:ext cx="5391302" cy="914400"/>
          </a:xfrm>
          <a:prstGeom prst="rect">
            <a:avLst/>
          </a:prstGeom>
          <a:noFill/>
          <a:ln/>
        </p:spPr>
        <p:txBody>
          <a:bodyPr wrap="square" lIns="0" tIns="0" rIns="0" bIns="0" rtlCol="0" anchor="ctr"/>
          <a:lstStyle/>
          <a:p>
            <a:pPr algn="l" indent="0" marL="0">
              <a:buNone/>
            </a:pPr>
            <a:r>
              <a:rPr lang="en-US" sz="2700" b="1" dirty="0">
                <a:solidFill>
                  <a:srgbClr val="003366"/>
                </a:solidFill>
                <a:latin typeface="Noto Sans JP" pitchFamily="34" charset="0"/>
                <a:ea typeface="Noto Sans JP" pitchFamily="34" charset="-122"/>
                <a:cs typeface="Noto Sans JP" pitchFamily="34" charset="-120"/>
              </a:rPr>
              <a:t>人とAIが共に働く新しい業務モデルへ</a:t>
            </a:r>
            <a:endParaRPr lang="en-US" sz="2700" dirty="0"/>
          </a:p>
        </p:txBody>
      </p:sp>
      <p:sp>
        <p:nvSpPr>
          <p:cNvPr id="6" name="Shape 4"/>
          <p:cNvSpPr/>
          <p:nvPr/>
        </p:nvSpPr>
        <p:spPr>
          <a:xfrm>
            <a:off x="381305" y="1378001"/>
            <a:ext cx="571500" cy="38405"/>
          </a:xfrm>
          <a:prstGeom prst="rect">
            <a:avLst/>
          </a:prstGeom>
          <a:solidFill>
            <a:srgbClr val="4A90E2"/>
          </a:solidFill>
          <a:ln/>
        </p:spPr>
      </p:sp>
      <p:sp>
        <p:nvSpPr>
          <p:cNvPr id="7" name="Text 5"/>
          <p:cNvSpPr txBox="1"/>
          <p:nvPr/>
        </p:nvSpPr>
        <p:spPr>
          <a:xfrm>
            <a:off x="381305" y="1645006"/>
            <a:ext cx="5496458" cy="4572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提案のまとめ： AI導入は単なる業務自動化ではなく、人とAIが役割を分担し、互いの強みを活かす新たな働き方を実現します。</a:t>
            </a:r>
            <a:endParaRPr lang="en-US" sz="1200" dirty="0"/>
          </a:p>
        </p:txBody>
      </p:sp>
      <p:sp>
        <p:nvSpPr>
          <p:cNvPr id="8" name="Text 6"/>
          <p:cNvSpPr txBox="1"/>
          <p:nvPr/>
        </p:nvSpPr>
        <p:spPr>
          <a:xfrm>
            <a:off x="381305" y="2254910"/>
            <a:ext cx="1648663"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提案の主要ポイント：</a:t>
            </a:r>
            <a:endParaRPr lang="en-US" sz="1200" dirty="0"/>
          </a:p>
        </p:txBody>
      </p:sp>
      <p:sp>
        <p:nvSpPr>
          <p:cNvPr id="9" name="Text 7"/>
          <p:cNvSpPr txBox="1"/>
          <p:nvPr/>
        </p:nvSpPr>
        <p:spPr>
          <a:xfrm>
            <a:off x="609905" y="2635301"/>
            <a:ext cx="2705710"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AIが作業を支え、人が価値を生み出す</a:t>
            </a:r>
            <a:endParaRPr lang="en-US" sz="1200" dirty="0"/>
          </a:p>
        </p:txBody>
      </p:sp>
      <p:sp>
        <p:nvSpPr>
          <p:cNvPr id="10" name="Text 8"/>
          <p:cNvSpPr txBox="1"/>
          <p:nvPr/>
        </p:nvSpPr>
        <p:spPr>
          <a:xfrm>
            <a:off x="609905" y="2940710"/>
            <a:ext cx="3314700"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効率化ではなく、"信頼と満足度の向上"が目的</a:t>
            </a:r>
            <a:endParaRPr lang="en-US" sz="1200" dirty="0"/>
          </a:p>
        </p:txBody>
      </p:sp>
      <p:sp>
        <p:nvSpPr>
          <p:cNvPr id="11" name="Text 9"/>
          <p:cNvSpPr txBox="1"/>
          <p:nvPr/>
        </p:nvSpPr>
        <p:spPr>
          <a:xfrm>
            <a:off x="609905" y="3245206"/>
            <a:ext cx="3324758"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人がより創造的な仕事に集中できる環境づくり</a:t>
            </a:r>
            <a:endParaRPr lang="en-US" sz="1200" dirty="0"/>
          </a:p>
        </p:txBody>
      </p:sp>
      <p:sp>
        <p:nvSpPr>
          <p:cNvPr id="12" name="Text 10"/>
          <p:cNvSpPr txBox="1"/>
          <p:nvPr/>
        </p:nvSpPr>
        <p:spPr>
          <a:xfrm>
            <a:off x="609905" y="3549701"/>
            <a:ext cx="3458261"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AIは"冷たさ"ではなく"温かさ"を実現するツール</a:t>
            </a:r>
            <a:endParaRPr lang="en-US" sz="1200" dirty="0"/>
          </a:p>
        </p:txBody>
      </p:sp>
      <p:sp>
        <p:nvSpPr>
          <p:cNvPr id="13" name="Text 11"/>
          <p:cNvSpPr txBox="1"/>
          <p:nvPr/>
        </p:nvSpPr>
        <p:spPr>
          <a:xfrm>
            <a:off x="381305" y="3931006"/>
            <a:ext cx="1343254"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導入アプローチ：</a:t>
            </a:r>
            <a:endParaRPr lang="en-US" sz="1200" dirty="0"/>
          </a:p>
        </p:txBody>
      </p:sp>
      <p:sp>
        <p:nvSpPr>
          <p:cNvPr id="14" name="Shape 12"/>
          <p:cNvSpPr/>
          <p:nvPr/>
        </p:nvSpPr>
        <p:spPr>
          <a:xfrm>
            <a:off x="381305" y="4312310"/>
            <a:ext cx="5410505" cy="657454"/>
          </a:xfrm>
          <a:prstGeom prst="rect">
            <a:avLst/>
          </a:prstGeom>
          <a:solidFill>
            <a:srgbClr val="E3F2FD">
              <a:alpha val="50000"/>
            </a:srgbClr>
          </a:solidFill>
          <a:ln/>
        </p:spPr>
      </p:sp>
      <p:sp>
        <p:nvSpPr>
          <p:cNvPr id="15" name="Shape 13"/>
          <p:cNvSpPr/>
          <p:nvPr/>
        </p:nvSpPr>
        <p:spPr>
          <a:xfrm>
            <a:off x="381305" y="4312310"/>
            <a:ext cx="28346" cy="657454"/>
          </a:xfrm>
          <a:prstGeom prst="rect">
            <a:avLst/>
          </a:prstGeom>
          <a:solidFill>
            <a:srgbClr val="4A90E2"/>
          </a:solidFill>
          <a:ln/>
        </p:spPr>
      </p:sp>
      <p:sp>
        <p:nvSpPr>
          <p:cNvPr id="16" name="Text 14"/>
          <p:cNvSpPr txBox="1"/>
          <p:nvPr/>
        </p:nvSpPr>
        <p:spPr>
          <a:xfrm>
            <a:off x="523951" y="4426610"/>
            <a:ext cx="2048256"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フェーズ1：業務分析と設計</a:t>
            </a:r>
            <a:endParaRPr lang="en-US" sz="1200" dirty="0"/>
          </a:p>
        </p:txBody>
      </p:sp>
      <p:sp>
        <p:nvSpPr>
          <p:cNvPr id="17" name="Text 15"/>
          <p:cNvSpPr txBox="1"/>
          <p:nvPr/>
        </p:nvSpPr>
        <p:spPr>
          <a:xfrm>
            <a:off x="523951" y="4655210"/>
            <a:ext cx="1834286" cy="191110"/>
          </a:xfrm>
          <a:prstGeom prst="rect">
            <a:avLst/>
          </a:prstGeom>
          <a:noFill/>
          <a:ln/>
        </p:spPr>
        <p:txBody>
          <a:bodyPr wrap="square" lIns="0" tIns="0" rIns="0" bIns="0" rtlCol="0" anchor="ctr"/>
          <a:lstStyle/>
          <a:p>
            <a:pPr algn="l" indent="0" marL="0">
              <a:buNone/>
            </a:pPr>
            <a:r>
              <a:rPr lang="en-US" sz="1000" i="1" dirty="0">
                <a:solidFill>
                  <a:srgbClr val="4A90E2"/>
                </a:solidFill>
                <a:latin typeface="M PLUS 1" pitchFamily="34" charset="0"/>
                <a:ea typeface="M PLUS 1" pitchFamily="34" charset="-122"/>
                <a:cs typeface="M PLUS 1" pitchFamily="34" charset="-120"/>
              </a:rPr>
              <a:t>担当：コンサルタントチーム</a:t>
            </a:r>
            <a:endParaRPr lang="en-US" sz="1000" dirty="0"/>
          </a:p>
        </p:txBody>
      </p:sp>
      <p:sp>
        <p:nvSpPr>
          <p:cNvPr id="18" name="Shape 16"/>
          <p:cNvSpPr/>
          <p:nvPr/>
        </p:nvSpPr>
        <p:spPr>
          <a:xfrm>
            <a:off x="5046574" y="4426610"/>
            <a:ext cx="638251" cy="247802"/>
          </a:xfrm>
          <a:prstGeom prst="roundRect">
            <a:avLst>
              <a:gd name="adj" fmla="val 170310"/>
            </a:avLst>
          </a:prstGeom>
          <a:solidFill>
            <a:srgbClr val="4A90E2"/>
          </a:solidFill>
          <a:ln/>
        </p:spPr>
      </p:sp>
      <p:sp>
        <p:nvSpPr>
          <p:cNvPr id="19" name="Text 17"/>
          <p:cNvSpPr txBox="1"/>
          <p:nvPr/>
        </p:nvSpPr>
        <p:spPr>
          <a:xfrm>
            <a:off x="5122469" y="4464101"/>
            <a:ext cx="571500"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1〜2ヶ月</a:t>
            </a:r>
            <a:endParaRPr lang="en-US" sz="900" dirty="0"/>
          </a:p>
        </p:txBody>
      </p:sp>
      <p:sp>
        <p:nvSpPr>
          <p:cNvPr id="20" name="Shape 18"/>
          <p:cNvSpPr/>
          <p:nvPr/>
        </p:nvSpPr>
        <p:spPr>
          <a:xfrm>
            <a:off x="381305" y="5121554"/>
            <a:ext cx="5410505" cy="657454"/>
          </a:xfrm>
          <a:prstGeom prst="rect">
            <a:avLst/>
          </a:prstGeom>
          <a:solidFill>
            <a:srgbClr val="E3F2FD">
              <a:alpha val="50000"/>
            </a:srgbClr>
          </a:solidFill>
          <a:ln/>
        </p:spPr>
      </p:sp>
      <p:sp>
        <p:nvSpPr>
          <p:cNvPr id="21" name="Shape 19"/>
          <p:cNvSpPr/>
          <p:nvPr/>
        </p:nvSpPr>
        <p:spPr>
          <a:xfrm>
            <a:off x="381305" y="5121554"/>
            <a:ext cx="28346" cy="657454"/>
          </a:xfrm>
          <a:prstGeom prst="rect">
            <a:avLst/>
          </a:prstGeom>
          <a:solidFill>
            <a:srgbClr val="4A90E2"/>
          </a:solidFill>
          <a:ln/>
        </p:spPr>
      </p:sp>
      <p:sp>
        <p:nvSpPr>
          <p:cNvPr id="22" name="Text 20"/>
          <p:cNvSpPr txBox="1"/>
          <p:nvPr/>
        </p:nvSpPr>
        <p:spPr>
          <a:xfrm>
            <a:off x="523951" y="5235854"/>
            <a:ext cx="2343607"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フェーズ2：PoC（小規模検証）</a:t>
            </a:r>
            <a:endParaRPr lang="en-US" sz="1200" dirty="0"/>
          </a:p>
        </p:txBody>
      </p:sp>
      <p:sp>
        <p:nvSpPr>
          <p:cNvPr id="23" name="Text 21"/>
          <p:cNvSpPr txBox="1"/>
          <p:nvPr/>
        </p:nvSpPr>
        <p:spPr>
          <a:xfrm>
            <a:off x="523951" y="5464454"/>
            <a:ext cx="1834286" cy="191110"/>
          </a:xfrm>
          <a:prstGeom prst="rect">
            <a:avLst/>
          </a:prstGeom>
          <a:noFill/>
          <a:ln/>
        </p:spPr>
        <p:txBody>
          <a:bodyPr wrap="square" lIns="0" tIns="0" rIns="0" bIns="0" rtlCol="0" anchor="ctr"/>
          <a:lstStyle/>
          <a:p>
            <a:pPr algn="l" indent="0" marL="0">
              <a:buNone/>
            </a:pPr>
            <a:r>
              <a:rPr lang="en-US" sz="1000" i="1" dirty="0">
                <a:solidFill>
                  <a:srgbClr val="4A90E2"/>
                </a:solidFill>
                <a:latin typeface="M PLUS 1" pitchFamily="34" charset="0"/>
                <a:ea typeface="M PLUS 1" pitchFamily="34" charset="-122"/>
                <a:cs typeface="M PLUS 1" pitchFamily="34" charset="-120"/>
              </a:rPr>
              <a:t>担当：技術チーム・業務部門</a:t>
            </a:r>
            <a:endParaRPr lang="en-US" sz="1000" dirty="0"/>
          </a:p>
        </p:txBody>
      </p:sp>
      <p:sp>
        <p:nvSpPr>
          <p:cNvPr id="24" name="Shape 22"/>
          <p:cNvSpPr/>
          <p:nvPr/>
        </p:nvSpPr>
        <p:spPr>
          <a:xfrm>
            <a:off x="5046574" y="5235854"/>
            <a:ext cx="638251" cy="247802"/>
          </a:xfrm>
          <a:prstGeom prst="roundRect">
            <a:avLst>
              <a:gd name="adj" fmla="val 170310"/>
            </a:avLst>
          </a:prstGeom>
          <a:solidFill>
            <a:srgbClr val="4A90E2"/>
          </a:solidFill>
          <a:ln/>
        </p:spPr>
      </p:sp>
      <p:sp>
        <p:nvSpPr>
          <p:cNvPr id="25" name="Text 23"/>
          <p:cNvSpPr txBox="1"/>
          <p:nvPr/>
        </p:nvSpPr>
        <p:spPr>
          <a:xfrm>
            <a:off x="5122469" y="5274259"/>
            <a:ext cx="571500"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2〜3ヶ月</a:t>
            </a:r>
            <a:endParaRPr lang="en-US" sz="900" dirty="0"/>
          </a:p>
        </p:txBody>
      </p:sp>
      <p:sp>
        <p:nvSpPr>
          <p:cNvPr id="26" name="Shape 24"/>
          <p:cNvSpPr/>
          <p:nvPr/>
        </p:nvSpPr>
        <p:spPr>
          <a:xfrm>
            <a:off x="381305" y="5930798"/>
            <a:ext cx="5410505" cy="657454"/>
          </a:xfrm>
          <a:prstGeom prst="rect">
            <a:avLst/>
          </a:prstGeom>
          <a:solidFill>
            <a:srgbClr val="E3F2FD">
              <a:alpha val="50000"/>
            </a:srgbClr>
          </a:solidFill>
          <a:ln/>
        </p:spPr>
      </p:sp>
      <p:sp>
        <p:nvSpPr>
          <p:cNvPr id="27" name="Shape 25"/>
          <p:cNvSpPr/>
          <p:nvPr/>
        </p:nvSpPr>
        <p:spPr>
          <a:xfrm>
            <a:off x="381305" y="5930798"/>
            <a:ext cx="28346" cy="657454"/>
          </a:xfrm>
          <a:prstGeom prst="rect">
            <a:avLst/>
          </a:prstGeom>
          <a:solidFill>
            <a:srgbClr val="4A90E2"/>
          </a:solidFill>
          <a:ln/>
        </p:spPr>
      </p:sp>
      <p:sp>
        <p:nvSpPr>
          <p:cNvPr id="28" name="Text 26"/>
          <p:cNvSpPr txBox="1"/>
          <p:nvPr/>
        </p:nvSpPr>
        <p:spPr>
          <a:xfrm>
            <a:off x="523951" y="6045098"/>
            <a:ext cx="2048256"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フェーズ3：本格導入と運用</a:t>
            </a:r>
            <a:endParaRPr lang="en-US" sz="1200" dirty="0"/>
          </a:p>
        </p:txBody>
      </p:sp>
      <p:sp>
        <p:nvSpPr>
          <p:cNvPr id="29" name="Text 27"/>
          <p:cNvSpPr txBox="1"/>
          <p:nvPr/>
        </p:nvSpPr>
        <p:spPr>
          <a:xfrm>
            <a:off x="523951" y="6273698"/>
            <a:ext cx="1433779" cy="191110"/>
          </a:xfrm>
          <a:prstGeom prst="rect">
            <a:avLst/>
          </a:prstGeom>
          <a:noFill/>
          <a:ln/>
        </p:spPr>
        <p:txBody>
          <a:bodyPr wrap="square" lIns="0" tIns="0" rIns="0" bIns="0" rtlCol="0" anchor="ctr"/>
          <a:lstStyle/>
          <a:p>
            <a:pPr algn="l" indent="0" marL="0">
              <a:buNone/>
            </a:pPr>
            <a:r>
              <a:rPr lang="en-US" sz="1000" i="1" dirty="0">
                <a:solidFill>
                  <a:srgbClr val="4A90E2"/>
                </a:solidFill>
                <a:latin typeface="M PLUS 1" pitchFamily="34" charset="0"/>
                <a:ea typeface="M PLUS 1" pitchFamily="34" charset="-122"/>
                <a:cs typeface="M PLUS 1" pitchFamily="34" charset="-120"/>
              </a:rPr>
              <a:t>担当：全社横断チーム</a:t>
            </a:r>
            <a:endParaRPr lang="en-US" sz="1000" dirty="0"/>
          </a:p>
        </p:txBody>
      </p:sp>
      <p:sp>
        <p:nvSpPr>
          <p:cNvPr id="30" name="Shape 28"/>
          <p:cNvSpPr/>
          <p:nvPr/>
        </p:nvSpPr>
        <p:spPr>
          <a:xfrm>
            <a:off x="5046574" y="6045098"/>
            <a:ext cx="638251" cy="247802"/>
          </a:xfrm>
          <a:prstGeom prst="roundRect">
            <a:avLst>
              <a:gd name="adj" fmla="val 170310"/>
            </a:avLst>
          </a:prstGeom>
          <a:solidFill>
            <a:srgbClr val="4A90E2"/>
          </a:solidFill>
          <a:ln/>
        </p:spPr>
      </p:sp>
      <p:sp>
        <p:nvSpPr>
          <p:cNvPr id="31" name="Text 29"/>
          <p:cNvSpPr txBox="1"/>
          <p:nvPr/>
        </p:nvSpPr>
        <p:spPr>
          <a:xfrm>
            <a:off x="5122469" y="6083503"/>
            <a:ext cx="571500" cy="162763"/>
          </a:xfrm>
          <a:prstGeom prst="rect">
            <a:avLst/>
          </a:prstGeom>
          <a:noFill/>
          <a:ln/>
        </p:spPr>
        <p:txBody>
          <a:bodyPr wrap="square" lIns="0" tIns="0" rIns="0" bIns="0" rtlCol="0" anchor="ctr"/>
          <a:lstStyle/>
          <a:p>
            <a:pPr algn="l" indent="0" marL="0">
              <a:buNone/>
            </a:pPr>
            <a:r>
              <a:rPr lang="en-US" sz="900" b="1" dirty="0">
                <a:solidFill>
                  <a:srgbClr val="FFFFFF"/>
                </a:solidFill>
                <a:latin typeface="Noto Sans JP" pitchFamily="34" charset="0"/>
                <a:ea typeface="Noto Sans JP" pitchFamily="34" charset="-122"/>
                <a:cs typeface="Noto Sans JP" pitchFamily="34" charset="-120"/>
              </a:rPr>
              <a:t>3〜6ヶ月</a:t>
            </a:r>
            <a:endParaRPr lang="en-US" sz="900" dirty="0"/>
          </a:p>
        </p:txBody>
      </p:sp>
      <p:sp>
        <p:nvSpPr>
          <p:cNvPr id="32" name="Text 30"/>
          <p:cNvSpPr txBox="1"/>
          <p:nvPr/>
        </p:nvSpPr>
        <p:spPr>
          <a:xfrm>
            <a:off x="8042148" y="381305"/>
            <a:ext cx="2000707" cy="333756"/>
          </a:xfrm>
          <a:prstGeom prst="rect">
            <a:avLst/>
          </a:prstGeom>
          <a:noFill/>
          <a:ln/>
        </p:spPr>
        <p:txBody>
          <a:bodyPr wrap="square" lIns="0" tIns="0" rIns="0" bIns="0" rtlCol="0" anchor="ctr"/>
          <a:lstStyle/>
          <a:p>
            <a:pPr algn="ctr" indent="0" marL="0">
              <a:buNone/>
            </a:pPr>
            <a:r>
              <a:rPr lang="en-US" sz="1800" b="1" dirty="0">
                <a:solidFill>
                  <a:srgbClr val="0052CC"/>
                </a:solidFill>
                <a:latin typeface="Noto Sans JP" pitchFamily="34" charset="0"/>
                <a:ea typeface="Noto Sans JP" pitchFamily="34" charset="-122"/>
                <a:cs typeface="Noto Sans JP" pitchFamily="34" charset="-120"/>
              </a:rPr>
              <a:t>AI導入のメリット</a:t>
            </a:r>
            <a:endParaRPr lang="en-US" sz="1800" dirty="0"/>
          </a:p>
        </p:txBody>
      </p:sp>
      <p:sp>
        <p:nvSpPr>
          <p:cNvPr id="33" name="Shape 31"/>
          <p:cNvSpPr/>
          <p:nvPr/>
        </p:nvSpPr>
        <p:spPr>
          <a:xfrm>
            <a:off x="6096305" y="875995"/>
            <a:ext cx="5715000" cy="2343607"/>
          </a:xfrm>
          <a:prstGeom prst="roundRect">
            <a:avLst>
              <a:gd name="adj" fmla="val 634"/>
            </a:avLst>
          </a:prstGeom>
          <a:solidFill>
            <a:srgbClr val="E3F2FD">
              <a:alpha val="80000"/>
            </a:srgbClr>
          </a:solidFill>
          <a:ln w="12700">
            <a:solidFill>
              <a:srgbClr val="4A90E2">
                <a:alpha val="30000"/>
              </a:srgbClr>
            </a:solidFill>
            <a:prstDash val="solid"/>
          </a:ln>
        </p:spPr>
      </p:sp>
      <p:pic>
        <p:nvPicPr>
          <p:cNvPr id="34" name="Image 0" descr="preencoded.png">    </p:cNvPr>
          <p:cNvPicPr>
            <a:picLocks noChangeAspect="1"/>
          </p:cNvPicPr>
          <p:nvPr/>
        </p:nvPicPr>
        <p:blipFill>
          <a:blip r:embed="rId1"/>
          <a:srcRect l="0" r="0" t="0" b="0"/>
          <a:stretch/>
        </p:blipFill>
        <p:spPr>
          <a:xfrm>
            <a:off x="6258154" y="1104595"/>
            <a:ext cx="286207" cy="286207"/>
          </a:xfrm>
          <a:prstGeom prst="rect">
            <a:avLst/>
          </a:prstGeom>
        </p:spPr>
      </p:pic>
      <p:sp>
        <p:nvSpPr>
          <p:cNvPr id="35" name="Text 32"/>
          <p:cNvSpPr txBox="1"/>
          <p:nvPr/>
        </p:nvSpPr>
        <p:spPr>
          <a:xfrm>
            <a:off x="6696151" y="1037844"/>
            <a:ext cx="1191463"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業務効率の向上</a:t>
            </a:r>
            <a:endParaRPr lang="en-US" sz="1200" dirty="0"/>
          </a:p>
        </p:txBody>
      </p:sp>
      <p:sp>
        <p:nvSpPr>
          <p:cNvPr id="36" name="Text 33"/>
          <p:cNvSpPr txBox="1"/>
          <p:nvPr/>
        </p:nvSpPr>
        <p:spPr>
          <a:xfrm>
            <a:off x="6696151" y="1248156"/>
            <a:ext cx="3038551"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定型作業の自動化により作業時間30%削減</a:t>
            </a:r>
            <a:endParaRPr lang="en-US" sz="1200" dirty="0"/>
          </a:p>
        </p:txBody>
      </p:sp>
      <p:pic>
        <p:nvPicPr>
          <p:cNvPr id="37" name="Image 1" descr="preencoded.png">    </p:cNvPr>
          <p:cNvPicPr>
            <a:picLocks noChangeAspect="1"/>
          </p:cNvPicPr>
          <p:nvPr/>
        </p:nvPicPr>
        <p:blipFill>
          <a:blip r:embed="rId2"/>
          <a:srcRect l="0" r="0" t="0" b="0"/>
          <a:stretch/>
        </p:blipFill>
        <p:spPr>
          <a:xfrm>
            <a:off x="6258154" y="1638605"/>
            <a:ext cx="286207" cy="286207"/>
          </a:xfrm>
          <a:prstGeom prst="rect">
            <a:avLst/>
          </a:prstGeom>
        </p:spPr>
      </p:pic>
      <p:sp>
        <p:nvSpPr>
          <p:cNvPr id="38" name="Text 34"/>
          <p:cNvSpPr txBox="1"/>
          <p:nvPr/>
        </p:nvSpPr>
        <p:spPr>
          <a:xfrm>
            <a:off x="6696151" y="1571854"/>
            <a:ext cx="886054"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品質の安定</a:t>
            </a:r>
            <a:endParaRPr lang="en-US" sz="1200" dirty="0"/>
          </a:p>
        </p:txBody>
      </p:sp>
      <p:sp>
        <p:nvSpPr>
          <p:cNvPr id="39" name="Text 35"/>
          <p:cNvSpPr txBox="1"/>
          <p:nvPr/>
        </p:nvSpPr>
        <p:spPr>
          <a:xfrm>
            <a:off x="6696151" y="1781251"/>
            <a:ext cx="3191256"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ミス発生率を80%削減し、一定の品質を確保</a:t>
            </a:r>
            <a:endParaRPr lang="en-US" sz="1200" dirty="0"/>
          </a:p>
        </p:txBody>
      </p:sp>
      <p:pic>
        <p:nvPicPr>
          <p:cNvPr id="40" name="Image 2" descr="preencoded.png">    </p:cNvPr>
          <p:cNvPicPr>
            <a:picLocks noChangeAspect="1"/>
          </p:cNvPicPr>
          <p:nvPr/>
        </p:nvPicPr>
        <p:blipFill>
          <a:blip r:embed="rId3"/>
          <a:srcRect l="-607" r="-607" t="0" b="0"/>
          <a:stretch/>
        </p:blipFill>
        <p:spPr>
          <a:xfrm>
            <a:off x="6258154" y="2171700"/>
            <a:ext cx="362102" cy="286207"/>
          </a:xfrm>
          <a:prstGeom prst="rect">
            <a:avLst/>
          </a:prstGeom>
        </p:spPr>
      </p:pic>
      <p:sp>
        <p:nvSpPr>
          <p:cNvPr id="41" name="Text 36"/>
          <p:cNvSpPr txBox="1"/>
          <p:nvPr/>
        </p:nvSpPr>
        <p:spPr>
          <a:xfrm>
            <a:off x="6772046" y="2104949"/>
            <a:ext cx="1191463"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人材の有効活用</a:t>
            </a:r>
            <a:endParaRPr lang="en-US" sz="1200" dirty="0"/>
          </a:p>
        </p:txBody>
      </p:sp>
      <p:sp>
        <p:nvSpPr>
          <p:cNvPr id="42" name="Text 37"/>
          <p:cNvSpPr txBox="1"/>
          <p:nvPr/>
        </p:nvSpPr>
        <p:spPr>
          <a:xfrm>
            <a:off x="6772046" y="2314346"/>
            <a:ext cx="2714854"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創造的業務へのリソース再配分を実現</a:t>
            </a:r>
            <a:endParaRPr lang="en-US" sz="1200" dirty="0"/>
          </a:p>
        </p:txBody>
      </p:sp>
      <p:pic>
        <p:nvPicPr>
          <p:cNvPr id="43" name="Image 3" descr="preencoded.png">    </p:cNvPr>
          <p:cNvPicPr>
            <a:picLocks noChangeAspect="1"/>
          </p:cNvPicPr>
          <p:nvPr/>
        </p:nvPicPr>
        <p:blipFill>
          <a:blip r:embed="rId4"/>
          <a:srcRect l="-1118" r="-1118" t="0" b="0"/>
          <a:stretch/>
        </p:blipFill>
        <p:spPr>
          <a:xfrm>
            <a:off x="6258154" y="2704795"/>
            <a:ext cx="219456" cy="286207"/>
          </a:xfrm>
          <a:prstGeom prst="rect">
            <a:avLst/>
          </a:prstGeom>
        </p:spPr>
      </p:pic>
      <p:sp>
        <p:nvSpPr>
          <p:cNvPr id="44" name="Text 38"/>
          <p:cNvSpPr txBox="1"/>
          <p:nvPr/>
        </p:nvSpPr>
        <p:spPr>
          <a:xfrm>
            <a:off x="6629400" y="2638044"/>
            <a:ext cx="1038758" cy="228600"/>
          </a:xfrm>
          <a:prstGeom prst="rect">
            <a:avLst/>
          </a:prstGeom>
          <a:noFill/>
          <a:ln/>
        </p:spPr>
        <p:txBody>
          <a:bodyPr wrap="square" lIns="0" tIns="0" rIns="0" bIns="0" rtlCol="0" anchor="ctr"/>
          <a:lstStyle/>
          <a:p>
            <a:pPr algn="l" indent="0" marL="0">
              <a:buNone/>
            </a:pPr>
            <a:r>
              <a:rPr lang="en-US" sz="1200" b="1" dirty="0">
                <a:solidFill>
                  <a:srgbClr val="003366"/>
                </a:solidFill>
                <a:latin typeface="M PLUS 1" pitchFamily="34" charset="0"/>
                <a:ea typeface="M PLUS 1" pitchFamily="34" charset="-122"/>
                <a:cs typeface="M PLUS 1" pitchFamily="34" charset="-120"/>
              </a:rPr>
              <a:t>提案力の強化</a:t>
            </a:r>
            <a:endParaRPr lang="en-US" sz="1200" dirty="0"/>
          </a:p>
        </p:txBody>
      </p:sp>
      <p:sp>
        <p:nvSpPr>
          <p:cNvPr id="45" name="Text 39"/>
          <p:cNvSpPr txBox="1"/>
          <p:nvPr/>
        </p:nvSpPr>
        <p:spPr>
          <a:xfrm>
            <a:off x="6629400" y="2848356"/>
            <a:ext cx="3020263"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お客様への付加価値提供に集中できる環境</a:t>
            </a:r>
            <a:endParaRPr lang="en-US" sz="1200" dirty="0"/>
          </a:p>
        </p:txBody>
      </p:sp>
      <p:sp>
        <p:nvSpPr>
          <p:cNvPr id="46" name="Text 40"/>
          <p:cNvSpPr txBox="1"/>
          <p:nvPr/>
        </p:nvSpPr>
        <p:spPr>
          <a:xfrm>
            <a:off x="6096305" y="3600907"/>
            <a:ext cx="1543507" cy="333756"/>
          </a:xfrm>
          <a:prstGeom prst="rect">
            <a:avLst/>
          </a:prstGeom>
          <a:noFill/>
          <a:ln/>
        </p:spPr>
        <p:txBody>
          <a:bodyPr wrap="square" lIns="0" tIns="0" rIns="0" bIns="0" rtlCol="0" anchor="ctr"/>
          <a:lstStyle/>
          <a:p>
            <a:pPr algn="l" indent="0" marL="0">
              <a:buNone/>
            </a:pPr>
            <a:r>
              <a:rPr lang="en-US" sz="1800" b="1" dirty="0">
                <a:solidFill>
                  <a:srgbClr val="0052CC"/>
                </a:solidFill>
                <a:latin typeface="Noto Sans JP" pitchFamily="34" charset="0"/>
                <a:ea typeface="Noto Sans JP" pitchFamily="34" charset="-122"/>
                <a:cs typeface="Noto Sans JP" pitchFamily="34" charset="-120"/>
              </a:rPr>
              <a:t>次のステップ</a:t>
            </a:r>
            <a:endParaRPr lang="en-US" sz="1800" dirty="0"/>
          </a:p>
        </p:txBody>
      </p:sp>
      <p:sp>
        <p:nvSpPr>
          <p:cNvPr id="47" name="Shape 41"/>
          <p:cNvSpPr/>
          <p:nvPr/>
        </p:nvSpPr>
        <p:spPr>
          <a:xfrm>
            <a:off x="6096305" y="4095598"/>
            <a:ext cx="5715000" cy="2553005"/>
          </a:xfrm>
          <a:prstGeom prst="rect">
            <a:avLst/>
          </a:prstGeom>
          <a:solidFill>
            <a:srgbClr val="E3F2FD"/>
          </a:solidFill>
          <a:ln/>
        </p:spPr>
      </p:sp>
      <p:sp>
        <p:nvSpPr>
          <p:cNvPr id="48" name="Text 42"/>
          <p:cNvSpPr txBox="1"/>
          <p:nvPr/>
        </p:nvSpPr>
        <p:spPr>
          <a:xfrm>
            <a:off x="6553505" y="4324198"/>
            <a:ext cx="2857500"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現状業務の棚卸し（AI適用領域の特定）</a:t>
            </a:r>
            <a:endParaRPr lang="en-US" sz="1200" dirty="0"/>
          </a:p>
        </p:txBody>
      </p:sp>
      <p:sp>
        <p:nvSpPr>
          <p:cNvPr id="49" name="Text 43"/>
          <p:cNvSpPr txBox="1"/>
          <p:nvPr/>
        </p:nvSpPr>
        <p:spPr>
          <a:xfrm>
            <a:off x="6553505" y="4667098"/>
            <a:ext cx="3115361"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導入目標・KPIの設定（期待効果の明確化）</a:t>
            </a:r>
            <a:endParaRPr lang="en-US" sz="1200" dirty="0"/>
          </a:p>
        </p:txBody>
      </p:sp>
      <p:sp>
        <p:nvSpPr>
          <p:cNvPr id="50" name="Text 44"/>
          <p:cNvSpPr txBox="1"/>
          <p:nvPr/>
        </p:nvSpPr>
        <p:spPr>
          <a:xfrm>
            <a:off x="6553505" y="5009998"/>
            <a:ext cx="3001061"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小規模PoC実施（特定業務での効果検証）</a:t>
            </a:r>
            <a:endParaRPr lang="en-US" sz="1200" dirty="0"/>
          </a:p>
        </p:txBody>
      </p:sp>
      <p:sp>
        <p:nvSpPr>
          <p:cNvPr id="51" name="Text 45"/>
          <p:cNvSpPr txBox="1"/>
          <p:nvPr/>
        </p:nvSpPr>
        <p:spPr>
          <a:xfrm>
            <a:off x="6553505" y="5352898"/>
            <a:ext cx="3629254" cy="228600"/>
          </a:xfrm>
          <a:prstGeom prst="rect">
            <a:avLst/>
          </a:prstGeom>
          <a:noFill/>
          <a:ln/>
        </p:spPr>
        <p:txBody>
          <a:bodyPr wrap="square" lIns="0" tIns="0" rIns="0" bIns="0" rtlCol="0" anchor="ctr"/>
          <a:lstStyle/>
          <a:p>
            <a:pPr algn="l" indent="0" marL="0">
              <a:buNone/>
            </a:pPr>
            <a:r>
              <a:rPr lang="en-US" sz="1200" dirty="0">
                <a:solidFill>
                  <a:srgbClr val="003366"/>
                </a:solidFill>
                <a:latin typeface="M PLUS 1" pitchFamily="34" charset="0"/>
                <a:ea typeface="M PLUS 1" pitchFamily="34" charset="-122"/>
                <a:cs typeface="M PLUS 1" pitchFamily="34" charset="-120"/>
              </a:rPr>
              <a:t>段階的な展開計画策定（全社展開のロードマップ）</a:t>
            </a:r>
            <a:endParaRPr lang="en-US" sz="1200" dirty="0"/>
          </a:p>
        </p:txBody>
      </p:sp>
      <p:sp>
        <p:nvSpPr>
          <p:cNvPr id="52" name="Shape 46"/>
          <p:cNvSpPr/>
          <p:nvPr/>
        </p:nvSpPr>
        <p:spPr>
          <a:xfrm>
            <a:off x="7371893" y="5962802"/>
            <a:ext cx="3172054" cy="457200"/>
          </a:xfrm>
          <a:prstGeom prst="roundRect">
            <a:avLst>
              <a:gd name="adj" fmla="val 16667"/>
            </a:avLst>
          </a:prstGeom>
          <a:solidFill>
            <a:srgbClr val="0052CC"/>
          </a:solidFill>
          <a:ln/>
        </p:spPr>
      </p:sp>
      <p:pic>
        <p:nvPicPr>
          <p:cNvPr id="53" name="Image 4" descr="preencoded.png">    </p:cNvPr>
          <p:cNvPicPr>
            <a:picLocks noChangeAspect="1"/>
          </p:cNvPicPr>
          <p:nvPr/>
        </p:nvPicPr>
        <p:blipFill>
          <a:blip r:embed="rId5"/>
          <a:srcRect l="0" r="0" t="-180" b="-180"/>
          <a:stretch/>
        </p:blipFill>
        <p:spPr>
          <a:xfrm>
            <a:off x="7600493" y="6124651"/>
            <a:ext cx="190195" cy="152705"/>
          </a:xfrm>
          <a:prstGeom prst="rect">
            <a:avLst/>
          </a:prstGeom>
        </p:spPr>
      </p:pic>
      <p:sp>
        <p:nvSpPr>
          <p:cNvPr id="54" name="Text 47"/>
          <p:cNvSpPr txBox="1"/>
          <p:nvPr/>
        </p:nvSpPr>
        <p:spPr>
          <a:xfrm>
            <a:off x="7867498" y="6077102"/>
            <a:ext cx="2563063" cy="22860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新しい働き方への第一歩を踏み出す</a:t>
            </a:r>
            <a:endParaRPr lang="en-US" sz="1200" dirty="0"/>
          </a:p>
        </p:txBody>
      </p:sp>
      <p:sp>
        <p:nvSpPr>
          <p:cNvPr id="55" name="Text 48"/>
          <p:cNvSpPr txBox="1"/>
          <p:nvPr/>
        </p:nvSpPr>
        <p:spPr>
          <a:xfrm>
            <a:off x="2859329" y="6372454"/>
            <a:ext cx="6620256" cy="277063"/>
          </a:xfrm>
          <a:prstGeom prst="rect">
            <a:avLst/>
          </a:prstGeom>
          <a:noFill/>
          <a:ln/>
        </p:spPr>
        <p:txBody>
          <a:bodyPr wrap="square" lIns="0" tIns="0" rIns="0" bIns="0" rtlCol="0" anchor="ctr"/>
          <a:lstStyle/>
          <a:p>
            <a:pPr algn="ctr" indent="0" marL="0">
              <a:buNone/>
            </a:pPr>
            <a:r>
              <a:rPr lang="en-US" sz="1500" b="1" dirty="0">
                <a:solidFill>
                  <a:srgbClr val="003366"/>
                </a:solidFill>
                <a:latin typeface="M PLUS 1" pitchFamily="34" charset="0"/>
                <a:ea typeface="M PLUS 1" pitchFamily="34" charset="-122"/>
                <a:cs typeface="M PLUS 1" pitchFamily="34" charset="-120"/>
              </a:rPr>
              <a:t>"AIが働き、人が輝く。それが私たちが目指す次世代の仕事のかたちです。"</a:t>
            </a:r>
            <a:endParaRPr lang="en-US" sz="1500" dirty="0"/>
          </a:p>
        </p:txBody>
      </p:sp>
      <p:sp>
        <p:nvSpPr>
          <p:cNvPr id="56" name="Text 49"/>
          <p:cNvSpPr txBox="1"/>
          <p:nvPr/>
        </p:nvSpPr>
        <p:spPr>
          <a:xfrm>
            <a:off x="11618366" y="6648602"/>
            <a:ext cx="314554" cy="228600"/>
          </a:xfrm>
          <a:prstGeom prst="rect">
            <a:avLst/>
          </a:prstGeom>
          <a:noFill/>
          <a:ln/>
        </p:spPr>
        <p:txBody>
          <a:bodyPr wrap="square" lIns="0" tIns="0" rIns="0" bIns="0" rtlCol="0" anchor="ctr"/>
          <a:lstStyle/>
          <a:p>
            <a:pPr algn="r" indent="0" marL="0">
              <a:buNone/>
            </a:pPr>
            <a:r>
              <a:rPr lang="en-US" sz="1200" dirty="0">
                <a:solidFill>
                  <a:srgbClr val="003366"/>
                </a:solidFill>
                <a:latin typeface="M PLUS 1" pitchFamily="34" charset="0"/>
                <a:ea typeface="M PLUS 1" pitchFamily="34" charset="-122"/>
                <a:cs typeface="M PLUS 1"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2025-10-22T06:32:17Z</dcterms:created>
  <dcterms:modified xsi:type="dcterms:W3CDTF">2025-10-22T06:32:17Z</dcterms:modified>
</cp:coreProperties>
</file>